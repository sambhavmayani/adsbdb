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2.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84f0030bfc04867" /><Relationship Type="http://schemas.openxmlformats.org/officeDocument/2006/relationships/extended-properties" Target="/docProps/app.xml" Id="R147a3715cb3b4124" /><Relationship Type="http://schemas.openxmlformats.org/officeDocument/2006/relationships/officeDocument" Target="/ppt/presentation.xml" Id="R91a8a0444b4c4fee" /></Relationships>
</file>

<file path=ppt/presentation.xml><?xml version="1.0" encoding="utf-8"?>
<p:presentation xmlns:p="http://schemas.openxmlformats.org/presentationml/2006/main">
  <p:sldMasterIdLst>
    <p:sldMasterId xmlns:r="http://schemas.openxmlformats.org/officeDocument/2006/relationships" id="2147483648" r:id="Rcf6325a6bcd14d3f"/>
  </p:sldMasterIdLst>
  <p:notesMasterIdLst>
    <p:notesMasterId xmlns:r="http://schemas.openxmlformats.org/officeDocument/2006/relationships" r:id="R673ebc54b7aa4aa0"/>
  </p:notesMasterIdLst>
  <p:sldIdLst>
    <p:sldId xmlns:r="http://schemas.openxmlformats.org/officeDocument/2006/relationships" id="256" r:id="R392ca8d0045e4c8e"/>
    <p:sldId xmlns:r="http://schemas.openxmlformats.org/officeDocument/2006/relationships" id="257" r:id="R391db10c8ae24c5f"/>
    <p:sldId xmlns:r="http://schemas.openxmlformats.org/officeDocument/2006/relationships" id="258" r:id="R7c59fb8a5c2648ff"/>
    <p:sldId xmlns:r="http://schemas.openxmlformats.org/officeDocument/2006/relationships" id="259" r:id="Re6964689a0dd4578"/>
    <p:sldId xmlns:r="http://schemas.openxmlformats.org/officeDocument/2006/relationships" id="260" r:id="R6b12dc67a7fa4266"/>
    <p:sldId xmlns:r="http://schemas.openxmlformats.org/officeDocument/2006/relationships" id="261" r:id="R04a790d4d8324f05"/>
    <p:sldId xmlns:r="http://schemas.openxmlformats.org/officeDocument/2006/relationships" id="262" r:id="Rea25303d8f904f2b"/>
    <p:sldId xmlns:r="http://schemas.openxmlformats.org/officeDocument/2006/relationships" id="263" r:id="R58177ccdae094d64"/>
    <p:sldId xmlns:r="http://schemas.openxmlformats.org/officeDocument/2006/relationships" id="264" r:id="R4f38eb1fe84342e6"/>
    <p:sldId xmlns:r="http://schemas.openxmlformats.org/officeDocument/2006/relationships" id="265" r:id="Rcfb3e26640ed4687"/>
    <p:sldId xmlns:r="http://schemas.openxmlformats.org/officeDocument/2006/relationships" id="266" r:id="R485a584fe31e4c01"/>
    <p:sldId xmlns:r="http://schemas.openxmlformats.org/officeDocument/2006/relationships" id="267" r:id="Rcb321da35e1b4542"/>
    <p:sldId xmlns:r="http://schemas.openxmlformats.org/officeDocument/2006/relationships" id="268" r:id="R3b19195f48df494e"/>
    <p:sldId xmlns:r="http://schemas.openxmlformats.org/officeDocument/2006/relationships" id="269" r:id="R5304b5d17aec4093"/>
    <p:sldId xmlns:r="http://schemas.openxmlformats.org/officeDocument/2006/relationships" id="270" r:id="Ra2759ab0055b4d52"/>
    <p:sldId xmlns:r="http://schemas.openxmlformats.org/officeDocument/2006/relationships" id="271" r:id="R48b718affadf43bd"/>
    <p:sldId xmlns:r="http://schemas.openxmlformats.org/officeDocument/2006/relationships" id="272" r:id="Rdd7e3c6296bd4052"/>
    <p:sldId xmlns:r="http://schemas.openxmlformats.org/officeDocument/2006/relationships" id="273" r:id="Rca7cafd792454edf"/>
    <p:sldId xmlns:r="http://schemas.openxmlformats.org/officeDocument/2006/relationships" id="274" r:id="Rbd78f261028f4882"/>
    <p:sldId xmlns:r="http://schemas.openxmlformats.org/officeDocument/2006/relationships" id="275" r:id="R1e3a15e711fd4e7b"/>
    <p:sldId xmlns:r="http://schemas.openxmlformats.org/officeDocument/2006/relationships" id="276" r:id="Rb68e51b192774dff"/>
    <p:sldId xmlns:r="http://schemas.openxmlformats.org/officeDocument/2006/relationships" id="277" r:id="R568450e7c6724bf1"/>
    <p:sldId xmlns:r="http://schemas.openxmlformats.org/officeDocument/2006/relationships" id="278" r:id="Rb58b57822e964f6c"/>
    <p:sldId xmlns:r="http://schemas.openxmlformats.org/officeDocument/2006/relationships" id="279" r:id="R001af6ca22784d23"/>
    <p:sldId xmlns:r="http://schemas.openxmlformats.org/officeDocument/2006/relationships" id="280" r:id="Rdc8e7f481c1849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7a2437007542a0" /><Relationship Type="http://schemas.openxmlformats.org/officeDocument/2006/relationships/slideMaster" Target="/ppt/slideMasters/slideMaster1.xml" Id="Rcf6325a6bcd14d3f" /><Relationship Type="http://schemas.openxmlformats.org/officeDocument/2006/relationships/notesMaster" Target="/ppt/notesMasters/notesMaster1.xml" Id="R673ebc54b7aa4aa0" /><Relationship Type="http://schemas.openxmlformats.org/officeDocument/2006/relationships/presProps" Target="/ppt/presProps.xml" Id="Re2d4f4bcd10f4436" /><Relationship Type="http://schemas.openxmlformats.org/officeDocument/2006/relationships/tableStyles" Target="/ppt/tableStyles.xml" Id="R2b2325d9f3024a93" /><Relationship Type="http://schemas.openxmlformats.org/officeDocument/2006/relationships/slide" Target="/ppt/slides/slide1.xml" Id="R392ca8d0045e4c8e" /><Relationship Type="http://schemas.openxmlformats.org/officeDocument/2006/relationships/slide" Target="/ppt/slides/slide2.xml" Id="R391db10c8ae24c5f" /><Relationship Type="http://schemas.openxmlformats.org/officeDocument/2006/relationships/slide" Target="/ppt/slides/slide3.xml" Id="R7c59fb8a5c2648ff" /><Relationship Type="http://schemas.openxmlformats.org/officeDocument/2006/relationships/slide" Target="/ppt/slides/slide4.xml" Id="Re6964689a0dd4578" /><Relationship Type="http://schemas.openxmlformats.org/officeDocument/2006/relationships/slide" Target="/ppt/slides/slide5.xml" Id="R6b12dc67a7fa4266" /><Relationship Type="http://schemas.openxmlformats.org/officeDocument/2006/relationships/slide" Target="/ppt/slides/slide6.xml" Id="R04a790d4d8324f05" /><Relationship Type="http://schemas.openxmlformats.org/officeDocument/2006/relationships/slide" Target="/ppt/slides/slide7.xml" Id="Rea25303d8f904f2b" /><Relationship Type="http://schemas.openxmlformats.org/officeDocument/2006/relationships/slide" Target="/ppt/slides/slide8.xml" Id="R58177ccdae094d64" /><Relationship Type="http://schemas.openxmlformats.org/officeDocument/2006/relationships/slide" Target="/ppt/slides/slide9.xml" Id="R4f38eb1fe84342e6" /><Relationship Type="http://schemas.openxmlformats.org/officeDocument/2006/relationships/slide" Target="/ppt/slides/slide10.xml" Id="Rcfb3e26640ed4687" /><Relationship Type="http://schemas.openxmlformats.org/officeDocument/2006/relationships/slide" Target="/ppt/slides/slide11.xml" Id="R485a584fe31e4c01" /><Relationship Type="http://schemas.openxmlformats.org/officeDocument/2006/relationships/slide" Target="/ppt/slides/slide12.xml" Id="Rcb321da35e1b4542" /><Relationship Type="http://schemas.openxmlformats.org/officeDocument/2006/relationships/slide" Target="/ppt/slides/slide13.xml" Id="R3b19195f48df494e" /><Relationship Type="http://schemas.openxmlformats.org/officeDocument/2006/relationships/slide" Target="/ppt/slides/slide14.xml" Id="R5304b5d17aec4093" /><Relationship Type="http://schemas.openxmlformats.org/officeDocument/2006/relationships/slide" Target="/ppt/slides/slide15.xml" Id="Ra2759ab0055b4d52" /><Relationship Type="http://schemas.openxmlformats.org/officeDocument/2006/relationships/slide" Target="/ppt/slides/slide16.xml" Id="R48b718affadf43bd" /><Relationship Type="http://schemas.openxmlformats.org/officeDocument/2006/relationships/slide" Target="/ppt/slides/slide17.xml" Id="Rdd7e3c6296bd4052" /><Relationship Type="http://schemas.openxmlformats.org/officeDocument/2006/relationships/slide" Target="/ppt/slides/slide18.xml" Id="Rca7cafd792454edf" /><Relationship Type="http://schemas.openxmlformats.org/officeDocument/2006/relationships/slide" Target="/ppt/slides/slide19.xml" Id="Rbd78f261028f4882" /><Relationship Type="http://schemas.openxmlformats.org/officeDocument/2006/relationships/slide" Target="/ppt/slides/slide20.xml" Id="R1e3a15e711fd4e7b" /><Relationship Type="http://schemas.openxmlformats.org/officeDocument/2006/relationships/slide" Target="/ppt/slides/slide21.xml" Id="Rb68e51b192774dff" /><Relationship Type="http://schemas.openxmlformats.org/officeDocument/2006/relationships/slide" Target="/ppt/slides/slide22.xml" Id="R568450e7c6724bf1" /><Relationship Type="http://schemas.openxmlformats.org/officeDocument/2006/relationships/slide" Target="/ppt/slides/slide23.xml" Id="Rb58b57822e964f6c" /><Relationship Type="http://schemas.openxmlformats.org/officeDocument/2006/relationships/slide" Target="/ppt/slides/slide24.xml" Id="R001af6ca22784d23" /><Relationship Type="http://schemas.openxmlformats.org/officeDocument/2006/relationships/slide" Target="/ppt/slides/slide25.xml" Id="Rdc8e7f481c1849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25516fa0924b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d9a02d845b4817" /><Relationship Type="http://schemas.openxmlformats.org/officeDocument/2006/relationships/notesMaster" Target="/ppt/notesMasters/notesMaster1.xml" Id="R8bedd4e87bcb45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cf6e87bd414948" /><Relationship Type="http://schemas.openxmlformats.org/officeDocument/2006/relationships/notesMaster" Target="/ppt/notesMasters/notesMaster1.xml" Id="R8bb436afda7140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6e786ade8d44ff" /><Relationship Type="http://schemas.openxmlformats.org/officeDocument/2006/relationships/notesMaster" Target="/ppt/notesMasters/notesMaster1.xml" Id="Rbd53a672a1f04b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eac0d576ad433e" /><Relationship Type="http://schemas.openxmlformats.org/officeDocument/2006/relationships/notesMaster" Target="/ppt/notesMasters/notesMaster1.xml" Id="Ra79bced70dc346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a08130710804d48" /><Relationship Type="http://schemas.openxmlformats.org/officeDocument/2006/relationships/notesMaster" Target="/ppt/notesMasters/notesMaster1.xml" Id="Rd788b31fe6eb4d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5d286d90c24891" /><Relationship Type="http://schemas.openxmlformats.org/officeDocument/2006/relationships/notesMaster" Target="/ppt/notesMasters/notesMaster1.xml" Id="Rd85ff36c88fb4f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9a1901e6d44932" /><Relationship Type="http://schemas.openxmlformats.org/officeDocument/2006/relationships/notesMaster" Target="/ppt/notesMasters/notesMaster1.xml" Id="R1eb97efd4eac43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59023ab6e8a4f11" /><Relationship Type="http://schemas.openxmlformats.org/officeDocument/2006/relationships/notesMaster" Target="/ppt/notesMasters/notesMaster1.xml" Id="Ra1911d052b224d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13b1deb0034683" /><Relationship Type="http://schemas.openxmlformats.org/officeDocument/2006/relationships/notesMaster" Target="/ppt/notesMasters/notesMaster1.xml" Id="R195b4417bdfb48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ca56edfbe54698" /><Relationship Type="http://schemas.openxmlformats.org/officeDocument/2006/relationships/notesMaster" Target="/ppt/notesMasters/notesMaster1.xml" Id="R104503214a9d4cb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cdba2e57b14d94" /><Relationship Type="http://schemas.openxmlformats.org/officeDocument/2006/relationships/notesMaster" Target="/ppt/notesMasters/notesMaster1.xml" Id="R60de9a97466442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d6e060100154311" /><Relationship Type="http://schemas.openxmlformats.org/officeDocument/2006/relationships/notesMaster" Target="/ppt/notesMasters/notesMaster1.xml" Id="R8f8c19d3268743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691f1d8212b4642" /><Relationship Type="http://schemas.openxmlformats.org/officeDocument/2006/relationships/notesMaster" Target="/ppt/notesMasters/notesMaster1.xml" Id="R908ddd812a1049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5d0a29c875147f6" /><Relationship Type="http://schemas.openxmlformats.org/officeDocument/2006/relationships/notesMaster" Target="/ppt/notesMasters/notesMaster1.xml" Id="R9033fddcab1d4b1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171379ece3b469e" /><Relationship Type="http://schemas.openxmlformats.org/officeDocument/2006/relationships/notesMaster" Target="/ppt/notesMasters/notesMaster1.xml" Id="Rbfb916f41d0f42a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70c7e5729344cca" /><Relationship Type="http://schemas.openxmlformats.org/officeDocument/2006/relationships/notesMaster" Target="/ppt/notesMasters/notesMaster1.xml" Id="R3a9fd1e984734e0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3a96bee57e4cf0" /><Relationship Type="http://schemas.openxmlformats.org/officeDocument/2006/relationships/notesMaster" Target="/ppt/notesMasters/notesMaster1.xml" Id="R931f984d9fc049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021a1ef2f54dbc" /><Relationship Type="http://schemas.openxmlformats.org/officeDocument/2006/relationships/notesMaster" Target="/ppt/notesMasters/notesMaster1.xml" Id="Rf1fc902f80eb4d9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5491168b99d4246" /><Relationship Type="http://schemas.openxmlformats.org/officeDocument/2006/relationships/notesMaster" Target="/ppt/notesMasters/notesMaster1.xml" Id="R2e5b475dba3e42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2f52c1767cd4546" /><Relationship Type="http://schemas.openxmlformats.org/officeDocument/2006/relationships/notesMaster" Target="/ppt/notesMasters/notesMaster1.xml" Id="Rb048343cc0304c7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0155e646ac4772" /><Relationship Type="http://schemas.openxmlformats.org/officeDocument/2006/relationships/notesMaster" Target="/ppt/notesMasters/notesMaster1.xml" Id="Rf197bc5fa42d463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f8a7aee3ff84c8d" /><Relationship Type="http://schemas.openxmlformats.org/officeDocument/2006/relationships/notesMaster" Target="/ppt/notesMasters/notesMaster1.xml" Id="Raf284375e5d241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72dd45972b245b1" /><Relationship Type="http://schemas.openxmlformats.org/officeDocument/2006/relationships/notesMaster" Target="/ppt/notesMasters/notesMaster1.xml" Id="R0c2fb4fcac9e43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ecd75a9da44aa4" /><Relationship Type="http://schemas.openxmlformats.org/officeDocument/2006/relationships/notesMaster" Target="/ppt/notesMasters/notesMaster1.xml" Id="R09d73c7913f2448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bf452fec4cb4526" /><Relationship Type="http://schemas.openxmlformats.org/officeDocument/2006/relationships/notesMaster" Target="/ppt/notesMasters/notesMaster1.xml" Id="Rd485693ae3b245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30 seconds</a:t>
            </a:r>
          </a:p>
          <a:p xmlns:a="http://schemas.openxmlformats.org/drawingml/2006/main">
            <a:r>
              <a:t/>
            </a:r>
          </a:p>
          <a:p xmlns:a="http://schemas.openxmlformats.org/drawingml/2006/main">
            <a:r>
              <a:t>Suppose we upload this photograph and ask what the animal eats. Where should the answer come from? EcoSentinel connects the image to wildlife information that we can check. We will follow that path from the original file to a search result, and finally to an answer with sources.</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Photo: https://commons.wikimedia.org/wiki/File:Iberian_Lynx_front_(cropped).jpg; http://www.lynxexsitu.es; CC BY 3.0 es; https://creativecommons.org/licenses/by/3.0/es/deed.en. Display crop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30 seconds</a:t>
            </a:r>
          </a:p>
          <a:p xmlns:a="http://schemas.openxmlformats.org/drawingml/2006/main">
            <a:r>
              <a:t/>
            </a:r>
          </a:p>
          <a:p xmlns:a="http://schemas.openxmlformats.org/drawingml/2006/main">
            <a:r>
              <a:t>That question matters outside a classroom too. A teacher preparing a wildlife lesson, or a field team reviewing an observation, may have a photograph but need a call recording or a habitat description. Those materials often sit in separate catalogues. We bring them together, using Iberian fauna as a clear and limited domain for the project.</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Illustrative corpus photo: https://commons.wikimedia.org/wiki/File:2026-05-17_Iberian_green_frog_on_the_cliffs_of_S%C3%A3o_Pedro_da_Cadeira.jpg; Alexkom000; CC BY 4.0; https://creativecommons.org/licenses/by/4.0. This is not claimed to be the image used in the recorded RAG acceptance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30 seconds</a:t>
            </a:r>
          </a:p>
          <a:p xmlns:a="http://schemas.openxmlformats.org/drawingml/2006/main">
            <a:r>
              <a:t/>
            </a:r>
          </a:p>
          <a:p xmlns:a="http://schemas.openxmlformats.org/drawingml/2006/main">
            <a:r>
              <a:t>To build that collection, we gathered one hundred images, thirty-four recordings and sixty-four texts for ten Iberian species. They come from Wikimedia, Xeno-canto, Wikipedia and GBIF. The sources do not cover every species equally. The lizard, for example, has no audio. We keep these gaps visible, and preserve source information so that users can check where each record came from.</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45 seconds</a:t>
            </a:r>
          </a:p>
          <a:p xmlns:a="http://schemas.openxmlformats.org/drawingml/2006/main">
            <a:r>
              <a:t/>
            </a:r>
          </a:p>
          <a:p xmlns:a="http://schemas.openxmlformats.org/drawingml/2006/main">
            <a:r>
              <a:t>The files pass through four zones. Landing preserves the originals, Formatted gives each type a common format, and Trusted checks quality and duplicates. Exploitation then creates search vectors. The first three zones use object storage, while Chroma stores the vectors on disk. Searches open a verified copy because Chroma can make internal writes when opened. We refresh this copy after data changes, without calculating embeddings again. The orchestrator connects all these stages in the order shown on the next slide.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40 seconds</a:t>
            </a:r>
          </a:p>
          <a:p xmlns:a="http://schemas.openxmlformats.org/drawingml/2006/main">
            <a:r>
              <a:t/>
            </a:r>
          </a:p>
          <a:p xmlns:a="http://schemas.openxmlformats.org/drawingml/2006/main">
            <a:r>
              <a:t>These are the sixteen steps behind that diagram. We start by checking storage and creating any missing buckets. Then we ingest local files and verify their copies in Persistent. Three formatters and three validators handle images, audio and text. Five indexing steps build the collections, and the last step checks that accepted files and vector parts agree. Everything runs in sequence. A failure stops later steps, and a rerun checks what already completed. Optional acquisition adds three downloads after storage setup. We will now explain the decisions inside those stages.</a:t>
            </a:r>
          </a:p>
          <a:p xmlns:a="http://schemas.openxmlformats.org/drawingml/2006/main">
            <a:r>
              <a:t/>
            </a:r>
          </a:p>
          <a:p xmlns:a="http://schemas.openxmlformats.org/drawingml/2006/main">
            <a:r>
              <a:t>Project evidence: orchestration/pipeline.py build_plan(), verified by python -m orchestration.pipeline --plan. 16 sequential steps. Acquisition inserts three steps after storage. Image/text indexing order is images, text, audio, image_text, audio_text. The chart is a process flow, not a formal Petri net. All nodes and connectors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50 seconds</a:t>
            </a:r>
          </a:p>
          <a:p xmlns:a="http://schemas.openxmlformats.org/drawingml/2006/main">
            <a:r>
              <a:t/>
            </a:r>
          </a:p>
          <a:p xmlns:a="http://schemas.openxmlformats.org/drawingml/2006/main">
            <a:r>
              <a:t>Before we look inside Landing, there is an important distinction between hashes and embeddings. At ingestion, we need to check file identity. SHA-two-fifty-six reads the bytes once in small blocks, without decoding the media or loading a neural model. That makes the check cheap and predictable, although we have not measured a speed ratio. An embedding answers a later question: whether content is related. Saving a photograph again can change its hash while leaving its meaning almost unchanged. We therefore use hashes for identity and integrity, then embeddings for similarity.</a:t>
            </a:r>
          </a:p>
          <a:p xmlns:a="http://schemas.openxmlformats.org/drawingml/2006/main">
            <a:r>
              <a:t/>
            </a:r>
          </a:p>
          <a:p xmlns:a="http://schemas.openxmlformats.org/drawingml/2006/main">
            <a:r>
              <a:t>Project evidence: docs/testing_and_validation.md, docs/evidence/final_validation.json and maintained zone guides.</a:t>
            </a:r>
          </a:p>
          <a:p xmlns:a="http://schemas.openxmlformats.org/drawingml/2006/main">
            <a:r>
              <a:t>Sources: landing_zone/temporal_landing/ingest_local_data.py build_object_key/build_control_key; exploitation_zone/encoders.py; contracts and configured dimensions. The recompression example is explanatory, not a new inference result.</a:t>
            </a:r>
          </a:p>
          <a:p xmlns:a="http://schemas.openxmlformats.org/drawingml/2006/main">
            <a:r>
              <a:t>SHA-256 reads raw chunks in landing_zone/temporal_landing/ingest_local_data.py. Encoders load models and decode inputs: exploitation_zone/encoders.py. Resource-cost reasoning, not a measured runtime comparison. SHA is not a semantic representation. Full SHA-256 is retained for integrity; the object-key prefix is only 16 hex characters.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55 seconds</a:t>
            </a:r>
          </a:p>
          <a:p xmlns:a="http://schemas.openxmlformats.org/drawingml/2006/main">
            <a:r>
              <a:t/>
            </a:r>
          </a:p>
          <a:p xmlns:a="http://schemas.openxmlformats.org/drawingml/2006/main">
            <a:r>
              <a:t>Landing turns that identity into an object key: the first sixteen hexadecimal characters of the hash, followed by the filename. On a rerun, we first look for that object in Temporal and check its source information. If it has already left Temporal, a completion record points to its copy in Persistent. We check that the target exists before skipping it. The copying step verifies the bytes before writing this record, so a broken copy cannot look complete. This proves completion of Landing; Trusted makes its own decision later.</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Landing identity is hash prefix + local filename. A different filename is not globally deduplicated here. Rerun evidence: reports/validation/delivery_smoke_repeat.log, Uploaded=0, Already completed=3.</a:t>
            </a:r>
          </a:p>
          <a:p xmlns:a="http://schemas.openxmlformats.org/drawingml/2006/main">
            <a:r>
              <a:t>Exact scope: Temporal key uses SHA-256(raw bytes)[:16] plus filename. Completion key uses full SHA-256(Temporal key). Ingestion validates marker identity fields and target existence; promotion verifies copied bytes. The marker does not attest Trusted acceptance. Sources: ingest_local_data.py and process_to_persistent.py; copy/marker safety regressions.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55 seconds</a:t>
            </a:r>
          </a:p>
          <a:p xmlns:a="http://schemas.openxmlformats.org/drawingml/2006/main">
            <a:r>
              <a:t/>
            </a:r>
          </a:p>
          <a:p xmlns:a="http://schemas.openxmlformats.org/drawingml/2006/main">
            <a:r>
              <a:t>The filename in that key explains these four cases. Same bytes and same name reuse the existing record. Same bytes with a different name enter again because we preserve the identity of the submitted file, including its name. That costs some storage, but Trusted will check duplicate content later. Different bytes with the same name also enter, under a new hash, so they cannot overwrite the first version. When both change, we get a new record too. Landing handles simple identity checks before the more detailed quality work.</a:t>
            </a:r>
          </a:p>
          <a:p xmlns:a="http://schemas.openxmlformats.org/drawingml/2006/main">
            <a:r>
              <a:t/>
            </a:r>
          </a:p>
          <a:p xmlns:a="http://schemas.openxmlformats.org/drawingml/2006/main">
            <a:r>
              <a:t>Project evidence: docs/testing_and_validation.md, docs/evidence/final_validation.json and maintained zone guides.</a:t>
            </a:r>
          </a:p>
          <a:p xmlns:a="http://schemas.openxmlformats.org/drawingml/2006/main">
            <a:r>
              <a:t>Sources: landing_zone/temporal_landing/ingest_local_data.py build_object_key and ingestion identity checks. Scenarios assume compatible species_id/modality/source_name and a previously recorded key (existing Temporal or valid completion + Persistent target). No record means new ingestion; conflicting metadata or broken targets produce errors. Different bytes here produce different 16-hex prefixes; the 64-bit prefix has no mathematical collision-free guarantee. Photos are existing embedded presentation assets, reused explicitly to show byte/name combinations; filenames are illustrative and displayed hash prefixes refer to those embedded bytes, not original raw-dataset filenames. A: lynxexsitu.es / CC BY 3.0 es, source photo from task_examples.json Task 1 reference. B: Task 1 rank 1 photo; complete provenance retained below.</a:t>
            </a:r>
          </a:p>
          <a:p xmlns:a="http://schemas.openxmlformats.org/drawingml/2006/main">
            <a:r>
              <a:t>{"A":{"path":"photo-A.jpeg","source_part":"ppt/media/image4.jpeg","sha256":"de7879dccfd8e4abfa0236aa0c0c7377a77585387e00dfbb500358e1bdd3a5d9"},"B":{"path":"photo-B.jpeg","source_part":"ppt/media/image5.jpeg","sha256":"3e983a74713d0049c4e04364eafbfe701a5dd326c325ad0e8622a0c7dbb45700"}}</a:t>
            </a:r>
          </a:p>
          <a:p xmlns:a="http://schemas.openxmlformats.org/drawingml/2006/main">
            <a:r>
              <a:t>Sambhav / 60 seconds</a:t>
            </a:r>
          </a:p>
          <a:p xmlns:a="http://schemas.openxmlformats.org/drawingml/2006/main">
            <a:r>
              <a:t/>
            </a:r>
          </a:p>
          <a:p xmlns:a="http://schemas.openxmlformats.org/drawingml/2006/main">
            <a:r>
              <a:t>Here is an actual image-to-image query on our corpus. The photograph on the left is the reference. We show selected matches at ranks one and three with recorded cosine scores. The complete response contains five distinct assets and excludes the reference. Four have lynx catalogue labels; the fifth has a wolf label. These are similarity candidates, not species probabilities. All segments of a stored reference are excluded before grouping by asset. Audio-to-audio and text-to-text use the same workflow. The full response remains available so the selected examples can be checked against the actual ranking.</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Retrieval evidence: docs/presentation/task_examples.json. Queried a disposable snapshot with cached CPU models, without re-indexing. Slide 13 shows ranks 1 and 3 of five, not the full list. Slide 14 shows overall image rank 5 and text rank 4 of eight. The text excerpt is verbatim.</a:t>
            </a:r>
          </a:p>
          <a:p xmlns:a="http://schemas.openxmlformats.org/drawingml/2006/main">
            <a:r>
              <a:t>Photo: https://commons.wikimedia.org/wiki/File:Iberian_Lynx_front_(cropped).jpg; http://www.lynxexsitu.es; CC BY 3.0 es; https://creativecommons.org/licenses/by/3.0/es/deed.en. Display resizing only.</a:t>
            </a:r>
          </a:p>
          <a:p xmlns:a="http://schemas.openxmlformats.org/drawingml/2006/main">
            <a:r>
              <a:t>Photo: https://commons.wikimedia.org/wiki/File:F_18.04.02_Observatorio_Lince_PTA-GC.190-1_(27314142758).jpg; Junta de Andalucía; CC BY-SA 2.0; https://creativecommons.org/licenses/by-sa/2.0. Display resizing only.</a:t>
            </a:r>
          </a:p>
          <a:p xmlns:a="http://schemas.openxmlformats.org/drawingml/2006/main">
            <a:r>
              <a:t>Photo: https://commons.wikimedia.org/wiki/File:Female_Iberian_Lynx_(Lynx_pardinus),_La_Lancha,_Parque_natural_de_la_Sierra_de_And%C3%BAjar,_Espa%C3%B1a_(33022496950).jpg; Frank Vassen from Brussels, Belgium; CC BY 2.0; https://creativecommons.org/licenses/by/2.0. Display resizing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Mario / 75 seconds</a:t>
            </a:r>
          </a:p>
          <a:p xmlns:a="http://schemas.openxmlformats.org/drawingml/2006/main">
            <a:r>
              <a:t/>
            </a:r>
          </a:p>
          <a:p xmlns:a="http://schemas.openxmlformats.org/drawingml/2006/main">
            <a:r>
              <a:t>Once the originals are safe, Formatted gives each type a common representation. For photographs, JPEG at quality ninety-five balances detail and file size. It is usually efficient for photos, but still loses information, so we keep the original and its dimensions. MPO needs special handling because one file can contain several photographs. We use its first photograph and preserve the others upstream. For audio, a faint call may sit behind rain, wind or other animals. FLAC avoids another lossy encoding step, while keeping background sound and quiet sections. Our sixteen-bit conversion can still reduce precision from richer sources. Finally, UTF-eight preserves Spanish and English text. For JSON, we first try recognised content fields and only fall back to the longest string when none is found. With the formats consistent, Sambhav will explain the quality decisions.</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Sources: formatted_zone/format_images.py canonical_jpeg/to_rgb; format_audio.py canonical FLAC PCM16; format_text.py normalisation; trusted_zone/quality/text_quality.py. JPEG is lossy; PCM16 may quantise; extraction discards layout. Images retain EXIF without materialising rotation. MPO uses frame 0. Trusted does not denoise/trim/normalise audio, and text casefolding is used for similarity features rather than rewriting stored text.</a:t>
            </a:r>
          </a:p>
          <a:p xmlns:a="http://schemas.openxmlformats.org/drawingml/2006/main">
            <a:r>
              <a:t>Format rationale: https://www.libpng.org/pub/png/book/chapter09.html section 9.4.1 (JPEG photographic file size depends on content/quality); https://www.xiph.org/flac/features.html (lossless PCM compression). Wildlife rationale is a design choice, not measured retrieval improvement. FLAC cannot recover losses in prior MP3 encoding; PCM16 conversion can quantise richer sources. JSON priority keys breadth-first then longest nonempty string, arrays per record: formatted_zone/format_text.py. MPO frame0 policy: formatted_zone/format_images.py. Six source containers hold eight additional frames, retained upstream.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55 seconds</a:t>
            </a:r>
          </a:p>
          <a:p xmlns:a="http://schemas.openxmlformats.org/drawingml/2006/main">
            <a:r>
              <a:t/>
            </a:r>
          </a:p>
          <a:p xmlns:a="http://schemas.openxmlformats.org/drawingml/2006/main">
            <a:r>
              <a:t>Trusted decides whether a file is usable and which issues need a warning. Images must decode, stay below twenty megabytes and forty megapixels, and have at least one hundred and twenty-eight pixels on each side. We check pixels as well as bytes because a small compressed file can still need a lot of memory. Audio has a two-hundred-megabyte cap and text has four. These are practical budgets for our local system, rather than scientifically optimal thresholds. Hashes find exact duplicates. For similar images, a perceptual hash finds candidates, then we check structure and colour. Darkness, possible watermarks and quiet audio usually remain warnings, preserving material that may still be useful.</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Image duplicate confirmation uses SHA-256 or pHash candidates plus SSIM and RGB confirmation. Audio and text have modality-specific scope. The policy does not guarantee removal of all near duplicates.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35 seconds</a:t>
            </a:r>
          </a:p>
          <a:p xmlns:a="http://schemas.openxmlformats.org/drawingml/2006/main">
            <a:r>
              <a:t/>
            </a:r>
          </a:p>
          <a:p xmlns:a="http://schemas.openxmlformats.org/drawingml/2006/main">
            <a:r>
              <a:t>Those decisions need to be visible, so every checked asset gets a JSON quality record. We use the records to create an HTML report, CSV measurements and plots. Here is the actual image report. All one hundred reference images remain accepted, including thirty-two possible watermark warnings. Source fields are complete, which helps us trace the records. It does not prove that every source label is correct. The charts make the effects of our decisions easier to inspect.</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Actual report: reports/trusted_quality/images/20261019T164636Z/quality_report.html and summary.json. HTML captured without regenerating metrics. Provenance 100 percent means metadata completeness; JSD 0 bits means unchanged observed distribution. Neither proves biological correctness. Portable source: docs/evidence/quality_images.json.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30 seconds</a:t>
            </a:r>
          </a:p>
          <a:p xmlns:a="http://schemas.openxmlformats.org/drawingml/2006/main">
            <a:r>
              <a:t/>
            </a:r>
          </a:p>
          <a:p xmlns:a="http://schemas.openxmlformats.org/drawingml/2006/main">
            <a:r>
              <a:t>This chart compares species counts before and after Trusted. If a rule removed many images from one species, we would see that imbalance here. In our reference batch, both bars show ten images per species and the measured distribution change is zero. That tells us about the effect of our filtering on this selected dataset, rather than about animal populations in nature.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Editable chart data: docs/presentation/quality_charts.json. Image categories use English common-name labels in the same order as source species identifiers. Audio counts derive from existing report CSV, with fixed 0/20/40/60/80/100 bins for legibility; original report uses six data-dependent bins. Measurements were not recomputed; original media and indexes were not opened by the chart build. All 34 audio records are accepted; 9 warnings use &gt;=80 percent low-energy windows. Observed unchanged distributions do not prove representativeness or biological correctness.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25 seconds</a:t>
            </a:r>
          </a:p>
          <a:p xmlns:a="http://schemas.openxmlformats.org/drawingml/2006/main">
            <a:r>
              <a:t/>
            </a:r>
          </a:p>
          <a:p xmlns:a="http://schemas.openxmlformats.org/drawingml/2006/main">
            <a:r>
              <a:t>Audio shows why a warning can be more useful than rejection. Nine recordings contain many quiet intervals, yet a distant animal call can itself be quiet. Removing those sections could also lose background context. We therefore keep all thirty-four recordings and record the warning for inspection. Once these quality decisions are recorded, the accepted material is ready for indexing.</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Editable chart data: docs/presentation/quality_charts.json. Image categories use English common-name labels in the same order as source species identifiers. Audio counts derive from existing report CSV, with fixed 0/20/40/60/80/100 bins for legibility; original report uses six data-dependent bins. Measurements were not recomputed; original media and indexes were not opened by the chart build. All 34 audio records are accepted; 9 warnings use &gt;=80 percent low-energy windows. Observed unchanged distributions do not prove representativeness or biological correctness.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40 seconds</a:t>
            </a:r>
          </a:p>
          <a:p xmlns:a="http://schemas.openxmlformats.org/drawingml/2006/main">
            <a:r>
              <a:t/>
            </a:r>
          </a:p>
          <a:p xmlns:a="http://schemas.openxmlformats.org/drawingml/2006/main">
            <a:r>
              <a:t>A long recording or document needs several searchable segments. This is why one hundred and ninety-eight files produce six thousand and twenty-one embeddings across five collections. Each vector keeps its file identity, source and segment position. On a rerun, we check compatibility and the complete set of expected segments. Counting rows alone could miss a missing segment hidden by a duplicate. These checks let us repair incomplete work without calculating every vector again.</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55 seconds</a:t>
            </a:r>
          </a:p>
          <a:p xmlns:a="http://schemas.openxmlformats.org/drawingml/2006/main">
            <a:r>
              <a:t/>
            </a:r>
          </a:p>
          <a:p xmlns:a="http://schemas.openxmlformats.org/drawingml/2006/main">
            <a:r>
              <a:t>The five collections use three model families because the relationships are different. CLIP connects photographs with descriptions, while CLAP connects sounds with descriptions, including animal calls. Multilingual E-five small handles detailed Spanish and English text retrieval. All three run on CPU. Their outputs stay in compatible spaces: CLIP and CLAP may both produce five-hundred-and-twelve numbers, but the coordinates mean different things. When searching across models, we combine result positions rather than comparing raw scores. Inside each space, we use cosine similarity.</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50 seconds</a:t>
            </a:r>
          </a:p>
          <a:p xmlns:a="http://schemas.openxmlformats.org/drawingml/2006/main">
            <a:r>
              <a:t/>
            </a:r>
          </a:p>
          <a:p xmlns:a="http://schemas.openxmlformats.org/drawingml/2006/main">
            <a:r>
              <a:t>Cosine compares the directions of two vectors. We divide their dot product by their lengths. Since we normalise our vectors to unit length, the calculation becomes just the dot product. In this two-dimensional example, the candidates score zero point nine six, zero point six and zero. The first points closest to the query, while the last is perpendicular. Our real vectors have hundreds of components, but the same rule applies. The score describes closeness in that model space. It does not give a probability that the animals belong to the same species.</a:t>
            </a:r>
          </a:p>
          <a:p xmlns:a="http://schemas.openxmlformats.org/drawingml/2006/main">
            <a:r>
              <a:t/>
            </a:r>
          </a:p>
          <a:p xmlns:a="http://schemas.openxmlformats.org/drawingml/2006/main">
            <a:r>
              <a:t>Project evidence: docs/testing_and_validation.md, docs/evidence/final_validation.json and maintained zone guides.</a:t>
            </a:r>
          </a:p>
          <a:p xmlns:a="http://schemas.openxmlformats.org/drawingml/2006/main">
            <a:r>
              <a:t>Sources: multimodal_tasks/search.py cosine scoring and fuse_rankings; exploitation_zone/encoders.py normalize_vector. Toy 2D candidates are illustrative unit vectors, not measured wildlife embeddings. No relevance threshold is claimed. Production search uses exact dot products for small candidate sets and cosine HNSW for larger searches. Raw scores across different models are not compared; RRF uses rank constant 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60 seconds</a:t>
            </a:r>
          </a:p>
          <a:p xmlns:a="http://schemas.openxmlformats.org/drawingml/2006/main">
            <a:r>
              <a:t/>
            </a:r>
          </a:p>
          <a:p xmlns:a="http://schemas.openxmlformats.org/drawingml/2006/main">
            <a:r>
              <a:t>Cosine scores a pair of vectors, but we also need a way to find good candidates. Chroma uses H-N-S-W, a graph with several levels. It makes large jumps at the upper levels and explores nearby candidates below. This saves a full scan for larger sets, but the search is approximate. When sixty-four or fewer vectors remain after filtering, our code compares every vector instead. We chose sixty-four as a small, bounded fallback for tiny collections that may lack a saved graph. It is a practical cap, not an optimum established by comparing thirty-two, sixty-four and one hundred and twenty-eight.</a:t>
            </a:r>
          </a:p>
          <a:p xmlns:a="http://schemas.openxmlformats.org/drawingml/2006/main">
            <a:r>
              <a:t/>
            </a:r>
          </a:p>
          <a:p xmlns:a="http://schemas.openxmlformats.org/drawingml/2006/main">
            <a:r>
              <a:t>Project evidence: docs/testing_and_validation.md, docs/evidence/final_validation.json and maintained zone guides.</a:t>
            </a:r>
          </a:p>
          <a:p xmlns:a="http://schemas.openxmlformats.org/drawingml/2006/main">
            <a:r>
              <a:t>Project sources: exploitation_zone/vector_store.py configures {hnsw: {space: cosine}}; multimodal_tasks/search.py uses exact normalised dot products when eligible count &lt;= 64 and delegates larger candidate search to Chroma. Course source: supplied 5 - Vector Databases.pdf, pages 31–34 (exact scan / ANN) and 87–105 (Hierarchical Navigable Small World). Diagram is a conceptual graph, not exported Chroma topology or a measured execution trace. Chroma implements the algorithm; EcoSentinel configures and queries it. ANN has a recall/latency trade-off; no measured recall or speedup claim. SHA-256 identity hashing is not the lecture LSH algorithm.</a:t>
            </a:r>
          </a:p>
          <a:p xmlns:a="http://schemas.openxmlformats.org/drawingml/2006/main">
            <a:r>
              <a:t>Lecture file: C:/Users/Mario/Downloads/5 - Vector Databases.pdf</a:t>
            </a:r>
          </a:p>
          <a:p xmlns:a="http://schemas.openxmlformats.org/drawingml/2006/main">
            <a:r>
              <a:t>64 is an engineering cap, not a benchmarked optimum. Source: multimodal_tasks/search.py, query_vector. New tests cover 64/65 with and without species filters. At dimension 512, 64 float32 vector payloads occupy 128 KiB, excluding metadata/overhead. HNSW remains approximate.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40 seconds</a:t>
            </a:r>
          </a:p>
          <a:p xmlns:a="http://schemas.openxmlformats.org/drawingml/2006/main">
            <a:r>
              <a:t/>
            </a:r>
          </a:p>
          <a:p xmlns:a="http://schemas.openxmlformats.org/drawingml/2006/main">
            <a:r>
              <a:t>Here is what that search produces in Task one using real CLIP embeddings. We exclude the reference file and return each other file once. Four of these five results have a lynx label, while one has a wolf label. A cropped version also remains. The example shows useful visual matches, but also why we should not treat similarity as species identification or assume that every near duplicate has disappeared.</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Retrieval evidence: docs/presentation/task_examples.json. Queried a disposable snapshot with cached CPU models, without re-indexing. Slide 17 shows ranks 1 and 3 of five, not the full list. Slide 18 shows overall image rank 5 and text rank 4 of eight. The text excerpt is verbatim.</a:t>
            </a:r>
          </a:p>
          <a:p xmlns:a="http://schemas.openxmlformats.org/drawingml/2006/main">
            <a:r>
              <a:t>Photo: https://commons.wikimedia.org/wiki/File:Iberian_Lynx_front_(cropped).jpg; http://www.lynxexsitu.es; CC BY 3.0 es; https://creativecommons.org/licenses/by/3.0/es/deed.en. Display resizing only.</a:t>
            </a:r>
          </a:p>
          <a:p xmlns:a="http://schemas.openxmlformats.org/drawingml/2006/main">
            <a:r>
              <a:t>Photo: https://commons.wikimedia.org/wiki/File:F_18.04.02_Observatorio_Lince_PTA-GC.190-1_(27314142758).jpg; Junta de Andalucía; CC BY-SA 2.0; https://creativecommons.org/licenses/by-sa/2.0. Display resizing only.</a:t>
            </a:r>
          </a:p>
          <a:p xmlns:a="http://schemas.openxmlformats.org/drawingml/2006/main">
            <a:r>
              <a:t>Photo: https://commons.wikimedia.org/wiki/File:Female_Iberian_Lynx_(Lynx_pardinus),_La_Lancha,_Parque_natural_de_la_Sierra_de_And%C3%BAjar,_Espa%C3%B1a_(33022496950).jpg; Frank Vassen from Brussels, Belgium; CC BY 2.0; https://creativecommons.org/licenses/by/2.0. Display resizing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Sambhav / 45 seconds</a:t>
            </a:r>
          </a:p>
          <a:p xmlns:a="http://schemas.openxmlformats.org/drawingml/2006/main">
            <a:r>
              <a:t/>
            </a:r>
          </a:p>
          <a:p xmlns:a="http://schemas.openxmlformats.org/drawingml/2006/main">
            <a:r>
              <a:t>Task two uses an aligned space to connect different types of files. Here, one text query returns four images and four texts. The displayed image scores zero point three three two. It can still be useful even though that score is lower than the image-to-image example, because query types have different score ranges. We reserve room for both modalities so that text chunks do not fill the list. Users can request one to fifty distinct files, with eight as the default. Wassim will now show how retrieved material supports a generated answer.</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Retrieval evidence: docs/presentation/task_examples.json. Queried a disposable snapshot with cached CPU models, without re-indexing. Slide 17 shows ranks 1 and 3 of five, not the full list. Slide 18 shows overall image rank 5 and text rank 4 of eight. The text excerpt is verbatim.</a:t>
            </a:r>
          </a:p>
          <a:p xmlns:a="http://schemas.openxmlformats.org/drawingml/2006/main">
            <a:r>
              <a:t>Photo: https://commons.wikimedia.org/wiki/File:Female_Iberian_Lynx_(Lynx_pardinus),_La_Lancha,_Parque_natural_de_la_Sierra_de_And%C3%BAjar,_Andaluc%C3%ADa,_Espa%C3%B1a_-_Flickr_-_Frank.Vassen.jpg; Frank Vassen from Brussels, Belgium; CC BY 2.0; https://creativecommons.org/licenses/by/2.0. Display resizing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55 seconds</a:t>
            </a:r>
          </a:p>
          <a:p xmlns:a="http://schemas.openxmlformats.org/drawingml/2006/main">
            <a:r>
              <a:t/>
            </a:r>
          </a:p>
          <a:p xmlns:a="http://schemas.openxmlformats.org/drawingml/2006/main">
            <a:r>
              <a:t>Task three retrieves evidence before asking Qwen to answer. An uploaded image first receives the shared JPEG conversion in memory, without being stored. Quality issues produce warnings, while invalid files and resource limits stop the request. We reuse a stored Trusted image unchanged. CLIP then finds visual candidates, BLIP produces an automatic caption, and E-five retrieves text evidence. Qwen receives that selected text and its source identifiers, rather than image pixels. We check the returned quotations and references, while recognising that a correct quotation does not guarantee a correct interpretation.</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28 October query update: shared converters, reused Trusted measurements, warnings outside prompt; limits before conversion. Historical frog evidence predates the update. Current tests use synthetic inputs and encoder/generator doubles, no new native acceptance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40 seconds</a:t>
            </a:r>
          </a:p>
          <a:p xmlns:a="http://schemas.openxmlformats.org/drawingml/2006/main">
            <a:r>
              <a:t/>
            </a:r>
          </a:p>
          <a:p xmlns:a="http://schemas.openxmlformats.org/drawingml/2006/main">
            <a:r>
              <a:t>This recorded frog example shows that distinction. The answer describes habitat and diet using source quotations, while the candidate species remains a hypothesis about the photograph. When we asked for the complete genome instead, the system declined because the evidence was missing. These cases show how the model pipeline behaves, rather than measuring general accuracy. They were recorded before the query-preparation update. We use the saved examples in the talk because a fresh CPU response can take minutes.</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a:p xmlns:a="http://schemas.openxmlformats.org/drawingml/2006/main">
            <a:r>
              <a:t>English translations of recorded Spanish extracts: “zonas con escasa corriente”; “Se alimentan tanto de presas terrestres como acuáticas”. Source: reports/validation/ui_frog_rag.png. No new inference is claimed.</a:t>
            </a:r>
          </a:p>
          <a:p xmlns:a="http://schemas.openxmlformats.org/drawingml/2006/main">
            <a:r>
              <a:t>28 October query update: shared converters, reused Trusted measurements, warnings outside prompt; limits before conversion. Historical frog evidence predates the update. Current tests use synthetic inputs and encoder/generator doubles, no new native acceptance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40 seconds</a:t>
            </a:r>
          </a:p>
          <a:p xmlns:a="http://schemas.openxmlformats.org/drawingml/2006/main">
            <a:r>
              <a:t/>
            </a:r>
          </a:p>
          <a:p xmlns:a="http://schemas.openxmlformats.org/drawingml/2006/main">
            <a:r>
              <a:t>Useful answers are only one part of the project. We also need a pipeline that can run again safely. In an earlier isolated CPU demonstration, three synthetic files produced seven vectors on the first run. The second run completed all sixteen steps and added zero new vectors. The final check confirmed that the stored files and vector parts agreed. The image was noise and the audio was a tone, so this tests repeat execution, rather than wildlife relevance.</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55 seconds</a:t>
            </a:r>
          </a:p>
          <a:p xmlns:a="http://schemas.openxmlformats.org/drawingml/2006/main">
            <a:r>
              <a:t/>
            </a:r>
          </a:p>
          <a:p xmlns:a="http://schemas.openxmlformats.org/drawingml/2006/main">
            <a:r>
              <a:t>We test failure cases as well as successful runs. The current offline suite passes four hundred and sixty-nine tests. The latest additions check conflicting source records, missing copies, failed storage requests and incomplete vector sets. They verify that existing data stays intact. Query tests also compare prepared bytes with the actual Formatted output and check limits before conversion. Earlier integration and CPU runs provide separate evidence for real storage and models. Offline coverage is seventy-two point three seven percent of measured statements. We use it to find gaps, while the assertions tell us whether the expected behaviour holds.</a:t>
            </a:r>
          </a:p>
          <a:p xmlns:a="http://schemas.openxmlformats.org/drawingml/2006/main">
            <a:r>
              <a:t/>
            </a:r>
          </a:p>
          <a:p xmlns:a="http://schemas.openxmlformats.org/drawingml/2006/main">
            <a:r>
              <a:t>Project evidence: 29 October 2026, 469 offline tests passed, one integration test deselected. 3,897/5,385 statements (72.37%), same coverage scope as 28 October (437 tests, 68.17%). 32 new tests in tests/test_storage_boundaries.py. Reports: reports/validation/readability_review/offline.xml and coverage.xml. Production code unchanged by this test expansion. Historical integration/native examples remain separately dated in docs/evidence/final_validation.json.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45 seconds</a:t>
            </a:r>
          </a:p>
          <a:p xmlns:a="http://schemas.openxmlformats.org/drawingml/2006/main">
            <a:r>
              <a:t/>
            </a:r>
          </a:p>
          <a:p xmlns:a="http://schemas.openxmlformats.org/drawingml/2006/main">
            <a:r>
              <a:t>One concrete failure case is this file called lynx dot jpg, containing a harmless Windows executable header. The Security Gate blocks it before hashing or upload, and the test never executes it. Other cases cover corrupt files, empty inputs and oversized archives. Compare that with a possible watermark: we keep the image and warn the user because it may still contain useful wildlife information. These different outcomes reflect the purpose of each rule. The gate checks inputs; it does not replace antivirus.</a:t>
            </a:r>
          </a:p>
          <a:p xmlns:a="http://schemas.openxmlformats.org/drawingml/2006/main">
            <a:r>
              <a:t/>
            </a:r>
          </a:p>
          <a:p xmlns:a="http://schemas.openxmlformats.org/drawingml/2006/main">
            <a:r>
              <a:t>Project evidence: 29 October 2026, 469 offline tests passed, one integration test deselected. 3,897/5,385 statements (72.37%), same coverage scope as 28 October (437 tests, 68.17%). 32 new tests in tests/test_storage_boundaries.py. Reports: reports/validation/readability_review/offline.xml and coverage.xml. Production code unchanged by this test expansion. Historical integration/native examples remain separately dated in docs/evidence/final_validation.json.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Wassim / 25 seconds</a:t>
            </a:r>
          </a:p>
          <a:p xmlns:a="http://schemas.openxmlformats.org/drawingml/2006/main">
            <a:r>
              <a:t/>
            </a:r>
          </a:p>
          <a:p xmlns:a="http://schemas.openxmlformats.org/drawingml/2006/main">
            <a:r>
              <a:t>We began with a photograph and asked where the answer should come from. EcoSentinel makes that route inspectable, from the original file and its processing decisions to the retrieved sources. Our next evaluation needs expert-labelled queries, including useful questions that the system fails to answer. Thank you.</a:t>
            </a:r>
          </a:p>
          <a:p xmlns:a="http://schemas.openxmlformats.org/drawingml/2006/main">
            <a:r>
              <a:t/>
            </a:r>
          </a:p>
          <a:p xmlns:a="http://schemas.openxmlformats.org/drawingml/2006/main">
            <a:r>
              <a:t>Project evidence: docs/final_report.md, docs/evidence/final_validation.json, docs/evidence/native_models.json; zone and Task guides in docs/. The diagrams describe implemented stages and contracts.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b1fe0500bc474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5f7dd6fd344e1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29661391c64c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0e04c3c42854dc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c2d30341027465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792c0781a043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AF2DB4-13FF-4392-AC04-DBA5AA2585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815F670-062F-425F-95EF-8547575FD59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EE5676-D3F9-4506-95CB-AFA4D7C5EA6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874D9D-63D8-4791-975B-B667C8CAD5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52A876C-3195-42FE-B78B-E618A38ACB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AAFD8AF-4C15-4B24-8EB8-A1E30A06E8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43D8B4-5939-4CBF-8115-B0E84C3E212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1E803EC-F1FD-4DFF-B6A8-40D84B9653F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24D8C6-EEB9-4193-9EF9-19DED4C8BD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497194D-C563-44A2-9BDF-F39C4CF8854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240d7c27f34463" /><Relationship Type="http://schemas.openxmlformats.org/officeDocument/2006/relationships/slideLayout" Target="/ppt/slideLayouts/slideLayout1.xml" Id="R96ded24d9a284df2" /><Relationship Type="http://schemas.openxmlformats.org/officeDocument/2006/relationships/slideLayout" Target="/ppt/slideLayouts/slideLayout2.xml" Id="R417b13abcad74f6d" /><Relationship Type="http://schemas.openxmlformats.org/officeDocument/2006/relationships/slideLayout" Target="/ppt/slideLayouts/slideLayout3.xml" Id="R818c3cfc9e544fda" /><Relationship Type="http://schemas.openxmlformats.org/officeDocument/2006/relationships/slideLayout" Target="/ppt/slideLayouts/slideLayout4.xml" Id="R1fc298655a0a461c" /><Relationship Type="http://schemas.openxmlformats.org/officeDocument/2006/relationships/slideLayout" Target="/ppt/slideLayouts/slideLayout5.xml" Id="R835f30236b02486f" /><Relationship Type="http://schemas.openxmlformats.org/officeDocument/2006/relationships/slideLayout" Target="/ppt/slideLayouts/slideLayout6.xml" Id="Raf8815ffe0a947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6ded24d9a284df2"/>
    <p:sldLayoutId xmlns:r="http://schemas.openxmlformats.org/officeDocument/2006/relationships" id="2147483650" r:id="R417b13abcad74f6d"/>
    <p:sldLayoutId xmlns:r="http://schemas.openxmlformats.org/officeDocument/2006/relationships" id="2147483651" r:id="R818c3cfc9e544fda"/>
    <p:sldLayoutId xmlns:r="http://schemas.openxmlformats.org/officeDocument/2006/relationships" id="2147483652" r:id="R1fc298655a0a461c"/>
    <p:sldLayoutId xmlns:r="http://schemas.openxmlformats.org/officeDocument/2006/relationships" id="2147483653" r:id="R835f30236b02486f"/>
    <p:sldLayoutId xmlns:r="http://schemas.openxmlformats.org/officeDocument/2006/relationships" id="2147483654" r:id="Raf8815ffe0a947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ab18f8e67474b18" /><Relationship Type="http://schemas.openxmlformats.org/officeDocument/2006/relationships/image" Target="/ppt/media/image.jpeg" Id="Raf9eabbb2ffa4da4" /><Relationship Type="http://schemas.openxmlformats.org/officeDocument/2006/relationships/notesSlide" Target="/ppt/notesSlides/notesSlide1.xml" Id="R4dbe8515e90645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535f28b9d5c4f9e" /><Relationship Type="http://schemas.openxmlformats.org/officeDocument/2006/relationships/image" Target="/ppt/media/image2.jpeg" Id="R2638421b81974c6d" /><Relationship Type="http://schemas.openxmlformats.org/officeDocument/2006/relationships/notesSlide" Target="/ppt/notesSlides/notesSlide2.xml" Id="R3bc0471f473849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d53e0091abc4f60" /><Relationship Type="http://schemas.openxmlformats.org/officeDocument/2006/relationships/notesSlide" Target="/ppt/notesSlides/notesSlide3.xml" Id="Rc0f145916d5942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9daefba0f594350" /><Relationship Type="http://schemas.openxmlformats.org/officeDocument/2006/relationships/notesSlide" Target="/ppt/notesSlides/notesSlide4.xml" Id="R6b2e337b0cd64f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8332c7558b344aa" /><Relationship Type="http://schemas.openxmlformats.org/officeDocument/2006/relationships/notesSlide" Target="/ppt/notesSlides/notesSlide5.xml" Id="R5946c8e4eb134e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8e2a1d72b014778" /><Relationship Type="http://schemas.openxmlformats.org/officeDocument/2006/relationships/notesSlide" Target="/ppt/notesSlides/notesSlide6.xml" Id="Rc6827540aa9547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5c776e4c5f47eb" /><Relationship Type="http://schemas.openxmlformats.org/officeDocument/2006/relationships/notesSlide" Target="/ppt/notesSlides/notesSlide7.xml" Id="R8f2eae80b8f3491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b2ace52a684594" /><Relationship Type="http://schemas.openxmlformats.org/officeDocument/2006/relationships/image" Target="/ppt/media/image3.jpeg" Id="R930592cb3ff84f74" /><Relationship Type="http://schemas.openxmlformats.org/officeDocument/2006/relationships/image" Target="/ppt/media/image4.jpeg" Id="R962f73f12263407e" /><Relationship Type="http://schemas.openxmlformats.org/officeDocument/2006/relationships/image" Target="/ppt/media/image5.jpeg" Id="R2008a729754a4e81" /><Relationship Type="http://schemas.openxmlformats.org/officeDocument/2006/relationships/image" Target="/ppt/media/image6.jpeg" Id="Rb1266643755f4aff" /><Relationship Type="http://schemas.openxmlformats.org/officeDocument/2006/relationships/image" Target="/ppt/media/image7.jpeg" Id="Rf81bf1a2f0134c49" /><Relationship Type="http://schemas.openxmlformats.org/officeDocument/2006/relationships/image" Target="/ppt/media/image8.jpeg" Id="R8abfac4754084399" /><Relationship Type="http://schemas.openxmlformats.org/officeDocument/2006/relationships/image" Target="/ppt/media/image9.jpeg" Id="Rb9c07455d2f54e9d" /><Relationship Type="http://schemas.openxmlformats.org/officeDocument/2006/relationships/image" Target="/ppt/media/image10.jpeg" Id="R5aa253667db4450a" /><Relationship Type="http://schemas.openxmlformats.org/officeDocument/2006/relationships/notesSlide" Target="/ppt/notesSlides/notesSlide8.xml" Id="R830bcc55d605483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a2787c47b4414b" /><Relationship Type="http://schemas.openxmlformats.org/officeDocument/2006/relationships/notesSlide" Target="/ppt/notesSlides/notesSlide9.xml" Id="Rd91c1b5069514f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6fd5768fb244d1e" /><Relationship Type="http://schemas.openxmlformats.org/officeDocument/2006/relationships/notesSlide" Target="/ppt/notesSlides/notesSlide10.xml" Id="R7b0810b4fe2f43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0fdbdaf65034959" /><Relationship Type="http://schemas.openxmlformats.org/officeDocument/2006/relationships/image" Target="/ppt/media/image11.jpeg" Id="Rdf3c8482a4a9474d" /><Relationship Type="http://schemas.openxmlformats.org/officeDocument/2006/relationships/notesSlide" Target="/ppt/notesSlides/notesSlide11.xml" Id="R49bbbd23ac8449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2b36e2fd2f24110" /><Relationship Type="http://schemas.openxmlformats.org/officeDocument/2006/relationships/chart" Target="/ppt/slides/charts/chart1.xml" Id="R8e47e2cfb14d424d" /><Relationship Type="http://schemas.openxmlformats.org/officeDocument/2006/relationships/notesSlide" Target="/ppt/notesSlides/notesSlide12.xml" Id="R72ba7a7c3158444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d145f4efcf2491d" /><Relationship Type="http://schemas.openxmlformats.org/officeDocument/2006/relationships/chart" Target="/ppt/slides/charts/chart2.xml" Id="Re01665fcee3545a6" /><Relationship Type="http://schemas.openxmlformats.org/officeDocument/2006/relationships/notesSlide" Target="/ppt/notesSlides/notesSlide13.xml" Id="Rc380abec1f144b9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2ed2edff9904237" /><Relationship Type="http://schemas.openxmlformats.org/officeDocument/2006/relationships/notesSlide" Target="/ppt/notesSlides/notesSlide14.xml" Id="R8ebfa8a2ae51420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7bfd97a558f47d9" /><Relationship Type="http://schemas.openxmlformats.org/officeDocument/2006/relationships/notesSlide" Target="/ppt/notesSlides/notesSlide15.xml" Id="Radf10f73bb27416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3620f61a80044c7" /><Relationship Type="http://schemas.openxmlformats.org/officeDocument/2006/relationships/notesSlide" Target="/ppt/notesSlides/notesSlide16.xml" Id="Rfa7f8b1f49ef43d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ee9b3e6af8c431d" /><Relationship Type="http://schemas.openxmlformats.org/officeDocument/2006/relationships/notesSlide" Target="/ppt/notesSlides/notesSlide17.xml" Id="R1d14375e433e449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0dc3b7c2e2f4ce2" /><Relationship Type="http://schemas.openxmlformats.org/officeDocument/2006/relationships/image" Target="/ppt/media/image12.jpeg" Id="R17c88b02550e443c" /><Relationship Type="http://schemas.openxmlformats.org/officeDocument/2006/relationships/image" Target="/ppt/media/image13.jpeg" Id="R354fb3721ddb44c1" /><Relationship Type="http://schemas.openxmlformats.org/officeDocument/2006/relationships/image" Target="/ppt/media/image14.jpeg" Id="Rf66e8408e52e4139" /><Relationship Type="http://schemas.openxmlformats.org/officeDocument/2006/relationships/notesSlide" Target="/ppt/notesSlides/notesSlide18.xml" Id="R839dec4cd9a84d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6efed47f6a746a4" /><Relationship Type="http://schemas.openxmlformats.org/officeDocument/2006/relationships/image" Target="/ppt/media/image15.jpeg" Id="R266bf2a011574fc4" /><Relationship Type="http://schemas.openxmlformats.org/officeDocument/2006/relationships/notesSlide" Target="/ppt/notesSlides/notesSlide19.xml" Id="Rb4420a5d278d4b6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efc17c01edf4847" /><Relationship Type="http://schemas.openxmlformats.org/officeDocument/2006/relationships/notesSlide" Target="/ppt/notesSlides/notesSlide20.xml" Id="Re9d79d4642a1483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a2080966558402a" /><Relationship Type="http://schemas.openxmlformats.org/officeDocument/2006/relationships/image" Target="/ppt/media/image16.jpeg" Id="R73594d8f73c94157" /><Relationship Type="http://schemas.openxmlformats.org/officeDocument/2006/relationships/notesSlide" Target="/ppt/notesSlides/notesSlide21.xml" Id="R6b7c236b401f4ca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256c5c9087c4add" /><Relationship Type="http://schemas.openxmlformats.org/officeDocument/2006/relationships/notesSlide" Target="/ppt/notesSlides/notesSlide22.xml" Id="Re5ee169f82084d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20944fc649d4ca2" /><Relationship Type="http://schemas.openxmlformats.org/officeDocument/2006/relationships/notesSlide" Target="/ppt/notesSlides/notesSlide23.xml" Id="R94e24a3e5253493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454aa8470724817" /><Relationship Type="http://schemas.openxmlformats.org/officeDocument/2006/relationships/notesSlide" Target="/ppt/notesSlides/notesSlide24.xml" Id="Rc8865de127a04ef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473a4bfee18457a" /><Relationship Type="http://schemas.openxmlformats.org/officeDocument/2006/relationships/notesSlide" Target="/ppt/notesSlides/notesSlide25.xml" Id="R2fcb9c26fef140d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Formatted</c:v>
          </c:tx>
          <c:spPr>
            <a:solidFill xmlns:a="http://schemas.openxmlformats.org/drawingml/2006/main">
              <a:srgbClr val="123B32"/>
            </a:solidFill>
          </c:spPr>
          <c:invertIfNegative val="0"/>
          <c:cat>
            <c:strRef>
              <c:f>'Chart Data'!$A$2:$A$11</c:f>
              <c:strCache>
                <c:ptCount val="10"/>
                <c:pt idx="0">
                  <c:v>Kingfisher</c:v>
                </c:pt>
                <c:pt idx="1">
                  <c:v>G. eagle</c:v>
                </c:pt>
                <c:pt idx="2">
                  <c:v>Eagle owl</c:v>
                </c:pt>
                <c:pt idx="3">
                  <c:v>Wolf</c:v>
                </c:pt>
                <c:pt idx="4">
                  <c:v>Red deer</c:v>
                </c:pt>
                <c:pt idx="5">
                  <c:v>Robin</c:v>
                </c:pt>
                <c:pt idx="6">
                  <c:v>I. lynx</c:v>
                </c:pt>
                <c:pt idx="7">
                  <c:v>Frog</c:v>
                </c:pt>
                <c:pt idx="8">
                  <c:v>Wild boar</c:v>
                </c:pt>
                <c:pt idx="9">
                  <c:v>O. lizard</c:v>
                </c:pt>
              </c:strCache>
            </c:strRef>
          </c:cat>
          <c:val>
            <c:numRef>
              <c:f>'Chart Data'!$B$2:$B$11</c:f>
              <c:numCache>
                <c:formatCode>0</c:formatCode>
                <c:ptCount val="10"/>
                <c:pt idx="0">
                  <c:v>10</c:v>
                </c:pt>
                <c:pt idx="1">
                  <c:v>10</c:v>
                </c:pt>
                <c:pt idx="2">
                  <c:v>10</c:v>
                </c:pt>
                <c:pt idx="3">
                  <c:v>10</c:v>
                </c:pt>
                <c:pt idx="4">
                  <c:v>10</c:v>
                </c:pt>
                <c:pt idx="5">
                  <c:v>10</c:v>
                </c:pt>
                <c:pt idx="6">
                  <c:v>10</c:v>
                </c:pt>
                <c:pt idx="7">
                  <c:v>10</c:v>
                </c:pt>
                <c:pt idx="8">
                  <c:v>10</c:v>
                </c:pt>
                <c:pt idx="9">
                  <c:v>10</c:v>
                </c:pt>
              </c:numCache>
            </c:numRef>
          </c:val>
        </c:ser>
        <c:ser>
          <c:idx val="1"/>
          <c:order val="1"/>
          <c:tx>
            <c:v>Trusted</c:v>
          </c:tx>
          <c:spPr>
            <a:solidFill xmlns:a="http://schemas.openxmlformats.org/drawingml/2006/main">
              <a:srgbClr val="B85D35"/>
            </a:solidFill>
          </c:spPr>
          <c:invertIfNegative val="0"/>
          <c:cat>
            <c:strRef>
              <c:f>'Chart Data'!$C$2:$C$11</c:f>
              <c:strCache>
                <c:ptCount val="10"/>
                <c:pt idx="0">
                  <c:v>Kingfisher</c:v>
                </c:pt>
                <c:pt idx="1">
                  <c:v>G. eagle</c:v>
                </c:pt>
                <c:pt idx="2">
                  <c:v>Eagle owl</c:v>
                </c:pt>
                <c:pt idx="3">
                  <c:v>Wolf</c:v>
                </c:pt>
                <c:pt idx="4">
                  <c:v>Red deer</c:v>
                </c:pt>
                <c:pt idx="5">
                  <c:v>Robin</c:v>
                </c:pt>
                <c:pt idx="6">
                  <c:v>I. lynx</c:v>
                </c:pt>
                <c:pt idx="7">
                  <c:v>Frog</c:v>
                </c:pt>
                <c:pt idx="8">
                  <c:v>Wild boar</c:v>
                </c:pt>
                <c:pt idx="9">
                  <c:v>O. lizard</c:v>
                </c:pt>
              </c:strCache>
            </c:strRef>
          </c:cat>
          <c:val>
            <c:numRef>
              <c:f>'Chart Data'!$D$2:$D$11</c:f>
              <c:numCache>
                <c:formatCode>0</c:formatCode>
                <c:ptCount val="10"/>
                <c:pt idx="0">
                  <c:v>10</c:v>
                </c:pt>
                <c:pt idx="1">
                  <c:v>10</c:v>
                </c:pt>
                <c:pt idx="2">
                  <c:v>10</c:v>
                </c:pt>
                <c:pt idx="3">
                  <c:v>10</c:v>
                </c:pt>
                <c:pt idx="4">
                  <c:v>10</c:v>
                </c:pt>
                <c:pt idx="5">
                  <c:v>10</c:v>
                </c:pt>
                <c:pt idx="6">
                  <c:v>10</c:v>
                </c:pt>
                <c:pt idx="7">
                  <c:v>10</c:v>
                </c:pt>
                <c:pt idx="8">
                  <c:v>10</c:v>
                </c:pt>
                <c:pt idx="9">
                  <c:v>10</c:v>
                </c:pt>
              </c:numCache>
            </c:numRef>
          </c:val>
        </c:ser>
        <c:dLbls>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2B5A4"/>
            </a:solidFill>
          </a:ln>
        </c:spPr>
        <c:txPr>
          <a:bodyPr xmlns:a="http://schemas.openxmlformats.org/drawingml/2006/main" anchorCtr="1"/>
          <a:lstStyle xmlns:a="http://schemas.openxmlformats.org/drawingml/2006/main"/>
          <a:p xmlns:a="http://schemas.openxmlformats.org/drawingml/2006/main">
            <a:pPr>
              <a:defRPr sz="1800">
                <a:solidFill>
                  <a:srgbClr val="123B32"/>
                </a:solidFill>
              </a:defRPr>
            </a:pPr>
          </a:p>
        </c:txPr>
        <c:crossAx val="48672768"/>
      </c:catAx>
      <c:valAx>
        <c:axId val="48672768"/>
        <c:scaling>
          <c:orientation val="minMax"/>
          <c:max val="12"/>
          <c:min val="0"/>
        </c:scaling>
        <c:delete val="0"/>
        <c:axPos val="l"/>
        <c:majorGridlines>
          <c:spPr>
            <a:ln xmlns:a="http://schemas.openxmlformats.org/drawingml/2006/main" w="5715">
              <a:solidFill>
                <a:srgbClr val="A2B5A4"/>
              </a:solidFill>
            </a:ln>
          </c:spPr>
        </c:majorGridlines>
        <c:title>
          <c:tx>
            <c:rich>
              <a:bodyPr xmlns:a="http://schemas.openxmlformats.org/drawingml/2006/main"/>
              <a:lstStyle xmlns:a="http://schemas.openxmlformats.org/drawingml/2006/main"/>
              <a:p xmlns:a="http://schemas.openxmlformats.org/drawingml/2006/main">
                <a:r>
                  <a:rPr sz="1875">
                    <a:solidFill>
                      <a:srgbClr val="123B32"/>
                    </a:solidFill>
                  </a:rPr>
                  <a:t>Images</a:t>
                </a:r>
              </a:p>
            </c:rich>
          </c:tx>
          <c:overlay val="0"/>
          <c:txPr>
            <a:bodyPr xmlns:a="http://schemas.openxmlformats.org/drawingml/2006/main" anchorCtr="1"/>
            <a:lstStyle xmlns:a="http://schemas.openxmlformats.org/drawingml/2006/main"/>
            <a:p xmlns:a="http://schemas.openxmlformats.org/drawingml/2006/main">
              <a:pPr>
                <a:defRPr sz="1875">
                  <a:solidFill>
                    <a:srgbClr val="123B32"/>
                  </a:solidFil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52675C"/>
                </a:solidFill>
              </a:defRPr>
            </a:pPr>
          </a:p>
        </c:txPr>
        <c:crossAx val="48650112"/>
        <c:crossBetween val="between"/>
        <c:majorUnit val="2"/>
      </c:valAx>
      <c:spPr>
        <a:solidFill xmlns:a="http://schemas.openxmlformats.org/drawingml/2006/main">
          <a:srgbClr val="F5F1E7"/>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1950">
              <a:solidFill>
                <a:srgbClr val="123B32"/>
              </a:solidFill>
            </a:defRPr>
          </a:pPr>
        </a:p>
      </c:txPr>
    </c:legend>
    <c:plotVisOnly val="1"/>
  </c:chart>
  <c:spPr>
    <a:solidFill xmlns:a="http://schemas.openxmlformats.org/drawingml/2006/main">
      <a:srgbClr val="F5F1E7"/>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Formatted</c:v>
          </c:tx>
          <c:spPr>
            <a:solidFill xmlns:a="http://schemas.openxmlformats.org/drawingml/2006/main">
              <a:srgbClr val="123B32"/>
            </a:solidFill>
          </c:spPr>
          <c:invertIfNegative val="0"/>
          <c:cat>
            <c:strRef>
              <c:f>'Chart Data'!$A$2:$A$6</c:f>
              <c:strCache>
                <c:ptCount val="5"/>
                <c:pt idx="0">
                  <c:v>0–20</c:v>
                </c:pt>
                <c:pt idx="1">
                  <c:v>20–40</c:v>
                </c:pt>
                <c:pt idx="2">
                  <c:v>40–60</c:v>
                </c:pt>
                <c:pt idx="3">
                  <c:v>60–80</c:v>
                </c:pt>
                <c:pt idx="4">
                  <c:v>80–100</c:v>
                </c:pt>
              </c:strCache>
            </c:strRef>
          </c:cat>
          <c:val>
            <c:numRef>
              <c:f>'Chart Data'!$B$2:$B$6</c:f>
              <c:numCache>
                <c:formatCode>0</c:formatCode>
                <c:ptCount val="5"/>
                <c:pt idx="0">
                  <c:v>12</c:v>
                </c:pt>
                <c:pt idx="1">
                  <c:v>4</c:v>
                </c:pt>
                <c:pt idx="2">
                  <c:v>5</c:v>
                </c:pt>
                <c:pt idx="3">
                  <c:v>4</c:v>
                </c:pt>
                <c:pt idx="4">
                  <c:v>9</c:v>
                </c:pt>
              </c:numCache>
            </c:numRef>
          </c:val>
        </c:ser>
        <c:ser>
          <c:idx val="1"/>
          <c:order val="1"/>
          <c:tx>
            <c:v>Trusted</c:v>
          </c:tx>
          <c:spPr>
            <a:solidFill xmlns:a="http://schemas.openxmlformats.org/drawingml/2006/main">
              <a:srgbClr val="B85D35"/>
            </a:solidFill>
          </c:spPr>
          <c:invertIfNegative val="0"/>
          <c:cat>
            <c:strRef>
              <c:f>'Chart Data'!$C$2:$C$6</c:f>
              <c:strCache>
                <c:ptCount val="5"/>
                <c:pt idx="0">
                  <c:v>0–20</c:v>
                </c:pt>
                <c:pt idx="1">
                  <c:v>20–40</c:v>
                </c:pt>
                <c:pt idx="2">
                  <c:v>40–60</c:v>
                </c:pt>
                <c:pt idx="3">
                  <c:v>60–80</c:v>
                </c:pt>
                <c:pt idx="4">
                  <c:v>80–100</c:v>
                </c:pt>
              </c:strCache>
            </c:strRef>
          </c:cat>
          <c:val>
            <c:numRef>
              <c:f>'Chart Data'!$D$2:$D$6</c:f>
              <c:numCache>
                <c:formatCode>0</c:formatCode>
                <c:ptCount val="5"/>
                <c:pt idx="0">
                  <c:v>12</c:v>
                </c:pt>
                <c:pt idx="1">
                  <c:v>4</c:v>
                </c:pt>
                <c:pt idx="2">
                  <c:v>5</c:v>
                </c:pt>
                <c:pt idx="3">
                  <c:v>4</c:v>
                </c:pt>
                <c:pt idx="4">
                  <c:v>9</c:v>
                </c:pt>
              </c:numCache>
            </c:numRef>
          </c:val>
        </c:ser>
        <c:dLbls>
          <c:showLegendKey val="0"/>
          <c:showVal val="0"/>
          <c:showCatName val="0"/>
          <c:showSerName val="0"/>
          <c:showPercent val="0"/>
          <c:showBubbleSize val="0"/>
          <c:showLeaderLines val="0"/>
        </c:dLbls>
        <c:gapWidth val="7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800">
                    <a:solidFill>
                      <a:srgbClr val="123B32"/>
                    </a:solidFill>
                  </a:rPr>
                  <a:t>Low-energy windows (%)</a:t>
                </a:r>
              </a:p>
            </c:rich>
          </c:tx>
          <c:overlay val="0"/>
          <c:txPr>
            <a:bodyPr xmlns:a="http://schemas.openxmlformats.org/drawingml/2006/main" anchorCtr="1"/>
            <a:lstStyle xmlns:a="http://schemas.openxmlformats.org/drawingml/2006/main"/>
            <a:p xmlns:a="http://schemas.openxmlformats.org/drawingml/2006/main">
              <a:pPr>
                <a:defRPr sz="1800">
                  <a:solidFill>
                    <a:srgbClr val="123B32"/>
                  </a:solidFil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23B32"/>
                </a:solidFill>
              </a:defRPr>
            </a:pPr>
          </a:p>
        </c:txPr>
        <c:crossAx val="48672768"/>
      </c:catAx>
      <c:valAx>
        <c:axId val="48672768"/>
        <c:scaling>
          <c:orientation val="minMax"/>
          <c:max val="14"/>
          <c:min val="0"/>
        </c:scaling>
        <c:delete val="0"/>
        <c:axPos val="l"/>
        <c:majorGridlines>
          <c:spPr>
            <a:ln xmlns:a="http://schemas.openxmlformats.org/drawingml/2006/main" w="5715">
              <a:solidFill>
                <a:srgbClr val="A2B5A4"/>
              </a:solidFill>
            </a:ln>
          </c:spPr>
        </c:majorGridlines>
        <c:title>
          <c:tx>
            <c:rich>
              <a:bodyPr xmlns:a="http://schemas.openxmlformats.org/drawingml/2006/main"/>
              <a:lstStyle xmlns:a="http://schemas.openxmlformats.org/drawingml/2006/main"/>
              <a:p xmlns:a="http://schemas.openxmlformats.org/drawingml/2006/main">
                <a:r>
                  <a:rPr sz="1800">
                    <a:solidFill>
                      <a:srgbClr val="123B32"/>
                    </a:solidFill>
                  </a:rPr>
                  <a:t>Recordings</a:t>
                </a:r>
              </a:p>
            </c:rich>
          </c:tx>
          <c:overlay val="0"/>
          <c:txPr>
            <a:bodyPr xmlns:a="http://schemas.openxmlformats.org/drawingml/2006/main" anchorCtr="1"/>
            <a:lstStyle xmlns:a="http://schemas.openxmlformats.org/drawingml/2006/main"/>
            <a:p xmlns:a="http://schemas.openxmlformats.org/drawingml/2006/main">
              <a:pPr>
                <a:defRPr sz="1800">
                  <a:solidFill>
                    <a:srgbClr val="123B32"/>
                  </a:solidFil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52675C"/>
                </a:solidFill>
              </a:defRPr>
            </a:pPr>
          </a:p>
        </c:txPr>
        <c:crossAx val="48650112"/>
        <c:crossBetween val="between"/>
        <c:majorUnit val="2"/>
      </c:valAx>
      <c:spPr>
        <a:solidFill xmlns:a="http://schemas.openxmlformats.org/drawingml/2006/main">
          <a:srgbClr val="F5F1E7"/>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1875">
              <a:solidFill>
                <a:srgbClr val="123B32"/>
              </a:solidFill>
            </a:defRPr>
          </a:pPr>
        </a:p>
      </c:txPr>
    </c:legend>
    <c:plotVisOnly val="1"/>
  </c:chart>
  <c:spPr>
    <a:solidFill xmlns:a="http://schemas.openxmlformats.org/drawingml/2006/main">
      <a:srgbClr val="F5F1E7"/>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05AC79-4D09-4962-8B68-6D72E8D608F1}"/>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buNone/>
              <a:defRPr sz="1425" b="0">
                <a:solidFill>
                  <a:srgbClr val="DCE5D2"/>
                </a:solidFill>
              </a:defRPr>
            </a:lvl1pPr>
            <a:lvl2pPr>
              <a:buNone/>
              <a:defRPr sz="1425" b="0">
                <a:solidFill>
                  <a:srgbClr val="DCE5D2"/>
                </a:solidFill>
              </a:defRPr>
            </a:lvl2pPr>
            <a:lvl3pPr>
              <a:buNone/>
              <a:defRPr sz="1425" b="0">
                <a:solidFill>
                  <a:srgbClr val="DCE5D2"/>
                </a:solidFill>
              </a:defRPr>
            </a:lvl3pPr>
            <a:lvl4pPr>
              <a:buNone/>
              <a:defRPr sz="1425" b="0">
                <a:solidFill>
                  <a:srgbClr val="DCE5D2"/>
                </a:solidFill>
              </a:defRPr>
            </a:lvl4pPr>
            <a:lvl5pPr>
              <a:buNone/>
              <a:defRPr sz="1425" b="0">
                <a:solidFill>
                  <a:srgbClr val="DCE5D2"/>
                </a:solidFill>
              </a:defRPr>
            </a:lvl5pPr>
            <a:lvl6pPr>
              <a:buNone/>
              <a:defRPr sz="1425" b="0">
                <a:solidFill>
                  <a:srgbClr val="DCE5D2"/>
                </a:solidFill>
              </a:defRPr>
            </a:lvl6pPr>
            <a:lvl7pPr>
              <a:buNone/>
              <a:defRPr sz="1425" b="0">
                <a:solidFill>
                  <a:srgbClr val="DCE5D2"/>
                </a:solidFill>
              </a:defRPr>
            </a:lvl7pPr>
            <a:lvl8pPr>
              <a:buNone/>
              <a:defRPr sz="1425" b="0">
                <a:solidFill>
                  <a:srgbClr val="DCE5D2"/>
                </a:solidFill>
              </a:defRPr>
            </a:lvl8pPr>
            <a:lvl9pPr>
              <a:buNone/>
              <a:defRPr sz="1425" b="0">
                <a:solidFill>
                  <a:srgbClr val="DCE5D2"/>
                </a:solidFill>
              </a:defRPr>
            </a:lvl9pPr>
          </a:lstStyle>
          <a:p xmlns:a="http://schemas.openxmlformats.org/drawingml/2006/main">
            <a:pPr>
              <a:buNone/>
              <a:defRPr sz="1425" b="0">
                <a:solidFill>
                  <a:srgbClr val="DCE5D2"/>
                </a:solidFill>
              </a:defRPr>
            </a:pPr>
            <a:r>
              <a:rPr sz="1425" b="0">
                <a:solidFill>
                  <a:srgbClr val="DCE5D2"/>
                </a:solidFill>
              </a:rPr>
              <a:t>01</a:t>
            </a:r>
          </a:p>
        </p:txBody>
      </p:sp>
      <p:pic>
        <p:nvPicPr>
          <p:cNvPr id="2" name="">
            <a:extLst xmlns:a="http://schemas.openxmlformats.org/drawingml/2006/main">
              <a:ext uri="{FF2B5EF4-FFF2-40B4-BE49-F238E27FC236}">
                <a16:creationId xmlns:a16="http://schemas.microsoft.com/office/drawing/2014/main" id="{242FB407-A634-4C34-B8DA-1CF5946B7968}"/>
              </a:ext>
            </a:extLst>
          </p:cNvPr>
          <p:cNvPicPr>
            <a:picLocks xmlns:a="http://schemas.openxmlformats.org/drawingml/2006/main" noChangeAspect="1"/>
          </p:cNvPicPr>
          <p:nvPr/>
        </p:nvPicPr>
        <p:blipFill>
          <a:blip xmlns:r="http://schemas.openxmlformats.org/officeDocument/2006/relationships" xmlns:a="http://schemas.openxmlformats.org/drawingml/2006/main" r:embed="Raf9eabbb2ffa4da4"/>
          <a:srcRect xmlns:a="http://schemas.openxmlformats.org/drawingml/2006/main" l="1194" t="0" r="1194" b="0"/>
          <a:stretch xmlns:a="http://schemas.openxmlformats.org/drawingml/2006/main">
            <a:fillRect l="0" t="0" r="0" b="0"/>
          </a:stretch>
        </p:blipFill>
        <p:spPr>
          <a:xfrm xmlns:a="http://schemas.openxmlformats.org/drawingml/2006/main">
            <a:off x="7677150" y="0"/>
            <a:ext cx="451485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2FF1ACC-50A2-4348-9F39-F3473387486F}"/>
              </a:ext>
            </a:extLst>
          </p:cNvPr>
          <p:cNvSpPr>
            <a:spLocks xmlns:a="http://schemas.openxmlformats.org/drawingml/2006/main" noGrp="1"/>
          </p:cNvSpPr>
          <p:nvPr/>
        </p:nvSpPr>
        <p:spPr>
          <a:xfrm xmlns:a="http://schemas.openxmlformats.org/drawingml/2006/main">
            <a:off x="571500" y="1219200"/>
            <a:ext cx="7000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5F1E7"/>
                </a:solidFill>
              </a:defRPr>
            </a:defPPr>
            <a:lvl1pPr>
              <a:buNone/>
              <a:defRPr sz="6900" b="1">
                <a:solidFill>
                  <a:srgbClr val="F5F1E7"/>
                </a:solidFill>
              </a:defRPr>
            </a:lvl1pPr>
            <a:lvl2pPr>
              <a:buNone/>
              <a:defRPr sz="6900" b="1">
                <a:solidFill>
                  <a:srgbClr val="F5F1E7"/>
                </a:solidFill>
              </a:defRPr>
            </a:lvl2pPr>
            <a:lvl3pPr>
              <a:buNone/>
              <a:defRPr sz="6900" b="1">
                <a:solidFill>
                  <a:srgbClr val="F5F1E7"/>
                </a:solidFill>
              </a:defRPr>
            </a:lvl3pPr>
            <a:lvl4pPr>
              <a:buNone/>
              <a:defRPr sz="6900" b="1">
                <a:solidFill>
                  <a:srgbClr val="F5F1E7"/>
                </a:solidFill>
              </a:defRPr>
            </a:lvl4pPr>
            <a:lvl5pPr>
              <a:buNone/>
              <a:defRPr sz="6900" b="1">
                <a:solidFill>
                  <a:srgbClr val="F5F1E7"/>
                </a:solidFill>
              </a:defRPr>
            </a:lvl5pPr>
            <a:lvl6pPr>
              <a:buNone/>
              <a:defRPr sz="6900" b="1">
                <a:solidFill>
                  <a:srgbClr val="F5F1E7"/>
                </a:solidFill>
              </a:defRPr>
            </a:lvl6pPr>
            <a:lvl7pPr>
              <a:buNone/>
              <a:defRPr sz="6900" b="1">
                <a:solidFill>
                  <a:srgbClr val="F5F1E7"/>
                </a:solidFill>
              </a:defRPr>
            </a:lvl7pPr>
            <a:lvl8pPr>
              <a:buNone/>
              <a:defRPr sz="6900" b="1">
                <a:solidFill>
                  <a:srgbClr val="F5F1E7"/>
                </a:solidFill>
              </a:defRPr>
            </a:lvl8pPr>
            <a:lvl9pPr>
              <a:buNone/>
              <a:defRPr sz="6900" b="1">
                <a:solidFill>
                  <a:srgbClr val="F5F1E7"/>
                </a:solidFill>
              </a:defRPr>
            </a:lvl9pPr>
          </a:lstStyle>
          <a:p xmlns:a="http://schemas.openxmlformats.org/drawingml/2006/main">
            <a:pPr>
              <a:buNone/>
              <a:defRPr sz="6900" b="1">
                <a:solidFill>
                  <a:srgbClr val="F5F1E7"/>
                </a:solidFill>
              </a:defRPr>
            </a:pPr>
            <a:r>
              <a:rPr sz="6900" b="1">
                <a:solidFill>
                  <a:srgbClr val="F5F1E7"/>
                </a:solidFill>
              </a:rPr>
              <a:t>EcoSentinel</a:t>
            </a:r>
          </a:p>
        </p:txBody>
      </p:sp>
      <p:sp>
        <p:nvSpPr>
          <p:cNvPr id="4" name="">
            <a:extLst xmlns:a="http://schemas.openxmlformats.org/drawingml/2006/main">
              <a:ext uri="{FF2B5EF4-FFF2-40B4-BE49-F238E27FC236}">
                <a16:creationId xmlns:a16="http://schemas.microsoft.com/office/drawing/2014/main" id="{F884DDEB-97F8-46C4-B242-558606F0EF97}"/>
              </a:ext>
            </a:extLst>
          </p:cNvPr>
          <p:cNvSpPr>
            <a:spLocks xmlns:a="http://schemas.openxmlformats.org/drawingml/2006/main" noGrp="1"/>
          </p:cNvSpPr>
          <p:nvPr/>
        </p:nvSpPr>
        <p:spPr>
          <a:xfrm xmlns:a="http://schemas.openxmlformats.org/drawingml/2006/main">
            <a:off x="619125" y="2876550"/>
            <a:ext cx="666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0">
                <a:solidFill>
                  <a:srgbClr val="F5F1E7"/>
                </a:solidFill>
              </a:defRPr>
            </a:defPPr>
            <a:lvl1pPr>
              <a:buNone/>
              <a:defRPr sz="3975" b="0">
                <a:solidFill>
                  <a:srgbClr val="F5F1E7"/>
                </a:solidFill>
              </a:defRPr>
            </a:lvl1pPr>
            <a:lvl2pPr>
              <a:buNone/>
              <a:defRPr sz="3975" b="0">
                <a:solidFill>
                  <a:srgbClr val="F5F1E7"/>
                </a:solidFill>
              </a:defRPr>
            </a:lvl2pPr>
            <a:lvl3pPr>
              <a:buNone/>
              <a:defRPr sz="3975" b="0">
                <a:solidFill>
                  <a:srgbClr val="F5F1E7"/>
                </a:solidFill>
              </a:defRPr>
            </a:lvl3pPr>
            <a:lvl4pPr>
              <a:buNone/>
              <a:defRPr sz="3975" b="0">
                <a:solidFill>
                  <a:srgbClr val="F5F1E7"/>
                </a:solidFill>
              </a:defRPr>
            </a:lvl4pPr>
            <a:lvl5pPr>
              <a:buNone/>
              <a:defRPr sz="3975" b="0">
                <a:solidFill>
                  <a:srgbClr val="F5F1E7"/>
                </a:solidFill>
              </a:defRPr>
            </a:lvl5pPr>
            <a:lvl6pPr>
              <a:buNone/>
              <a:defRPr sz="3975" b="0">
                <a:solidFill>
                  <a:srgbClr val="F5F1E7"/>
                </a:solidFill>
              </a:defRPr>
            </a:lvl6pPr>
            <a:lvl7pPr>
              <a:buNone/>
              <a:defRPr sz="3975" b="0">
                <a:solidFill>
                  <a:srgbClr val="F5F1E7"/>
                </a:solidFill>
              </a:defRPr>
            </a:lvl7pPr>
            <a:lvl8pPr>
              <a:buNone/>
              <a:defRPr sz="3975" b="0">
                <a:solidFill>
                  <a:srgbClr val="F5F1E7"/>
                </a:solidFill>
              </a:defRPr>
            </a:lvl8pPr>
            <a:lvl9pPr>
              <a:buNone/>
              <a:defRPr sz="3975" b="0">
                <a:solidFill>
                  <a:srgbClr val="F5F1E7"/>
                </a:solidFill>
              </a:defRPr>
            </a:lvl9pPr>
          </a:lstStyle>
          <a:p xmlns:a="http://schemas.openxmlformats.org/drawingml/2006/main">
            <a:pPr>
              <a:buNone/>
              <a:defRPr sz="3675" b="0">
                <a:solidFill>
                  <a:srgbClr val="F5F1E7"/>
                </a:solidFill>
              </a:defRPr>
            </a:pPr>
            <a:r>
              <a:rPr sz="3675" b="0">
                <a:solidFill>
                  <a:srgbClr val="F5F1E7"/>
                </a:solidFill>
              </a:rPr>
              <a:t>Where does the</a:t>
            </a:r>
          </a:p>
          <a:p xmlns:a="http://schemas.openxmlformats.org/drawingml/2006/main">
            <a:pPr>
              <a:buNone/>
              <a:defRPr sz="3675" b="0">
                <a:solidFill>
                  <a:srgbClr val="F5F1E7"/>
                </a:solidFill>
              </a:defRPr>
            </a:pPr>
            <a:r>
              <a:rPr sz="3675" b="0">
                <a:solidFill>
                  <a:srgbClr val="F5F1E7"/>
                </a:solidFill>
              </a:rPr>
              <a:t>answer come from?</a:t>
            </a:r>
          </a:p>
        </p:txBody>
      </p:sp>
      <p:sp>
        <p:nvSpPr>
          <p:cNvPr id="5" name="">
            <a:extLst xmlns:a="http://schemas.openxmlformats.org/drawingml/2006/main">
              <a:ext uri="{FF2B5EF4-FFF2-40B4-BE49-F238E27FC236}">
                <a16:creationId xmlns:a16="http://schemas.microsoft.com/office/drawing/2014/main" id="{CA31A42C-3697-4F36-9E01-A5BB7B49E3B7}"/>
              </a:ext>
            </a:extLst>
          </p:cNvPr>
          <p:cNvSpPr>
            <a:spLocks xmlns:a="http://schemas.openxmlformats.org/drawingml/2006/main" noGrp="1"/>
          </p:cNvSpPr>
          <p:nvPr/>
        </p:nvSpPr>
        <p:spPr>
          <a:xfrm xmlns:a="http://schemas.openxmlformats.org/drawingml/2006/main">
            <a:off x="619125" y="5314950"/>
            <a:ext cx="681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5F1E7"/>
                </a:solidFill>
              </a:defRPr>
            </a:defPPr>
            <a:lvl1pPr>
              <a:buNone/>
              <a:defRPr sz="2100" b="0">
                <a:solidFill>
                  <a:srgbClr val="F5F1E7"/>
                </a:solidFill>
              </a:defRPr>
            </a:lvl1pPr>
            <a:lvl2pPr>
              <a:buNone/>
              <a:defRPr sz="2100" b="0">
                <a:solidFill>
                  <a:srgbClr val="F5F1E7"/>
                </a:solidFill>
              </a:defRPr>
            </a:lvl2pPr>
            <a:lvl3pPr>
              <a:buNone/>
              <a:defRPr sz="2100" b="0">
                <a:solidFill>
                  <a:srgbClr val="F5F1E7"/>
                </a:solidFill>
              </a:defRPr>
            </a:lvl3pPr>
            <a:lvl4pPr>
              <a:buNone/>
              <a:defRPr sz="2100" b="0">
                <a:solidFill>
                  <a:srgbClr val="F5F1E7"/>
                </a:solidFill>
              </a:defRPr>
            </a:lvl4pPr>
            <a:lvl5pPr>
              <a:buNone/>
              <a:defRPr sz="2100" b="0">
                <a:solidFill>
                  <a:srgbClr val="F5F1E7"/>
                </a:solidFill>
              </a:defRPr>
            </a:lvl5pPr>
            <a:lvl6pPr>
              <a:buNone/>
              <a:defRPr sz="2100" b="0">
                <a:solidFill>
                  <a:srgbClr val="F5F1E7"/>
                </a:solidFill>
              </a:defRPr>
            </a:lvl6pPr>
            <a:lvl7pPr>
              <a:buNone/>
              <a:defRPr sz="2100" b="0">
                <a:solidFill>
                  <a:srgbClr val="F5F1E7"/>
                </a:solidFill>
              </a:defRPr>
            </a:lvl7pPr>
            <a:lvl8pPr>
              <a:buNone/>
              <a:defRPr sz="2100" b="0">
                <a:solidFill>
                  <a:srgbClr val="F5F1E7"/>
                </a:solidFill>
              </a:defRPr>
            </a:lvl8pPr>
            <a:lvl9pPr>
              <a:buNone/>
              <a:defRPr sz="2100" b="0">
                <a:solidFill>
                  <a:srgbClr val="F5F1E7"/>
                </a:solidFill>
              </a:defRPr>
            </a:lvl9pPr>
          </a:lstStyle>
          <a:p xmlns:a="http://schemas.openxmlformats.org/drawingml/2006/main">
            <a:pPr>
              <a:buNone/>
              <a:defRPr sz="2100" b="0">
                <a:solidFill>
                  <a:srgbClr val="F5F1E7"/>
                </a:solidFill>
              </a:defRPr>
            </a:pPr>
            <a:r>
              <a:rPr sz="2100" b="0">
                <a:solidFill>
                  <a:srgbClr val="F5F1E7"/>
                </a:solidFill>
              </a:rPr>
              <a:t>Mario Rodrigo · Sambhav · Wassim</a:t>
            </a:r>
          </a:p>
        </p:txBody>
      </p:sp>
      <p:sp>
        <p:nvSpPr>
          <p:cNvPr id="6" name="">
            <a:extLst xmlns:a="http://schemas.openxmlformats.org/drawingml/2006/main">
              <a:ext uri="{FF2B5EF4-FFF2-40B4-BE49-F238E27FC236}">
                <a16:creationId xmlns:a16="http://schemas.microsoft.com/office/drawing/2014/main" id="{2414A76A-A067-44BA-B590-C2D40038BDE1}"/>
              </a:ext>
            </a:extLst>
          </p:cNvPr>
          <p:cNvSpPr>
            <a:spLocks xmlns:a="http://schemas.openxmlformats.org/drawingml/2006/main" noGrp="1"/>
          </p:cNvSpPr>
          <p:nvPr/>
        </p:nvSpPr>
        <p:spPr>
          <a:xfrm xmlns:a="http://schemas.openxmlformats.org/drawingml/2006/main">
            <a:off x="619125" y="59055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CE5D2"/>
                </a:solidFill>
              </a:defRPr>
            </a:defPPr>
            <a:lvl1pPr>
              <a:buNone/>
              <a:defRPr sz="1800" b="0">
                <a:solidFill>
                  <a:srgbClr val="DCE5D2"/>
                </a:solidFill>
              </a:defRPr>
            </a:lvl1pPr>
            <a:lvl2pPr>
              <a:buNone/>
              <a:defRPr sz="1800" b="0">
                <a:solidFill>
                  <a:srgbClr val="DCE5D2"/>
                </a:solidFill>
              </a:defRPr>
            </a:lvl2pPr>
            <a:lvl3pPr>
              <a:buNone/>
              <a:defRPr sz="1800" b="0">
                <a:solidFill>
                  <a:srgbClr val="DCE5D2"/>
                </a:solidFill>
              </a:defRPr>
            </a:lvl3pPr>
            <a:lvl4pPr>
              <a:buNone/>
              <a:defRPr sz="1800" b="0">
                <a:solidFill>
                  <a:srgbClr val="DCE5D2"/>
                </a:solidFill>
              </a:defRPr>
            </a:lvl4pPr>
            <a:lvl5pPr>
              <a:buNone/>
              <a:defRPr sz="1800" b="0">
                <a:solidFill>
                  <a:srgbClr val="DCE5D2"/>
                </a:solidFill>
              </a:defRPr>
            </a:lvl5pPr>
            <a:lvl6pPr>
              <a:buNone/>
              <a:defRPr sz="1800" b="0">
                <a:solidFill>
                  <a:srgbClr val="DCE5D2"/>
                </a:solidFill>
              </a:defRPr>
            </a:lvl6pPr>
            <a:lvl7pPr>
              <a:buNone/>
              <a:defRPr sz="1800" b="0">
                <a:solidFill>
                  <a:srgbClr val="DCE5D2"/>
                </a:solidFill>
              </a:defRPr>
            </a:lvl7pPr>
            <a:lvl8pPr>
              <a:buNone/>
              <a:defRPr sz="1800" b="0">
                <a:solidFill>
                  <a:srgbClr val="DCE5D2"/>
                </a:solidFill>
              </a:defRPr>
            </a:lvl8pPr>
            <a:lvl9pPr>
              <a:buNone/>
              <a:defRPr sz="1800" b="0">
                <a:solidFill>
                  <a:srgbClr val="DCE5D2"/>
                </a:solidFill>
              </a:defRPr>
            </a:lvl9pPr>
          </a:lstStyle>
          <a:p xmlns:a="http://schemas.openxmlformats.org/drawingml/2006/main">
            <a:pPr>
              <a:buNone/>
              <a:defRPr sz="1800" b="0">
                <a:solidFill>
                  <a:srgbClr val="DCE5D2"/>
                </a:solidFill>
              </a:defRPr>
            </a:pPr>
            <a:r>
              <a:rPr sz="1800" b="0">
                <a:solidFill>
                  <a:srgbClr val="DCE5D2"/>
                </a:solidFill>
              </a:rPr>
              <a:t>ADSDB P1 / UPC</a:t>
            </a:r>
          </a:p>
        </p:txBody>
      </p:sp>
      <p:sp>
        <p:nvSpPr>
          <p:cNvPr id="7" name="">
            <a:extLst xmlns:a="http://schemas.openxmlformats.org/drawingml/2006/main">
              <a:ext uri="{FF2B5EF4-FFF2-40B4-BE49-F238E27FC236}">
                <a16:creationId xmlns:a16="http://schemas.microsoft.com/office/drawing/2014/main" id="{ABBC7CE2-289E-4BB4-AC5B-1FA798A3EC62}"/>
              </a:ext>
            </a:extLst>
          </p:cNvPr>
          <p:cNvSpPr>
            <a:spLocks xmlns:a="http://schemas.openxmlformats.org/drawingml/2006/main" noGrp="1"/>
          </p:cNvSpPr>
          <p:nvPr/>
        </p:nvSpPr>
        <p:spPr>
          <a:xfrm xmlns:a="http://schemas.openxmlformats.org/drawingml/2006/main">
            <a:off x="619125" y="6334125"/>
            <a:ext cx="6905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buNone/>
              <a:defRPr sz="1425" b="0">
                <a:solidFill>
                  <a:srgbClr val="DCE5D2"/>
                </a:solidFill>
              </a:defRPr>
            </a:lvl1pPr>
            <a:lvl2pPr>
              <a:buNone/>
              <a:defRPr sz="1425" b="0">
                <a:solidFill>
                  <a:srgbClr val="DCE5D2"/>
                </a:solidFill>
              </a:defRPr>
            </a:lvl2pPr>
            <a:lvl3pPr>
              <a:buNone/>
              <a:defRPr sz="1425" b="0">
                <a:solidFill>
                  <a:srgbClr val="DCE5D2"/>
                </a:solidFill>
              </a:defRPr>
            </a:lvl3pPr>
            <a:lvl4pPr>
              <a:buNone/>
              <a:defRPr sz="1425" b="0">
                <a:solidFill>
                  <a:srgbClr val="DCE5D2"/>
                </a:solidFill>
              </a:defRPr>
            </a:lvl4pPr>
            <a:lvl5pPr>
              <a:buNone/>
              <a:defRPr sz="1425" b="0">
                <a:solidFill>
                  <a:srgbClr val="DCE5D2"/>
                </a:solidFill>
              </a:defRPr>
            </a:lvl5pPr>
            <a:lvl6pPr>
              <a:buNone/>
              <a:defRPr sz="1425" b="0">
                <a:solidFill>
                  <a:srgbClr val="DCE5D2"/>
                </a:solidFill>
              </a:defRPr>
            </a:lvl6pPr>
            <a:lvl7pPr>
              <a:buNone/>
              <a:defRPr sz="1425" b="0">
                <a:solidFill>
                  <a:srgbClr val="DCE5D2"/>
                </a:solidFill>
              </a:defRPr>
            </a:lvl7pPr>
            <a:lvl8pPr>
              <a:buNone/>
              <a:defRPr sz="1425" b="0">
                <a:solidFill>
                  <a:srgbClr val="DCE5D2"/>
                </a:solidFill>
              </a:defRPr>
            </a:lvl8pPr>
            <a:lvl9pPr>
              <a:buNone/>
              <a:defRPr sz="1425" b="0">
                <a:solidFill>
                  <a:srgbClr val="DCE5D2"/>
                </a:solidFill>
              </a:defRPr>
            </a:lvl9pPr>
          </a:lstStyle>
          <a:p xmlns:a="http://schemas.openxmlformats.org/drawingml/2006/main">
            <a:pPr>
              <a:buNone/>
              <a:defRPr sz="1425" b="0">
                <a:solidFill>
                  <a:srgbClr val="DCE5D2"/>
                </a:solidFill>
              </a:defRPr>
            </a:pPr>
            <a:r>
              <a:rPr sz="1425" b="0">
                <a:solidFill>
                  <a:srgbClr val="DCE5D2"/>
                </a:solidFill>
              </a:rPr>
              <a:t>Photo: lynxexsitu.es / CC BY 3.0 es</a:t>
            </a:r>
          </a:p>
        </p:txBody>
      </p:sp>
    </p:spTree>
    <p:extLst>
      <p:ext uri="{BB962C8B-B14F-4D97-AF65-F5344CB8AC3E}">
        <p14:creationId xmlns:p14="http://schemas.microsoft.com/office/powerpoint/2010/main" val="699180881"/>
      </p:ext>
    </p:extLst>
  </p:cSld>
</p:sld>
</file>

<file path=ppt/slides/slide2.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E60DD2-83A9-4F56-A2A4-D401553A2C4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A photograph starts the investigation</a:t>
            </a:r>
          </a:p>
        </p:txBody>
      </p:sp>
      <p:sp>
        <p:nvSpPr>
          <p:cNvPr id="2" name="">
            <a:extLst xmlns:a="http://schemas.openxmlformats.org/drawingml/2006/main">
              <a:ext uri="{FF2B5EF4-FFF2-40B4-BE49-F238E27FC236}">
                <a16:creationId xmlns:a16="http://schemas.microsoft.com/office/drawing/2014/main" id="{9F3722B3-B971-4491-9490-6636DE240B5F}"/>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02</a:t>
            </a:r>
          </a:p>
        </p:txBody>
      </p:sp>
      <p:pic>
        <p:nvPicPr>
          <p:cNvPr id="3" name="">
            <a:extLst xmlns:a="http://schemas.openxmlformats.org/drawingml/2006/main">
              <a:ext uri="{FF2B5EF4-FFF2-40B4-BE49-F238E27FC236}">
                <a16:creationId xmlns:a16="http://schemas.microsoft.com/office/drawing/2014/main" id="{C8BF2885-2AB8-44F3-9120-63F52D5D4B41}"/>
              </a:ext>
            </a:extLst>
          </p:cNvPr>
          <p:cNvPicPr>
            <a:picLocks xmlns:a="http://schemas.openxmlformats.org/drawingml/2006/main" noChangeAspect="1"/>
          </p:cNvPicPr>
          <p:nvPr/>
        </p:nvPicPr>
        <p:blipFill>
          <a:blip xmlns:r="http://schemas.openxmlformats.org/officeDocument/2006/relationships" xmlns:a="http://schemas.openxmlformats.org/drawingml/2006/main" r:embed="R2638421b81974c6d"/>
          <a:stretch xmlns:a="http://schemas.openxmlformats.org/drawingml/2006/main"/>
        </p:blipFill>
        <p:spPr>
          <a:xfrm xmlns:a="http://schemas.openxmlformats.org/drawingml/2006/main">
            <a:off x="6148388" y="1762125"/>
            <a:ext cx="5514975" cy="36766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CC3AA5B-54F0-4E77-989E-4B3299F90996}"/>
              </a:ext>
            </a:extLst>
          </p:cNvPr>
          <p:cNvSpPr>
            <a:spLocks xmlns:a="http://schemas.openxmlformats.org/drawingml/2006/main" noGrp="1"/>
          </p:cNvSpPr>
          <p:nvPr/>
        </p:nvSpPr>
        <p:spPr>
          <a:xfrm xmlns:a="http://schemas.openxmlformats.org/drawingml/2006/main">
            <a:off x="609600" y="2085975"/>
            <a:ext cx="5524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23B32"/>
                </a:solidFill>
              </a:defRPr>
            </a:defPPr>
            <a:lvl1pPr>
              <a:buNone/>
              <a:defRPr sz="3600" b="1">
                <a:solidFill>
                  <a:srgbClr val="123B32"/>
                </a:solidFill>
              </a:defRPr>
            </a:lvl1pPr>
            <a:lvl2pPr>
              <a:buNone/>
              <a:defRPr sz="3600" b="1">
                <a:solidFill>
                  <a:srgbClr val="123B32"/>
                </a:solidFill>
              </a:defRPr>
            </a:lvl2pPr>
            <a:lvl3pPr>
              <a:buNone/>
              <a:defRPr sz="3600" b="1">
                <a:solidFill>
                  <a:srgbClr val="123B32"/>
                </a:solidFill>
              </a:defRPr>
            </a:lvl3pPr>
            <a:lvl4pPr>
              <a:buNone/>
              <a:defRPr sz="3600" b="1">
                <a:solidFill>
                  <a:srgbClr val="123B32"/>
                </a:solidFill>
              </a:defRPr>
            </a:lvl4pPr>
            <a:lvl5pPr>
              <a:buNone/>
              <a:defRPr sz="3600" b="1">
                <a:solidFill>
                  <a:srgbClr val="123B32"/>
                </a:solidFill>
              </a:defRPr>
            </a:lvl5pPr>
            <a:lvl6pPr>
              <a:buNone/>
              <a:defRPr sz="3600" b="1">
                <a:solidFill>
                  <a:srgbClr val="123B32"/>
                </a:solidFill>
              </a:defRPr>
            </a:lvl6pPr>
            <a:lvl7pPr>
              <a:buNone/>
              <a:defRPr sz="3600" b="1">
                <a:solidFill>
                  <a:srgbClr val="123B32"/>
                </a:solidFill>
              </a:defRPr>
            </a:lvl7pPr>
            <a:lvl8pPr>
              <a:buNone/>
              <a:defRPr sz="3600" b="1">
                <a:solidFill>
                  <a:srgbClr val="123B32"/>
                </a:solidFill>
              </a:defRPr>
            </a:lvl8pPr>
            <a:lvl9pPr>
              <a:buNone/>
              <a:defRPr sz="3600" b="1">
                <a:solidFill>
                  <a:srgbClr val="123B32"/>
                </a:solidFill>
              </a:defRPr>
            </a:lvl9pPr>
          </a:lstStyle>
          <a:p xmlns:a="http://schemas.openxmlformats.org/drawingml/2006/main">
            <a:pPr>
              <a:buNone/>
              <a:defRPr sz="3600" b="1">
                <a:solidFill>
                  <a:srgbClr val="123B32"/>
                </a:solidFill>
              </a:defRPr>
            </a:pPr>
            <a:r>
              <a:rPr sz="3600" b="1">
                <a:solidFill>
                  <a:srgbClr val="123B32"/>
                </a:solidFill>
              </a:rPr>
              <a:t>“What can help me</a:t>
            </a:r>
          </a:p>
          <a:p xmlns:a="http://schemas.openxmlformats.org/drawingml/2006/main">
            <a:pPr>
              <a:buNone/>
              <a:defRPr sz="3600" b="1">
                <a:solidFill>
                  <a:srgbClr val="123B32"/>
                </a:solidFill>
              </a:defRPr>
            </a:pPr>
            <a:r>
              <a:rPr sz="3600" b="1">
                <a:solidFill>
                  <a:srgbClr val="123B32"/>
                </a:solidFill>
              </a:rPr>
              <a:t>understand this</a:t>
            </a:r>
          </a:p>
          <a:p xmlns:a="http://schemas.openxmlformats.org/drawingml/2006/main">
            <a:pPr>
              <a:buNone/>
              <a:defRPr sz="3600" b="1">
                <a:solidFill>
                  <a:srgbClr val="123B32"/>
                </a:solidFill>
              </a:defRPr>
            </a:pPr>
            <a:r>
              <a:rPr sz="3600" b="1">
                <a:solidFill>
                  <a:srgbClr val="123B32"/>
                </a:solidFill>
              </a:rPr>
              <a:t>photograph?”</a:t>
            </a:r>
          </a:p>
        </p:txBody>
      </p:sp>
      <p:sp>
        <p:nvSpPr>
          <p:cNvPr id="5" name="">
            <a:extLst xmlns:a="http://schemas.openxmlformats.org/drawingml/2006/main">
              <a:ext uri="{FF2B5EF4-FFF2-40B4-BE49-F238E27FC236}">
                <a16:creationId xmlns:a16="http://schemas.microsoft.com/office/drawing/2014/main" id="{CADC3025-FADC-40E9-A597-140A976857F6}"/>
              </a:ext>
            </a:extLst>
          </p:cNvPr>
          <p:cNvSpPr>
            <a:spLocks xmlns:a="http://schemas.openxmlformats.org/drawingml/2006/main" noGrp="1"/>
          </p:cNvSpPr>
          <p:nvPr/>
        </p:nvSpPr>
        <p:spPr>
          <a:xfrm xmlns:a="http://schemas.openxmlformats.org/drawingml/2006/main">
            <a:off x="619125" y="4705350"/>
            <a:ext cx="5143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B85D35"/>
                </a:solidFill>
              </a:defRPr>
            </a:defPPr>
            <a:lvl1pPr>
              <a:buNone/>
              <a:defRPr sz="2250" b="0">
                <a:solidFill>
                  <a:srgbClr val="B85D35"/>
                </a:solidFill>
              </a:defRPr>
            </a:lvl1pPr>
            <a:lvl2pPr>
              <a:buNone/>
              <a:defRPr sz="2250" b="0">
                <a:solidFill>
                  <a:srgbClr val="B85D35"/>
                </a:solidFill>
              </a:defRPr>
            </a:lvl2pPr>
            <a:lvl3pPr>
              <a:buNone/>
              <a:defRPr sz="2250" b="0">
                <a:solidFill>
                  <a:srgbClr val="B85D35"/>
                </a:solidFill>
              </a:defRPr>
            </a:lvl3pPr>
            <a:lvl4pPr>
              <a:buNone/>
              <a:defRPr sz="2250" b="0">
                <a:solidFill>
                  <a:srgbClr val="B85D35"/>
                </a:solidFill>
              </a:defRPr>
            </a:lvl4pPr>
            <a:lvl5pPr>
              <a:buNone/>
              <a:defRPr sz="2250" b="0">
                <a:solidFill>
                  <a:srgbClr val="B85D35"/>
                </a:solidFill>
              </a:defRPr>
            </a:lvl5pPr>
            <a:lvl6pPr>
              <a:buNone/>
              <a:defRPr sz="2250" b="0">
                <a:solidFill>
                  <a:srgbClr val="B85D35"/>
                </a:solidFill>
              </a:defRPr>
            </a:lvl6pPr>
            <a:lvl7pPr>
              <a:buNone/>
              <a:defRPr sz="2250" b="0">
                <a:solidFill>
                  <a:srgbClr val="B85D35"/>
                </a:solidFill>
              </a:defRPr>
            </a:lvl7pPr>
            <a:lvl8pPr>
              <a:buNone/>
              <a:defRPr sz="2250" b="0">
                <a:solidFill>
                  <a:srgbClr val="B85D35"/>
                </a:solidFill>
              </a:defRPr>
            </a:lvl8pPr>
            <a:lvl9pPr>
              <a:buNone/>
              <a:defRPr sz="2250" b="0">
                <a:solidFill>
                  <a:srgbClr val="B85D35"/>
                </a:solidFill>
              </a:defRPr>
            </a:lvl9pPr>
          </a:lstStyle>
          <a:p xmlns:a="http://schemas.openxmlformats.org/drawingml/2006/main">
            <a:pPr>
              <a:buNone/>
              <a:defRPr sz="2250" b="0">
                <a:solidFill>
                  <a:srgbClr val="B85D35"/>
                </a:solidFill>
              </a:defRPr>
            </a:pPr>
            <a:r>
              <a:rPr sz="2250" b="0">
                <a:solidFill>
                  <a:srgbClr val="B85D35"/>
                </a:solidFill>
              </a:rPr>
              <a:t>Related images</a:t>
            </a:r>
          </a:p>
          <a:p xmlns:a="http://schemas.openxmlformats.org/drawingml/2006/main">
            <a:pPr>
              <a:buNone/>
              <a:defRPr sz="2250" b="0">
                <a:solidFill>
                  <a:srgbClr val="B85D35"/>
                </a:solidFill>
              </a:defRPr>
            </a:pPr>
            <a:r>
              <a:rPr sz="2250" b="0">
                <a:solidFill>
                  <a:srgbClr val="B85D35"/>
                </a:solidFill>
              </a:rPr>
              <a:t>Recordings</a:t>
            </a:r>
          </a:p>
          <a:p xmlns:a="http://schemas.openxmlformats.org/drawingml/2006/main">
            <a:pPr>
              <a:buNone/>
              <a:defRPr sz="2250" b="0">
                <a:solidFill>
                  <a:srgbClr val="B85D35"/>
                </a:solidFill>
              </a:defRPr>
            </a:pPr>
            <a:r>
              <a:rPr sz="2250" b="0">
                <a:solidFill>
                  <a:srgbClr val="B85D35"/>
                </a:solidFill>
              </a:rPr>
              <a:t>Source descriptions</a:t>
            </a:r>
          </a:p>
        </p:txBody>
      </p:sp>
      <p:sp>
        <p:nvSpPr>
          <p:cNvPr id="6" name="">
            <a:extLst xmlns:a="http://schemas.openxmlformats.org/drawingml/2006/main">
              <a:ext uri="{FF2B5EF4-FFF2-40B4-BE49-F238E27FC236}">
                <a16:creationId xmlns:a16="http://schemas.microsoft.com/office/drawing/2014/main" id="{36819390-550D-4A5C-8F61-91336C87304E}"/>
              </a:ext>
            </a:extLst>
          </p:cNvPr>
          <p:cNvSpPr>
            <a:spLocks xmlns:a="http://schemas.openxmlformats.org/drawingml/2006/main" noGrp="1"/>
          </p:cNvSpPr>
          <p:nvPr/>
        </p:nvSpPr>
        <p:spPr>
          <a:xfrm xmlns:a="http://schemas.openxmlformats.org/drawingml/2006/main">
            <a:off x="6200775" y="5629275"/>
            <a:ext cx="542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75C"/>
                </a:solidFill>
              </a:defRPr>
            </a:defPPr>
            <a:lvl1pPr>
              <a:buNone/>
              <a:defRPr sz="1950" b="0">
                <a:solidFill>
                  <a:srgbClr val="52675C"/>
                </a:solidFill>
              </a:defRPr>
            </a:lvl1pPr>
            <a:lvl2pPr>
              <a:buNone/>
              <a:defRPr sz="1950" b="0">
                <a:solidFill>
                  <a:srgbClr val="52675C"/>
                </a:solidFill>
              </a:defRPr>
            </a:lvl2pPr>
            <a:lvl3pPr>
              <a:buNone/>
              <a:defRPr sz="1950" b="0">
                <a:solidFill>
                  <a:srgbClr val="52675C"/>
                </a:solidFill>
              </a:defRPr>
            </a:lvl3pPr>
            <a:lvl4pPr>
              <a:buNone/>
              <a:defRPr sz="1950" b="0">
                <a:solidFill>
                  <a:srgbClr val="52675C"/>
                </a:solidFill>
              </a:defRPr>
            </a:lvl4pPr>
            <a:lvl5pPr>
              <a:buNone/>
              <a:defRPr sz="1950" b="0">
                <a:solidFill>
                  <a:srgbClr val="52675C"/>
                </a:solidFill>
              </a:defRPr>
            </a:lvl5pPr>
            <a:lvl6pPr>
              <a:buNone/>
              <a:defRPr sz="1950" b="0">
                <a:solidFill>
                  <a:srgbClr val="52675C"/>
                </a:solidFill>
              </a:defRPr>
            </a:lvl6pPr>
            <a:lvl7pPr>
              <a:buNone/>
              <a:defRPr sz="1950" b="0">
                <a:solidFill>
                  <a:srgbClr val="52675C"/>
                </a:solidFill>
              </a:defRPr>
            </a:lvl7pPr>
            <a:lvl8pPr>
              <a:buNone/>
              <a:defRPr sz="1950" b="0">
                <a:solidFill>
                  <a:srgbClr val="52675C"/>
                </a:solidFill>
              </a:defRPr>
            </a:lvl8pPr>
            <a:lvl9pPr>
              <a:buNone/>
              <a:defRPr sz="1950" b="0">
                <a:solidFill>
                  <a:srgbClr val="52675C"/>
                </a:solidFill>
              </a:defRPr>
            </a:lvl9pPr>
          </a:lstStyle>
          <a:p xmlns:a="http://schemas.openxmlformats.org/drawingml/2006/main">
            <a:pPr>
              <a:buNone/>
              <a:defRPr sz="1950" b="0">
                <a:solidFill>
                  <a:srgbClr val="52675C"/>
                </a:solidFill>
              </a:defRPr>
            </a:pPr>
            <a:r>
              <a:rPr sz="1950" b="0">
                <a:solidFill>
                  <a:srgbClr val="52675C"/>
                </a:solidFill>
              </a:rPr>
              <a:t>Education and biodiversity exploration</a:t>
            </a:r>
          </a:p>
        </p:txBody>
      </p:sp>
      <p:sp>
        <p:nvSpPr>
          <p:cNvPr id="7" name="">
            <a:extLst xmlns:a="http://schemas.openxmlformats.org/drawingml/2006/main">
              <a:ext uri="{FF2B5EF4-FFF2-40B4-BE49-F238E27FC236}">
                <a16:creationId xmlns:a16="http://schemas.microsoft.com/office/drawing/2014/main" id="{AE5119B0-8368-4A19-B56C-6A00739E096B}"/>
              </a:ext>
            </a:extLst>
          </p:cNvPr>
          <p:cNvSpPr>
            <a:spLocks xmlns:a="http://schemas.openxmlformats.org/drawingml/2006/main" noGrp="1"/>
          </p:cNvSpPr>
          <p:nvPr/>
        </p:nvSpPr>
        <p:spPr>
          <a:xfrm xmlns:a="http://schemas.openxmlformats.org/drawingml/2006/main">
            <a:off x="6200775" y="6134100"/>
            <a:ext cx="542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Photo: Alexkom000 / CC BY 4.0</a:t>
            </a:r>
          </a:p>
        </p:txBody>
      </p:sp>
    </p:spTree>
    <p:extLst>
      <p:ext uri="{BB962C8B-B14F-4D97-AF65-F5344CB8AC3E}">
        <p14:creationId xmlns:p14="http://schemas.microsoft.com/office/powerpoint/2010/main" val="1971151551"/>
      </p:ext>
    </p:extLst>
  </p:cSld>
</p:sld>
</file>

<file path=ppt/slides/slide3.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2370E3C-10A2-418B-84DF-328141E59EE2}"/>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Three modalities, one reference dataset</a:t>
            </a:r>
          </a:p>
        </p:txBody>
      </p:sp>
      <p:sp>
        <p:nvSpPr>
          <p:cNvPr id="2" name="">
            <a:extLst xmlns:a="http://schemas.openxmlformats.org/drawingml/2006/main">
              <a:ext uri="{FF2B5EF4-FFF2-40B4-BE49-F238E27FC236}">
                <a16:creationId xmlns:a16="http://schemas.microsoft.com/office/drawing/2014/main" id="{529991F8-4030-4EF4-9CDD-B81934EF11EE}"/>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03</a:t>
            </a:r>
          </a:p>
        </p:txBody>
      </p:sp>
      <p:sp>
        <p:nvSpPr>
          <p:cNvPr id="3" name="">
            <a:extLst xmlns:a="http://schemas.openxmlformats.org/drawingml/2006/main">
              <a:ext uri="{FF2B5EF4-FFF2-40B4-BE49-F238E27FC236}">
                <a16:creationId xmlns:a16="http://schemas.microsoft.com/office/drawing/2014/main" id="{3E40EF34-7C3D-4ABC-9124-3D3EBE6BD1AE}"/>
              </a:ext>
            </a:extLst>
          </p:cNvPr>
          <p:cNvSpPr>
            <a:spLocks xmlns:a="http://schemas.openxmlformats.org/drawingml/2006/main" noGrp="1"/>
          </p:cNvSpPr>
          <p:nvPr/>
        </p:nvSpPr>
        <p:spPr>
          <a:xfrm xmlns:a="http://schemas.openxmlformats.org/drawingml/2006/main">
            <a:off x="552450" y="1685925"/>
            <a:ext cx="46672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950" b="1">
                <a:solidFill>
                  <a:srgbClr val="123B32"/>
                </a:solidFill>
              </a:defRPr>
            </a:defPPr>
            <a:lvl1pPr>
              <a:buNone/>
              <a:defRPr sz="10950" b="1">
                <a:solidFill>
                  <a:srgbClr val="123B32"/>
                </a:solidFill>
              </a:defRPr>
            </a:lvl1pPr>
            <a:lvl2pPr>
              <a:buNone/>
              <a:defRPr sz="10950" b="1">
                <a:solidFill>
                  <a:srgbClr val="123B32"/>
                </a:solidFill>
              </a:defRPr>
            </a:lvl2pPr>
            <a:lvl3pPr>
              <a:buNone/>
              <a:defRPr sz="10950" b="1">
                <a:solidFill>
                  <a:srgbClr val="123B32"/>
                </a:solidFill>
              </a:defRPr>
            </a:lvl3pPr>
            <a:lvl4pPr>
              <a:buNone/>
              <a:defRPr sz="10950" b="1">
                <a:solidFill>
                  <a:srgbClr val="123B32"/>
                </a:solidFill>
              </a:defRPr>
            </a:lvl4pPr>
            <a:lvl5pPr>
              <a:buNone/>
              <a:defRPr sz="10950" b="1">
                <a:solidFill>
                  <a:srgbClr val="123B32"/>
                </a:solidFill>
              </a:defRPr>
            </a:lvl5pPr>
            <a:lvl6pPr>
              <a:buNone/>
              <a:defRPr sz="10950" b="1">
                <a:solidFill>
                  <a:srgbClr val="123B32"/>
                </a:solidFill>
              </a:defRPr>
            </a:lvl6pPr>
            <a:lvl7pPr>
              <a:buNone/>
              <a:defRPr sz="10950" b="1">
                <a:solidFill>
                  <a:srgbClr val="123B32"/>
                </a:solidFill>
              </a:defRPr>
            </a:lvl7pPr>
            <a:lvl8pPr>
              <a:buNone/>
              <a:defRPr sz="10950" b="1">
                <a:solidFill>
                  <a:srgbClr val="123B32"/>
                </a:solidFill>
              </a:defRPr>
            </a:lvl8pPr>
            <a:lvl9pPr>
              <a:buNone/>
              <a:defRPr sz="10950" b="1">
                <a:solidFill>
                  <a:srgbClr val="123B32"/>
                </a:solidFill>
              </a:defRPr>
            </a:lvl9pPr>
          </a:lstStyle>
          <a:p xmlns:a="http://schemas.openxmlformats.org/drawingml/2006/main">
            <a:pPr>
              <a:buNone/>
              <a:defRPr sz="10950" b="1">
                <a:solidFill>
                  <a:srgbClr val="123B32"/>
                </a:solidFill>
              </a:defRPr>
            </a:pPr>
            <a:r>
              <a:rPr sz="10950" b="1">
                <a:solidFill>
                  <a:srgbClr val="123B32"/>
                </a:solidFill>
              </a:rPr>
              <a:t>198</a:t>
            </a:r>
          </a:p>
        </p:txBody>
      </p:sp>
      <p:sp>
        <p:nvSpPr>
          <p:cNvPr id="4" name="">
            <a:extLst xmlns:a="http://schemas.openxmlformats.org/drawingml/2006/main">
              <a:ext uri="{FF2B5EF4-FFF2-40B4-BE49-F238E27FC236}">
                <a16:creationId xmlns:a16="http://schemas.microsoft.com/office/drawing/2014/main" id="{C9891EE8-2163-493C-A9A6-200487B33EF9}"/>
              </a:ext>
            </a:extLst>
          </p:cNvPr>
          <p:cNvSpPr>
            <a:spLocks xmlns:a="http://schemas.openxmlformats.org/drawingml/2006/main" noGrp="1"/>
          </p:cNvSpPr>
          <p:nvPr/>
        </p:nvSpPr>
        <p:spPr>
          <a:xfrm xmlns:a="http://schemas.openxmlformats.org/drawingml/2006/main">
            <a:off x="647700" y="3429000"/>
            <a:ext cx="457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23B32"/>
                </a:solidFill>
              </a:defRPr>
            </a:defPPr>
            <a:lvl1pPr>
              <a:buNone/>
              <a:defRPr sz="2550" b="0">
                <a:solidFill>
                  <a:srgbClr val="123B32"/>
                </a:solidFill>
              </a:defRPr>
            </a:lvl1pPr>
            <a:lvl2pPr>
              <a:buNone/>
              <a:defRPr sz="2550" b="0">
                <a:solidFill>
                  <a:srgbClr val="123B32"/>
                </a:solidFill>
              </a:defRPr>
            </a:lvl2pPr>
            <a:lvl3pPr>
              <a:buNone/>
              <a:defRPr sz="2550" b="0">
                <a:solidFill>
                  <a:srgbClr val="123B32"/>
                </a:solidFill>
              </a:defRPr>
            </a:lvl3pPr>
            <a:lvl4pPr>
              <a:buNone/>
              <a:defRPr sz="2550" b="0">
                <a:solidFill>
                  <a:srgbClr val="123B32"/>
                </a:solidFill>
              </a:defRPr>
            </a:lvl4pPr>
            <a:lvl5pPr>
              <a:buNone/>
              <a:defRPr sz="2550" b="0">
                <a:solidFill>
                  <a:srgbClr val="123B32"/>
                </a:solidFill>
              </a:defRPr>
            </a:lvl5pPr>
            <a:lvl6pPr>
              <a:buNone/>
              <a:defRPr sz="2550" b="0">
                <a:solidFill>
                  <a:srgbClr val="123B32"/>
                </a:solidFill>
              </a:defRPr>
            </a:lvl6pPr>
            <a:lvl7pPr>
              <a:buNone/>
              <a:defRPr sz="2550" b="0">
                <a:solidFill>
                  <a:srgbClr val="123B32"/>
                </a:solidFill>
              </a:defRPr>
            </a:lvl7pPr>
            <a:lvl8pPr>
              <a:buNone/>
              <a:defRPr sz="2550" b="0">
                <a:solidFill>
                  <a:srgbClr val="123B32"/>
                </a:solidFill>
              </a:defRPr>
            </a:lvl8pPr>
            <a:lvl9pPr>
              <a:buNone/>
              <a:defRPr sz="2550" b="0">
                <a:solidFill>
                  <a:srgbClr val="123B32"/>
                </a:solidFill>
              </a:defRPr>
            </a:lvl9pPr>
          </a:lstStyle>
          <a:p xmlns:a="http://schemas.openxmlformats.org/drawingml/2006/main">
            <a:pPr>
              <a:buNone/>
              <a:defRPr sz="2550" b="0">
                <a:solidFill>
                  <a:srgbClr val="123B32"/>
                </a:solidFill>
              </a:defRPr>
            </a:pPr>
            <a:r>
              <a:rPr sz="2550" b="0">
                <a:solidFill>
                  <a:srgbClr val="123B32"/>
                </a:solidFill>
              </a:rPr>
              <a:t>accepted assets</a:t>
            </a:r>
          </a:p>
          <a:p xmlns:a="http://schemas.openxmlformats.org/drawingml/2006/main">
            <a:pPr>
              <a:buNone/>
              <a:defRPr sz="2550" b="0">
                <a:solidFill>
                  <a:srgbClr val="123B32"/>
                </a:solidFill>
              </a:defRPr>
            </a:pPr>
            <a:r>
              <a:rPr sz="2550" b="0">
                <a:solidFill>
                  <a:srgbClr val="123B32"/>
                </a:solidFill>
              </a:rPr>
              <a:t>10 Iberian wildlife species</a:t>
            </a:r>
          </a:p>
        </p:txBody>
      </p:sp>
      <p:sp>
        <p:nvSpPr>
          <p:cNvPr id="5" name="">
            <a:extLst xmlns:a="http://schemas.openxmlformats.org/drawingml/2006/main">
              <a:ext uri="{FF2B5EF4-FFF2-40B4-BE49-F238E27FC236}">
                <a16:creationId xmlns:a16="http://schemas.microsoft.com/office/drawing/2014/main" id="{0F5F87DB-E766-4855-8EF7-39F5CE327422}"/>
              </a:ext>
            </a:extLst>
          </p:cNvPr>
          <p:cNvSpPr>
            <a:spLocks xmlns:a="http://schemas.openxmlformats.org/drawingml/2006/main" noGrp="1"/>
          </p:cNvSpPr>
          <p:nvPr/>
        </p:nvSpPr>
        <p:spPr>
          <a:xfrm xmlns:a="http://schemas.openxmlformats.org/drawingml/2006/main">
            <a:off x="6334125" y="179070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123B32"/>
                </a:solidFill>
              </a:defRPr>
            </a:defPPr>
            <a:lvl1pPr>
              <a:buNone/>
              <a:defRPr sz="4725" b="1">
                <a:solidFill>
                  <a:srgbClr val="123B32"/>
                </a:solidFill>
              </a:defRPr>
            </a:lvl1pPr>
            <a:lvl2pPr>
              <a:buNone/>
              <a:defRPr sz="4725" b="1">
                <a:solidFill>
                  <a:srgbClr val="123B32"/>
                </a:solidFill>
              </a:defRPr>
            </a:lvl2pPr>
            <a:lvl3pPr>
              <a:buNone/>
              <a:defRPr sz="4725" b="1">
                <a:solidFill>
                  <a:srgbClr val="123B32"/>
                </a:solidFill>
              </a:defRPr>
            </a:lvl3pPr>
            <a:lvl4pPr>
              <a:buNone/>
              <a:defRPr sz="4725" b="1">
                <a:solidFill>
                  <a:srgbClr val="123B32"/>
                </a:solidFill>
              </a:defRPr>
            </a:lvl4pPr>
            <a:lvl5pPr>
              <a:buNone/>
              <a:defRPr sz="4725" b="1">
                <a:solidFill>
                  <a:srgbClr val="123B32"/>
                </a:solidFill>
              </a:defRPr>
            </a:lvl5pPr>
            <a:lvl6pPr>
              <a:buNone/>
              <a:defRPr sz="4725" b="1">
                <a:solidFill>
                  <a:srgbClr val="123B32"/>
                </a:solidFill>
              </a:defRPr>
            </a:lvl6pPr>
            <a:lvl7pPr>
              <a:buNone/>
              <a:defRPr sz="4725" b="1">
                <a:solidFill>
                  <a:srgbClr val="123B32"/>
                </a:solidFill>
              </a:defRPr>
            </a:lvl7pPr>
            <a:lvl8pPr>
              <a:buNone/>
              <a:defRPr sz="4725" b="1">
                <a:solidFill>
                  <a:srgbClr val="123B32"/>
                </a:solidFill>
              </a:defRPr>
            </a:lvl8pPr>
            <a:lvl9pPr>
              <a:buNone/>
              <a:defRPr sz="4725" b="1">
                <a:solidFill>
                  <a:srgbClr val="123B32"/>
                </a:solidFill>
              </a:defRPr>
            </a:lvl9pPr>
          </a:lstStyle>
          <a:p xmlns:a="http://schemas.openxmlformats.org/drawingml/2006/main">
            <a:pPr>
              <a:buNone/>
              <a:defRPr sz="4725" b="1">
                <a:solidFill>
                  <a:srgbClr val="123B32"/>
                </a:solidFill>
              </a:defRPr>
            </a:pPr>
            <a:r>
              <a:rPr sz="4725" b="1">
                <a:solidFill>
                  <a:srgbClr val="123B32"/>
                </a:solidFill>
              </a:rPr>
              <a:t>100</a:t>
            </a:r>
          </a:p>
        </p:txBody>
      </p:sp>
      <p:sp>
        <p:nvSpPr>
          <p:cNvPr id="6" name="">
            <a:extLst xmlns:a="http://schemas.openxmlformats.org/drawingml/2006/main">
              <a:ext uri="{FF2B5EF4-FFF2-40B4-BE49-F238E27FC236}">
                <a16:creationId xmlns:a16="http://schemas.microsoft.com/office/drawing/2014/main" id="{CA6492F4-279B-4F03-B96A-18F2D584795A}"/>
              </a:ext>
            </a:extLst>
          </p:cNvPr>
          <p:cNvSpPr>
            <a:spLocks xmlns:a="http://schemas.openxmlformats.org/drawingml/2006/main" noGrp="1"/>
          </p:cNvSpPr>
          <p:nvPr/>
        </p:nvSpPr>
        <p:spPr>
          <a:xfrm xmlns:a="http://schemas.openxmlformats.org/drawingml/2006/main">
            <a:off x="8239125" y="2009775"/>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buNone/>
              <a:defRPr sz="2175" b="0">
                <a:solidFill>
                  <a:srgbClr val="123B32"/>
                </a:solidFill>
              </a:defRPr>
            </a:lvl1pPr>
            <a:lvl2pPr>
              <a:buNone/>
              <a:defRPr sz="2175" b="0">
                <a:solidFill>
                  <a:srgbClr val="123B32"/>
                </a:solidFill>
              </a:defRPr>
            </a:lvl2pPr>
            <a:lvl3pPr>
              <a:buNone/>
              <a:defRPr sz="2175" b="0">
                <a:solidFill>
                  <a:srgbClr val="123B32"/>
                </a:solidFill>
              </a:defRPr>
            </a:lvl3pPr>
            <a:lvl4pPr>
              <a:buNone/>
              <a:defRPr sz="2175" b="0">
                <a:solidFill>
                  <a:srgbClr val="123B32"/>
                </a:solidFill>
              </a:defRPr>
            </a:lvl4pPr>
            <a:lvl5pPr>
              <a:buNone/>
              <a:defRPr sz="2175" b="0">
                <a:solidFill>
                  <a:srgbClr val="123B32"/>
                </a:solidFill>
              </a:defRPr>
            </a:lvl5pPr>
            <a:lvl6pPr>
              <a:buNone/>
              <a:defRPr sz="2175" b="0">
                <a:solidFill>
                  <a:srgbClr val="123B32"/>
                </a:solidFill>
              </a:defRPr>
            </a:lvl6pPr>
            <a:lvl7pPr>
              <a:buNone/>
              <a:defRPr sz="2175" b="0">
                <a:solidFill>
                  <a:srgbClr val="123B32"/>
                </a:solidFill>
              </a:defRPr>
            </a:lvl7pPr>
            <a:lvl8pPr>
              <a:buNone/>
              <a:defRPr sz="2175" b="0">
                <a:solidFill>
                  <a:srgbClr val="123B32"/>
                </a:solidFill>
              </a:defRPr>
            </a:lvl8pPr>
            <a:lvl9pPr>
              <a:buNone/>
              <a:defRPr sz="2175" b="0">
                <a:solidFill>
                  <a:srgbClr val="123B32"/>
                </a:solidFill>
              </a:defRPr>
            </a:lvl9pPr>
          </a:lstStyle>
          <a:p xmlns:a="http://schemas.openxmlformats.org/drawingml/2006/main">
            <a:pPr>
              <a:buNone/>
              <a:defRPr sz="2175" b="0">
                <a:solidFill>
                  <a:srgbClr val="123B32"/>
                </a:solidFill>
              </a:defRPr>
            </a:pPr>
            <a:r>
              <a:rPr sz="2175" b="0">
                <a:solidFill>
                  <a:srgbClr val="123B32"/>
                </a:solidFill>
              </a:rPr>
              <a:t>Images / Wikimedia</a:t>
            </a:r>
          </a:p>
        </p:txBody>
      </p:sp>
      <p:sp>
        <p:nvSpPr>
          <p:cNvPr id="7" name="">
            <a:extLst xmlns:a="http://schemas.openxmlformats.org/drawingml/2006/main">
              <a:ext uri="{FF2B5EF4-FFF2-40B4-BE49-F238E27FC236}">
                <a16:creationId xmlns:a16="http://schemas.microsoft.com/office/drawing/2014/main" id="{1231CBC0-8881-42FE-92B2-8BD286C388D4}"/>
              </a:ext>
            </a:extLst>
          </p:cNvPr>
          <p:cNvSpPr>
            <a:spLocks xmlns:a="http://schemas.openxmlformats.org/drawingml/2006/main" noGrp="1"/>
          </p:cNvSpPr>
          <p:nvPr/>
        </p:nvSpPr>
        <p:spPr>
          <a:xfrm xmlns:a="http://schemas.openxmlformats.org/drawingml/2006/main">
            <a:off x="6334125" y="306705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B85D35"/>
                </a:solidFill>
              </a:defRPr>
            </a:defPPr>
            <a:lvl1pPr>
              <a:buNone/>
              <a:defRPr sz="4725" b="1">
                <a:solidFill>
                  <a:srgbClr val="B85D35"/>
                </a:solidFill>
              </a:defRPr>
            </a:lvl1pPr>
            <a:lvl2pPr>
              <a:buNone/>
              <a:defRPr sz="4725" b="1">
                <a:solidFill>
                  <a:srgbClr val="B85D35"/>
                </a:solidFill>
              </a:defRPr>
            </a:lvl2pPr>
            <a:lvl3pPr>
              <a:buNone/>
              <a:defRPr sz="4725" b="1">
                <a:solidFill>
                  <a:srgbClr val="B85D35"/>
                </a:solidFill>
              </a:defRPr>
            </a:lvl3pPr>
            <a:lvl4pPr>
              <a:buNone/>
              <a:defRPr sz="4725" b="1">
                <a:solidFill>
                  <a:srgbClr val="B85D35"/>
                </a:solidFill>
              </a:defRPr>
            </a:lvl4pPr>
            <a:lvl5pPr>
              <a:buNone/>
              <a:defRPr sz="4725" b="1">
                <a:solidFill>
                  <a:srgbClr val="B85D35"/>
                </a:solidFill>
              </a:defRPr>
            </a:lvl5pPr>
            <a:lvl6pPr>
              <a:buNone/>
              <a:defRPr sz="4725" b="1">
                <a:solidFill>
                  <a:srgbClr val="B85D35"/>
                </a:solidFill>
              </a:defRPr>
            </a:lvl6pPr>
            <a:lvl7pPr>
              <a:buNone/>
              <a:defRPr sz="4725" b="1">
                <a:solidFill>
                  <a:srgbClr val="B85D35"/>
                </a:solidFill>
              </a:defRPr>
            </a:lvl7pPr>
            <a:lvl8pPr>
              <a:buNone/>
              <a:defRPr sz="4725" b="1">
                <a:solidFill>
                  <a:srgbClr val="B85D35"/>
                </a:solidFill>
              </a:defRPr>
            </a:lvl8pPr>
            <a:lvl9pPr>
              <a:buNone/>
              <a:defRPr sz="4725" b="1">
                <a:solidFill>
                  <a:srgbClr val="B85D35"/>
                </a:solidFill>
              </a:defRPr>
            </a:lvl9pPr>
          </a:lstStyle>
          <a:p xmlns:a="http://schemas.openxmlformats.org/drawingml/2006/main">
            <a:pPr>
              <a:buNone/>
              <a:defRPr sz="4725" b="1">
                <a:solidFill>
                  <a:srgbClr val="B85D35"/>
                </a:solidFill>
              </a:defRPr>
            </a:pPr>
            <a:r>
              <a:rPr sz="4725" b="1">
                <a:solidFill>
                  <a:srgbClr val="B85D35"/>
                </a:solidFill>
              </a:rPr>
              <a:t>34</a:t>
            </a:r>
          </a:p>
        </p:txBody>
      </p:sp>
      <p:sp>
        <p:nvSpPr>
          <p:cNvPr id="8" name="">
            <a:extLst xmlns:a="http://schemas.openxmlformats.org/drawingml/2006/main">
              <a:ext uri="{FF2B5EF4-FFF2-40B4-BE49-F238E27FC236}">
                <a16:creationId xmlns:a16="http://schemas.microsoft.com/office/drawing/2014/main" id="{AAF1D1D1-2511-4814-AE3E-4CFDF1AA9BB6}"/>
              </a:ext>
            </a:extLst>
          </p:cNvPr>
          <p:cNvSpPr>
            <a:spLocks xmlns:a="http://schemas.openxmlformats.org/drawingml/2006/main" noGrp="1"/>
          </p:cNvSpPr>
          <p:nvPr/>
        </p:nvSpPr>
        <p:spPr>
          <a:xfrm xmlns:a="http://schemas.openxmlformats.org/drawingml/2006/main">
            <a:off x="8239125" y="3286125"/>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buNone/>
              <a:defRPr sz="2175" b="0">
                <a:solidFill>
                  <a:srgbClr val="123B32"/>
                </a:solidFill>
              </a:defRPr>
            </a:lvl1pPr>
            <a:lvl2pPr>
              <a:buNone/>
              <a:defRPr sz="2175" b="0">
                <a:solidFill>
                  <a:srgbClr val="123B32"/>
                </a:solidFill>
              </a:defRPr>
            </a:lvl2pPr>
            <a:lvl3pPr>
              <a:buNone/>
              <a:defRPr sz="2175" b="0">
                <a:solidFill>
                  <a:srgbClr val="123B32"/>
                </a:solidFill>
              </a:defRPr>
            </a:lvl3pPr>
            <a:lvl4pPr>
              <a:buNone/>
              <a:defRPr sz="2175" b="0">
                <a:solidFill>
                  <a:srgbClr val="123B32"/>
                </a:solidFill>
              </a:defRPr>
            </a:lvl4pPr>
            <a:lvl5pPr>
              <a:buNone/>
              <a:defRPr sz="2175" b="0">
                <a:solidFill>
                  <a:srgbClr val="123B32"/>
                </a:solidFill>
              </a:defRPr>
            </a:lvl5pPr>
            <a:lvl6pPr>
              <a:buNone/>
              <a:defRPr sz="2175" b="0">
                <a:solidFill>
                  <a:srgbClr val="123B32"/>
                </a:solidFill>
              </a:defRPr>
            </a:lvl6pPr>
            <a:lvl7pPr>
              <a:buNone/>
              <a:defRPr sz="2175" b="0">
                <a:solidFill>
                  <a:srgbClr val="123B32"/>
                </a:solidFill>
              </a:defRPr>
            </a:lvl7pPr>
            <a:lvl8pPr>
              <a:buNone/>
              <a:defRPr sz="2175" b="0">
                <a:solidFill>
                  <a:srgbClr val="123B32"/>
                </a:solidFill>
              </a:defRPr>
            </a:lvl8pPr>
            <a:lvl9pPr>
              <a:buNone/>
              <a:defRPr sz="2175" b="0">
                <a:solidFill>
                  <a:srgbClr val="123B32"/>
                </a:solidFill>
              </a:defRPr>
            </a:lvl9pPr>
          </a:lstStyle>
          <a:p xmlns:a="http://schemas.openxmlformats.org/drawingml/2006/main">
            <a:pPr>
              <a:buNone/>
              <a:defRPr sz="2175" b="0">
                <a:solidFill>
                  <a:srgbClr val="123B32"/>
                </a:solidFill>
              </a:defRPr>
            </a:pPr>
            <a:r>
              <a:rPr sz="2175" b="0">
                <a:solidFill>
                  <a:srgbClr val="123B32"/>
                </a:solidFill>
              </a:rPr>
              <a:t>Audio / Xeno-canto</a:t>
            </a:r>
          </a:p>
        </p:txBody>
      </p:sp>
      <p:sp>
        <p:nvSpPr>
          <p:cNvPr id="9" name="">
            <a:extLst xmlns:a="http://schemas.openxmlformats.org/drawingml/2006/main">
              <a:ext uri="{FF2B5EF4-FFF2-40B4-BE49-F238E27FC236}">
                <a16:creationId xmlns:a16="http://schemas.microsoft.com/office/drawing/2014/main" id="{8CF6F05C-303F-4961-B1EB-608CACED1F77}"/>
              </a:ext>
            </a:extLst>
          </p:cNvPr>
          <p:cNvSpPr>
            <a:spLocks xmlns:a="http://schemas.openxmlformats.org/drawingml/2006/main" noGrp="1"/>
          </p:cNvSpPr>
          <p:nvPr/>
        </p:nvSpPr>
        <p:spPr>
          <a:xfrm xmlns:a="http://schemas.openxmlformats.org/drawingml/2006/main">
            <a:off x="6334125" y="434340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123B32"/>
                </a:solidFill>
              </a:defRPr>
            </a:defPPr>
            <a:lvl1pPr>
              <a:buNone/>
              <a:defRPr sz="4725" b="1">
                <a:solidFill>
                  <a:srgbClr val="123B32"/>
                </a:solidFill>
              </a:defRPr>
            </a:lvl1pPr>
            <a:lvl2pPr>
              <a:buNone/>
              <a:defRPr sz="4725" b="1">
                <a:solidFill>
                  <a:srgbClr val="123B32"/>
                </a:solidFill>
              </a:defRPr>
            </a:lvl2pPr>
            <a:lvl3pPr>
              <a:buNone/>
              <a:defRPr sz="4725" b="1">
                <a:solidFill>
                  <a:srgbClr val="123B32"/>
                </a:solidFill>
              </a:defRPr>
            </a:lvl3pPr>
            <a:lvl4pPr>
              <a:buNone/>
              <a:defRPr sz="4725" b="1">
                <a:solidFill>
                  <a:srgbClr val="123B32"/>
                </a:solidFill>
              </a:defRPr>
            </a:lvl4pPr>
            <a:lvl5pPr>
              <a:buNone/>
              <a:defRPr sz="4725" b="1">
                <a:solidFill>
                  <a:srgbClr val="123B32"/>
                </a:solidFill>
              </a:defRPr>
            </a:lvl5pPr>
            <a:lvl6pPr>
              <a:buNone/>
              <a:defRPr sz="4725" b="1">
                <a:solidFill>
                  <a:srgbClr val="123B32"/>
                </a:solidFill>
              </a:defRPr>
            </a:lvl6pPr>
            <a:lvl7pPr>
              <a:buNone/>
              <a:defRPr sz="4725" b="1">
                <a:solidFill>
                  <a:srgbClr val="123B32"/>
                </a:solidFill>
              </a:defRPr>
            </a:lvl7pPr>
            <a:lvl8pPr>
              <a:buNone/>
              <a:defRPr sz="4725" b="1">
                <a:solidFill>
                  <a:srgbClr val="123B32"/>
                </a:solidFill>
              </a:defRPr>
            </a:lvl8pPr>
            <a:lvl9pPr>
              <a:buNone/>
              <a:defRPr sz="4725" b="1">
                <a:solidFill>
                  <a:srgbClr val="123B32"/>
                </a:solidFill>
              </a:defRPr>
            </a:lvl9pPr>
          </a:lstStyle>
          <a:p xmlns:a="http://schemas.openxmlformats.org/drawingml/2006/main">
            <a:pPr>
              <a:buNone/>
              <a:defRPr sz="4725" b="1">
                <a:solidFill>
                  <a:srgbClr val="123B32"/>
                </a:solidFill>
              </a:defRPr>
            </a:pPr>
            <a:r>
              <a:rPr sz="4725" b="1">
                <a:solidFill>
                  <a:srgbClr val="123B32"/>
                </a:solidFill>
              </a:rPr>
              <a:t>64</a:t>
            </a:r>
          </a:p>
        </p:txBody>
      </p:sp>
      <p:sp>
        <p:nvSpPr>
          <p:cNvPr id="10" name="">
            <a:extLst xmlns:a="http://schemas.openxmlformats.org/drawingml/2006/main">
              <a:ext uri="{FF2B5EF4-FFF2-40B4-BE49-F238E27FC236}">
                <a16:creationId xmlns:a16="http://schemas.microsoft.com/office/drawing/2014/main" id="{E603588E-ABDF-40FE-BADE-579EF05578D4}"/>
              </a:ext>
            </a:extLst>
          </p:cNvPr>
          <p:cNvSpPr>
            <a:spLocks xmlns:a="http://schemas.openxmlformats.org/drawingml/2006/main" noGrp="1"/>
          </p:cNvSpPr>
          <p:nvPr/>
        </p:nvSpPr>
        <p:spPr>
          <a:xfrm xmlns:a="http://schemas.openxmlformats.org/drawingml/2006/main">
            <a:off x="8239125" y="4562475"/>
            <a:ext cx="342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23B32"/>
                </a:solidFill>
              </a:defRPr>
            </a:defPPr>
            <a:lvl1pPr>
              <a:buNone/>
              <a:defRPr sz="2025" b="0">
                <a:solidFill>
                  <a:srgbClr val="123B32"/>
                </a:solidFill>
              </a:defRPr>
            </a:lvl1pPr>
            <a:lvl2pPr>
              <a:buNone/>
              <a:defRPr sz="2025" b="0">
                <a:solidFill>
                  <a:srgbClr val="123B32"/>
                </a:solidFill>
              </a:defRPr>
            </a:lvl2pPr>
            <a:lvl3pPr>
              <a:buNone/>
              <a:defRPr sz="2025" b="0">
                <a:solidFill>
                  <a:srgbClr val="123B32"/>
                </a:solidFill>
              </a:defRPr>
            </a:lvl3pPr>
            <a:lvl4pPr>
              <a:buNone/>
              <a:defRPr sz="2025" b="0">
                <a:solidFill>
                  <a:srgbClr val="123B32"/>
                </a:solidFill>
              </a:defRPr>
            </a:lvl4pPr>
            <a:lvl5pPr>
              <a:buNone/>
              <a:defRPr sz="2025" b="0">
                <a:solidFill>
                  <a:srgbClr val="123B32"/>
                </a:solidFill>
              </a:defRPr>
            </a:lvl5pPr>
            <a:lvl6pPr>
              <a:buNone/>
              <a:defRPr sz="2025" b="0">
                <a:solidFill>
                  <a:srgbClr val="123B32"/>
                </a:solidFill>
              </a:defRPr>
            </a:lvl6pPr>
            <a:lvl7pPr>
              <a:buNone/>
              <a:defRPr sz="2025" b="0">
                <a:solidFill>
                  <a:srgbClr val="123B32"/>
                </a:solidFill>
              </a:defRPr>
            </a:lvl7pPr>
            <a:lvl8pPr>
              <a:buNone/>
              <a:defRPr sz="2025" b="0">
                <a:solidFill>
                  <a:srgbClr val="123B32"/>
                </a:solidFill>
              </a:defRPr>
            </a:lvl8pPr>
            <a:lvl9pPr>
              <a:buNone/>
              <a:defRPr sz="2025" b="0">
                <a:solidFill>
                  <a:srgbClr val="123B32"/>
                </a:solidFill>
              </a:defRPr>
            </a:lvl9pPr>
          </a:lstStyle>
          <a:p xmlns:a="http://schemas.openxmlformats.org/drawingml/2006/main">
            <a:pPr>
              <a:buNone/>
              <a:defRPr sz="2025" b="0">
                <a:solidFill>
                  <a:srgbClr val="123B32"/>
                </a:solidFill>
              </a:defRPr>
            </a:pPr>
            <a:r>
              <a:rPr sz="2025" b="0">
                <a:solidFill>
                  <a:srgbClr val="123B32"/>
                </a:solidFill>
              </a:rPr>
              <a:t>Text / Wikipedia + GBIF</a:t>
            </a:r>
          </a:p>
        </p:txBody>
      </p:sp>
      <p:sp>
        <p:nvSpPr>
          <p:cNvPr id="11" name="">
            <a:extLst xmlns:a="http://schemas.openxmlformats.org/drawingml/2006/main">
              <a:ext uri="{FF2B5EF4-FFF2-40B4-BE49-F238E27FC236}">
                <a16:creationId xmlns:a16="http://schemas.microsoft.com/office/drawing/2014/main" id="{42CC9F30-8CDA-4BD1-B75D-E84DD0BD279A}"/>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Uneven availability remains visible: no audio for the ocellated lizard</a:t>
            </a:r>
          </a:p>
        </p:txBody>
      </p:sp>
    </p:spTree>
    <p:extLst>
      <p:ext uri="{BB962C8B-B14F-4D97-AF65-F5344CB8AC3E}">
        <p14:creationId xmlns:p14="http://schemas.microsoft.com/office/powerpoint/2010/main" val="1045417924"/>
      </p:ext>
    </p:extLst>
  </p:cSld>
</p:sld>
</file>

<file path=ppt/slides/slide4.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EF01A5C7-61E0-417B-BB51-21381B2C55C6}"/>
              </a:ext>
            </a:extLst>
          </p:cNvPr>
          <p:cNvCxnSpPr>
            <a:stCxn xmlns:a="http://schemas.openxmlformats.org/drawingml/2006/main" id="22" idx="1"/>
            <a:endCxn xmlns:a="http://schemas.openxmlformats.org/drawingml/2006/main" id="25" idx="3"/>
          </p:cNvCxnSpPr>
          <p:nvPr/>
        </p:nvCxnSpPr>
        <p:spPr>
          <a:xfrm xmlns:a="http://schemas.openxmlformats.org/drawingml/2006/main" flipH="1">
            <a:off x="8458200" y="5595938"/>
            <a:ext cx="4667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5CF94DA1-649E-4C68-8DDF-77B6D27A8A1A}"/>
              </a:ext>
            </a:extLst>
          </p:cNvPr>
          <p:cNvCxnSpPr>
            <a:stCxn xmlns:a="http://schemas.openxmlformats.org/drawingml/2006/main" id="17" idx="2"/>
            <a:endCxn xmlns:a="http://schemas.openxmlformats.org/drawingml/2006/main" id="22" idx="0"/>
          </p:cNvCxnSpPr>
          <p:nvPr/>
        </p:nvCxnSpPr>
        <p:spPr>
          <a:xfrm xmlns:a="http://schemas.openxmlformats.org/drawingml/2006/main">
            <a:off x="10182225" y="4638675"/>
            <a:ext cx="0" cy="64770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20" name="">
            <a:extLst xmlns:a="http://schemas.openxmlformats.org/drawingml/2006/main">
              <a:ext uri="{FF2B5EF4-FFF2-40B4-BE49-F238E27FC236}">
                <a16:creationId xmlns:a16="http://schemas.microsoft.com/office/drawing/2014/main" id="{464D3A81-C149-42FA-B102-50D4A8B409E2}"/>
              </a:ext>
            </a:extLst>
          </p:cNvPr>
          <p:cNvCxnSpPr>
            <a:stCxn xmlns:a="http://schemas.openxmlformats.org/drawingml/2006/main" id="13" idx="3"/>
            <a:endCxn xmlns:a="http://schemas.openxmlformats.org/drawingml/2006/main" id="17" idx="1"/>
          </p:cNvCxnSpPr>
          <p:nvPr/>
        </p:nvCxnSpPr>
        <p:spPr>
          <a:xfrm xmlns:a="http://schemas.openxmlformats.org/drawingml/2006/main">
            <a:off x="8667750" y="379571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10205B7F-B8AD-4790-96C3-946A69037C2D}"/>
              </a:ext>
            </a:extLst>
          </p:cNvPr>
          <p:cNvCxnSpPr>
            <a:stCxn xmlns:a="http://schemas.openxmlformats.org/drawingml/2006/main" id="9" idx="3"/>
            <a:endCxn xmlns:a="http://schemas.openxmlformats.org/drawingml/2006/main" id="13" idx="1"/>
          </p:cNvCxnSpPr>
          <p:nvPr/>
        </p:nvCxnSpPr>
        <p:spPr>
          <a:xfrm xmlns:a="http://schemas.openxmlformats.org/drawingml/2006/main">
            <a:off x="5895975" y="379571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2" name="">
            <a:extLst xmlns:a="http://schemas.openxmlformats.org/drawingml/2006/main">
              <a:ext uri="{FF2B5EF4-FFF2-40B4-BE49-F238E27FC236}">
                <a16:creationId xmlns:a16="http://schemas.microsoft.com/office/drawing/2014/main" id="{8F7752E0-EAC3-44E0-90E1-C261053F6290}"/>
              </a:ext>
            </a:extLst>
          </p:cNvPr>
          <p:cNvCxnSpPr>
            <a:stCxn xmlns:a="http://schemas.openxmlformats.org/drawingml/2006/main" id="6" idx="3"/>
            <a:endCxn xmlns:a="http://schemas.openxmlformats.org/drawingml/2006/main" id="9" idx="1"/>
          </p:cNvCxnSpPr>
          <p:nvPr/>
        </p:nvCxnSpPr>
        <p:spPr>
          <a:xfrm xmlns:a="http://schemas.openxmlformats.org/drawingml/2006/main">
            <a:off x="3124200" y="379571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30" name="">
            <a:extLst xmlns:a="http://schemas.openxmlformats.org/drawingml/2006/main">
              <a:ext uri="{FF2B5EF4-FFF2-40B4-BE49-F238E27FC236}">
                <a16:creationId xmlns:a16="http://schemas.microsoft.com/office/drawing/2014/main" id="{2EA264F3-787A-4EE0-8065-AC383387F66A}"/>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5F1E7"/>
                </a:solidFill>
              </a:defRPr>
            </a:defPPr>
            <a:lvl1pPr>
              <a:buNone/>
              <a:defRPr sz="3375" b="1">
                <a:solidFill>
                  <a:srgbClr val="F5F1E7"/>
                </a:solidFill>
              </a:defRPr>
            </a:lvl1pPr>
            <a:lvl2pPr>
              <a:buNone/>
              <a:defRPr sz="3375" b="1">
                <a:solidFill>
                  <a:srgbClr val="F5F1E7"/>
                </a:solidFill>
              </a:defRPr>
            </a:lvl2pPr>
            <a:lvl3pPr>
              <a:buNone/>
              <a:defRPr sz="3375" b="1">
                <a:solidFill>
                  <a:srgbClr val="F5F1E7"/>
                </a:solidFill>
              </a:defRPr>
            </a:lvl3pPr>
            <a:lvl4pPr>
              <a:buNone/>
              <a:defRPr sz="3375" b="1">
                <a:solidFill>
                  <a:srgbClr val="F5F1E7"/>
                </a:solidFill>
              </a:defRPr>
            </a:lvl4pPr>
            <a:lvl5pPr>
              <a:buNone/>
              <a:defRPr sz="3375" b="1">
                <a:solidFill>
                  <a:srgbClr val="F5F1E7"/>
                </a:solidFill>
              </a:defRPr>
            </a:lvl5pPr>
            <a:lvl6pPr>
              <a:buNone/>
              <a:defRPr sz="3375" b="1">
                <a:solidFill>
                  <a:srgbClr val="F5F1E7"/>
                </a:solidFill>
              </a:defRPr>
            </a:lvl6pPr>
            <a:lvl7pPr>
              <a:buNone/>
              <a:defRPr sz="3375" b="1">
                <a:solidFill>
                  <a:srgbClr val="F5F1E7"/>
                </a:solidFill>
              </a:defRPr>
            </a:lvl7pPr>
            <a:lvl8pPr>
              <a:buNone/>
              <a:defRPr sz="3375" b="1">
                <a:solidFill>
                  <a:srgbClr val="F5F1E7"/>
                </a:solidFill>
              </a:defRPr>
            </a:lvl8pPr>
            <a:lvl9pPr>
              <a:buNone/>
              <a:defRPr sz="3375" b="1">
                <a:solidFill>
                  <a:srgbClr val="F5F1E7"/>
                </a:solidFill>
              </a:defRPr>
            </a:lvl9pPr>
          </a:lstStyle>
          <a:p xmlns:a="http://schemas.openxmlformats.org/drawingml/2006/main">
            <a:pPr>
              <a:buNone/>
              <a:defRPr sz="3375" b="1">
                <a:solidFill>
                  <a:srgbClr val="F5F1E7"/>
                </a:solidFill>
              </a:defRPr>
            </a:pPr>
            <a:r>
              <a:rPr sz="3375" b="1">
                <a:solidFill>
                  <a:srgbClr val="F5F1E7"/>
                </a:solidFill>
              </a:rPr>
              <a:t>The EcoSentinel pipeline</a:t>
            </a:r>
          </a:p>
        </p:txBody>
      </p:sp>
      <p:sp>
        <p:nvSpPr>
          <p:cNvPr id="2" name="">
            <a:extLst xmlns:a="http://schemas.openxmlformats.org/drawingml/2006/main">
              <a:ext uri="{FF2B5EF4-FFF2-40B4-BE49-F238E27FC236}">
                <a16:creationId xmlns:a16="http://schemas.microsoft.com/office/drawing/2014/main" id="{5072EF75-85B9-4026-BCA3-5087FB709C73}"/>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buNone/>
              <a:defRPr sz="1425" b="0">
                <a:solidFill>
                  <a:srgbClr val="DCE5D2"/>
                </a:solidFill>
              </a:defRPr>
            </a:lvl1pPr>
            <a:lvl2pPr>
              <a:buNone/>
              <a:defRPr sz="1425" b="0">
                <a:solidFill>
                  <a:srgbClr val="DCE5D2"/>
                </a:solidFill>
              </a:defRPr>
            </a:lvl2pPr>
            <a:lvl3pPr>
              <a:buNone/>
              <a:defRPr sz="1425" b="0">
                <a:solidFill>
                  <a:srgbClr val="DCE5D2"/>
                </a:solidFill>
              </a:defRPr>
            </a:lvl3pPr>
            <a:lvl4pPr>
              <a:buNone/>
              <a:defRPr sz="1425" b="0">
                <a:solidFill>
                  <a:srgbClr val="DCE5D2"/>
                </a:solidFill>
              </a:defRPr>
            </a:lvl4pPr>
            <a:lvl5pPr>
              <a:buNone/>
              <a:defRPr sz="1425" b="0">
                <a:solidFill>
                  <a:srgbClr val="DCE5D2"/>
                </a:solidFill>
              </a:defRPr>
            </a:lvl5pPr>
            <a:lvl6pPr>
              <a:buNone/>
              <a:defRPr sz="1425" b="0">
                <a:solidFill>
                  <a:srgbClr val="DCE5D2"/>
                </a:solidFill>
              </a:defRPr>
            </a:lvl6pPr>
            <a:lvl7pPr>
              <a:buNone/>
              <a:defRPr sz="1425" b="0">
                <a:solidFill>
                  <a:srgbClr val="DCE5D2"/>
                </a:solidFill>
              </a:defRPr>
            </a:lvl7pPr>
            <a:lvl8pPr>
              <a:buNone/>
              <a:defRPr sz="1425" b="0">
                <a:solidFill>
                  <a:srgbClr val="DCE5D2"/>
                </a:solidFill>
              </a:defRPr>
            </a:lvl8pPr>
            <a:lvl9pPr>
              <a:buNone/>
              <a:defRPr sz="1425" b="0">
                <a:solidFill>
                  <a:srgbClr val="DCE5D2"/>
                </a:solidFill>
              </a:defRPr>
            </a:lvl9pPr>
          </a:lstStyle>
          <a:p xmlns:a="http://schemas.openxmlformats.org/drawingml/2006/main">
            <a:pPr>
              <a:buNone/>
              <a:defRPr sz="1425" b="0">
                <a:solidFill>
                  <a:srgbClr val="DCE5D2"/>
                </a:solidFill>
              </a:defRPr>
            </a:pPr>
            <a:r>
              <a:rPr sz="1425" b="0">
                <a:solidFill>
                  <a:srgbClr val="DCE5D2"/>
                </a:solidFill>
              </a:rPr>
              <a:t>04</a:t>
            </a:r>
          </a:p>
        </p:txBody>
      </p:sp>
      <p:sp>
        <p:nvSpPr>
          <p:cNvPr id="3" name="">
            <a:extLst xmlns:a="http://schemas.openxmlformats.org/drawingml/2006/main">
              <a:ext uri="{FF2B5EF4-FFF2-40B4-BE49-F238E27FC236}">
                <a16:creationId xmlns:a16="http://schemas.microsoft.com/office/drawing/2014/main" id="{47BAEAE4-0535-40CF-A7DB-20BABE0747B7}"/>
              </a:ext>
            </a:extLst>
          </p:cNvPr>
          <p:cNvSpPr>
            <a:spLocks xmlns:a="http://schemas.openxmlformats.org/drawingml/2006/main" noGrp="1"/>
          </p:cNvSpPr>
          <p:nvPr/>
        </p:nvSpPr>
        <p:spPr>
          <a:xfrm xmlns:a="http://schemas.openxmlformats.org/drawingml/2006/main">
            <a:off x="609600" y="1438275"/>
            <a:ext cx="10906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CE5D2"/>
                </a:solidFill>
              </a:defRPr>
            </a:defPPr>
            <a:lvl1pPr>
              <a:buNone/>
              <a:defRPr sz="2100" b="0">
                <a:solidFill>
                  <a:srgbClr val="DCE5D2"/>
                </a:solidFill>
              </a:defRPr>
            </a:lvl1pPr>
            <a:lvl2pPr>
              <a:buNone/>
              <a:defRPr sz="2100" b="0">
                <a:solidFill>
                  <a:srgbClr val="DCE5D2"/>
                </a:solidFill>
              </a:defRPr>
            </a:lvl2pPr>
            <a:lvl3pPr>
              <a:buNone/>
              <a:defRPr sz="2100" b="0">
                <a:solidFill>
                  <a:srgbClr val="DCE5D2"/>
                </a:solidFill>
              </a:defRPr>
            </a:lvl3pPr>
            <a:lvl4pPr>
              <a:buNone/>
              <a:defRPr sz="2100" b="0">
                <a:solidFill>
                  <a:srgbClr val="DCE5D2"/>
                </a:solidFill>
              </a:defRPr>
            </a:lvl4pPr>
            <a:lvl5pPr>
              <a:buNone/>
              <a:defRPr sz="2100" b="0">
                <a:solidFill>
                  <a:srgbClr val="DCE5D2"/>
                </a:solidFill>
              </a:defRPr>
            </a:lvl5pPr>
            <a:lvl6pPr>
              <a:buNone/>
              <a:defRPr sz="2100" b="0">
                <a:solidFill>
                  <a:srgbClr val="DCE5D2"/>
                </a:solidFill>
              </a:defRPr>
            </a:lvl6pPr>
            <a:lvl7pPr>
              <a:buNone/>
              <a:defRPr sz="2100" b="0">
                <a:solidFill>
                  <a:srgbClr val="DCE5D2"/>
                </a:solidFill>
              </a:defRPr>
            </a:lvl7pPr>
            <a:lvl8pPr>
              <a:buNone/>
              <a:defRPr sz="2100" b="0">
                <a:solidFill>
                  <a:srgbClr val="DCE5D2"/>
                </a:solidFill>
              </a:defRPr>
            </a:lvl8pPr>
            <a:lvl9pPr>
              <a:buNone/>
              <a:defRPr sz="2100" b="0">
                <a:solidFill>
                  <a:srgbClr val="DCE5D2"/>
                </a:solidFill>
              </a:defRPr>
            </a:lvl9pPr>
          </a:lstStyle>
          <a:p xmlns:a="http://schemas.openxmlformats.org/drawingml/2006/main">
            <a:pPr>
              <a:buNone/>
              <a:defRPr sz="2100" b="0">
                <a:solidFill>
                  <a:srgbClr val="DCE5D2"/>
                </a:solidFill>
              </a:defRPr>
            </a:pPr>
            <a:r>
              <a:rPr sz="2100" b="0">
                <a:solidFill>
                  <a:srgbClr val="DCE5D2"/>
                </a:solidFill>
              </a:rPr>
              <a:t>Optional acquisition or local files / Security Gate</a:t>
            </a:r>
          </a:p>
        </p:txBody>
      </p:sp>
      <p:sp>
        <p:nvSpPr>
          <p:cNvPr id="4" name="">
            <a:extLst xmlns:a="http://schemas.openxmlformats.org/drawingml/2006/main">
              <a:ext uri="{FF2B5EF4-FFF2-40B4-BE49-F238E27FC236}">
                <a16:creationId xmlns:a16="http://schemas.microsoft.com/office/drawing/2014/main" id="{5D17F672-B817-4816-9F9F-33C323357B3B}"/>
              </a:ext>
            </a:extLst>
          </p:cNvPr>
          <p:cNvSpPr>
            <a:spLocks xmlns:a="http://schemas.openxmlformats.org/drawingml/2006/main" noGrp="1"/>
          </p:cNvSpPr>
          <p:nvPr/>
        </p:nvSpPr>
        <p:spPr>
          <a:xfrm xmlns:a="http://schemas.openxmlformats.org/drawingml/2006/main">
            <a:off x="609600" y="2047875"/>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F5F1E7"/>
                </a:solidFill>
              </a:defRPr>
            </a:defPPr>
            <a:lvl1pPr>
              <a:buNone/>
              <a:defRPr sz="2475" b="1">
                <a:solidFill>
                  <a:srgbClr val="F5F1E7"/>
                </a:solidFill>
              </a:defRPr>
            </a:lvl1pPr>
            <a:lvl2pPr>
              <a:buNone/>
              <a:defRPr sz="2475" b="1">
                <a:solidFill>
                  <a:srgbClr val="F5F1E7"/>
                </a:solidFill>
              </a:defRPr>
            </a:lvl2pPr>
            <a:lvl3pPr>
              <a:buNone/>
              <a:defRPr sz="2475" b="1">
                <a:solidFill>
                  <a:srgbClr val="F5F1E7"/>
                </a:solidFill>
              </a:defRPr>
            </a:lvl3pPr>
            <a:lvl4pPr>
              <a:buNone/>
              <a:defRPr sz="2475" b="1">
                <a:solidFill>
                  <a:srgbClr val="F5F1E7"/>
                </a:solidFill>
              </a:defRPr>
            </a:lvl4pPr>
            <a:lvl5pPr>
              <a:buNone/>
              <a:defRPr sz="2475" b="1">
                <a:solidFill>
                  <a:srgbClr val="F5F1E7"/>
                </a:solidFill>
              </a:defRPr>
            </a:lvl5pPr>
            <a:lvl6pPr>
              <a:buNone/>
              <a:defRPr sz="2475" b="1">
                <a:solidFill>
                  <a:srgbClr val="F5F1E7"/>
                </a:solidFill>
              </a:defRPr>
            </a:lvl6pPr>
            <a:lvl7pPr>
              <a:buNone/>
              <a:defRPr sz="2475" b="1">
                <a:solidFill>
                  <a:srgbClr val="F5F1E7"/>
                </a:solidFill>
              </a:defRPr>
            </a:lvl7pPr>
            <a:lvl8pPr>
              <a:buNone/>
              <a:defRPr sz="2475" b="1">
                <a:solidFill>
                  <a:srgbClr val="F5F1E7"/>
                </a:solidFill>
              </a:defRPr>
            </a:lvl8pPr>
            <a:lvl9pPr>
              <a:buNone/>
              <a:defRPr sz="2475" b="1">
                <a:solidFill>
                  <a:srgbClr val="F5F1E7"/>
                </a:solidFill>
              </a:defRPr>
            </a:lvl9pPr>
          </a:lstStyle>
          <a:p xmlns:a="http://schemas.openxmlformats.org/drawingml/2006/main">
            <a:pPr>
              <a:buNone/>
              <a:defRPr sz="2475" b="1">
                <a:solidFill>
                  <a:srgbClr val="F5F1E7"/>
                </a:solidFill>
              </a:defRPr>
            </a:pPr>
            <a:r>
              <a:rPr sz="2475" b="1">
                <a:solidFill>
                  <a:srgbClr val="F5F1E7"/>
                </a:solidFill>
              </a:rPr>
              <a:t>16-step orchestrator</a:t>
            </a:r>
          </a:p>
        </p:txBody>
      </p:sp>
      <p:sp>
        <p:nvSpPr>
          <p:cNvPr id="5" name="">
            <a:extLst xmlns:a="http://schemas.openxmlformats.org/drawingml/2006/main">
              <a:ext uri="{FF2B5EF4-FFF2-40B4-BE49-F238E27FC236}">
                <a16:creationId xmlns:a16="http://schemas.microsoft.com/office/drawing/2014/main" id="{448EABF0-E104-4D0E-8B68-14AE20D5BF83}"/>
              </a:ext>
            </a:extLst>
          </p:cNvPr>
          <p:cNvSpPr>
            <a:spLocks xmlns:a="http://schemas.openxmlformats.org/drawingml/2006/main" noGrp="1"/>
          </p:cNvSpPr>
          <p:nvPr/>
        </p:nvSpPr>
        <p:spPr>
          <a:xfrm xmlns:a="http://schemas.openxmlformats.org/drawingml/2006/main">
            <a:off x="5238750" y="2095500"/>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CE5D2"/>
                </a:solidFill>
              </a:defRPr>
            </a:defPPr>
            <a:lvl1pPr>
              <a:buNone/>
              <a:defRPr sz="2100" b="0">
                <a:solidFill>
                  <a:srgbClr val="DCE5D2"/>
                </a:solidFill>
              </a:defRPr>
            </a:lvl1pPr>
            <a:lvl2pPr>
              <a:buNone/>
              <a:defRPr sz="2100" b="0">
                <a:solidFill>
                  <a:srgbClr val="DCE5D2"/>
                </a:solidFill>
              </a:defRPr>
            </a:lvl2pPr>
            <a:lvl3pPr>
              <a:buNone/>
              <a:defRPr sz="2100" b="0">
                <a:solidFill>
                  <a:srgbClr val="DCE5D2"/>
                </a:solidFill>
              </a:defRPr>
            </a:lvl3pPr>
            <a:lvl4pPr>
              <a:buNone/>
              <a:defRPr sz="2100" b="0">
                <a:solidFill>
                  <a:srgbClr val="DCE5D2"/>
                </a:solidFill>
              </a:defRPr>
            </a:lvl4pPr>
            <a:lvl5pPr>
              <a:buNone/>
              <a:defRPr sz="2100" b="0">
                <a:solidFill>
                  <a:srgbClr val="DCE5D2"/>
                </a:solidFill>
              </a:defRPr>
            </a:lvl5pPr>
            <a:lvl6pPr>
              <a:buNone/>
              <a:defRPr sz="2100" b="0">
                <a:solidFill>
                  <a:srgbClr val="DCE5D2"/>
                </a:solidFill>
              </a:defRPr>
            </a:lvl6pPr>
            <a:lvl7pPr>
              <a:buNone/>
              <a:defRPr sz="2100" b="0">
                <a:solidFill>
                  <a:srgbClr val="DCE5D2"/>
                </a:solidFill>
              </a:defRPr>
            </a:lvl7pPr>
            <a:lvl8pPr>
              <a:buNone/>
              <a:defRPr sz="2100" b="0">
                <a:solidFill>
                  <a:srgbClr val="DCE5D2"/>
                </a:solidFill>
              </a:defRPr>
            </a:lvl8pPr>
            <a:lvl9pPr>
              <a:buNone/>
              <a:defRPr sz="2100" b="0">
                <a:solidFill>
                  <a:srgbClr val="DCE5D2"/>
                </a:solidFill>
              </a:defRPr>
            </a:lvl9pPr>
          </a:lstStyle>
          <a:p xmlns:a="http://schemas.openxmlformats.org/drawingml/2006/main">
            <a:pPr>
              <a:buNone/>
              <a:defRPr sz="2100" b="0">
                <a:solidFill>
                  <a:srgbClr val="DCE5D2"/>
                </a:solidFill>
              </a:defRPr>
            </a:pPr>
            <a:r>
              <a:rPr sz="2100" b="0">
                <a:solidFill>
                  <a:srgbClr val="DCE5D2"/>
                </a:solidFill>
              </a:rPr>
              <a:t>Lock, timeouts and step reports</a:t>
            </a:r>
          </a:p>
        </p:txBody>
      </p:sp>
      <p:sp>
        <p:nvSpPr>
          <p:cNvPr id="6" name="">
            <a:extLst xmlns:a="http://schemas.openxmlformats.org/drawingml/2006/main">
              <a:ext uri="{FF2B5EF4-FFF2-40B4-BE49-F238E27FC236}">
                <a16:creationId xmlns:a16="http://schemas.microsoft.com/office/drawing/2014/main" id="{E478F227-A004-4137-82F1-C7ACD8E93C09}"/>
              </a:ext>
            </a:extLst>
          </p:cNvPr>
          <p:cNvSpPr>
            <a:spLocks xmlns:a="http://schemas.openxmlformats.org/drawingml/2006/main" noGrp="1"/>
          </p:cNvSpPr>
          <p:nvPr/>
        </p:nvSpPr>
        <p:spPr>
          <a:xfrm xmlns:a="http://schemas.openxmlformats.org/drawingml/2006/main">
            <a:off x="609600"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7" name="">
            <a:extLst xmlns:a="http://schemas.openxmlformats.org/drawingml/2006/main">
              <a:ext uri="{FF2B5EF4-FFF2-40B4-BE49-F238E27FC236}">
                <a16:creationId xmlns:a16="http://schemas.microsoft.com/office/drawing/2014/main" id="{00BC8C4D-2C81-4BC9-BC5D-9E665545E6A2}"/>
              </a:ext>
            </a:extLst>
          </p:cNvPr>
          <p:cNvSpPr>
            <a:spLocks xmlns:a="http://schemas.openxmlformats.org/drawingml/2006/main" noGrp="1"/>
          </p:cNvSpPr>
          <p:nvPr/>
        </p:nvSpPr>
        <p:spPr>
          <a:xfrm xmlns:a="http://schemas.openxmlformats.org/drawingml/2006/main">
            <a:off x="771525"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buNone/>
              <a:defRPr sz="2250" b="1">
                <a:solidFill>
                  <a:srgbClr val="123B32"/>
                </a:solidFill>
              </a:defRPr>
            </a:lvl1pPr>
            <a:lvl2pPr>
              <a:buNone/>
              <a:defRPr sz="2250" b="1">
                <a:solidFill>
                  <a:srgbClr val="123B32"/>
                </a:solidFill>
              </a:defRPr>
            </a:lvl2pPr>
            <a:lvl3pPr>
              <a:buNone/>
              <a:defRPr sz="2250" b="1">
                <a:solidFill>
                  <a:srgbClr val="123B32"/>
                </a:solidFill>
              </a:defRPr>
            </a:lvl3pPr>
            <a:lvl4pPr>
              <a:buNone/>
              <a:defRPr sz="2250" b="1">
                <a:solidFill>
                  <a:srgbClr val="123B32"/>
                </a:solidFill>
              </a:defRPr>
            </a:lvl4pPr>
            <a:lvl5pPr>
              <a:buNone/>
              <a:defRPr sz="2250" b="1">
                <a:solidFill>
                  <a:srgbClr val="123B32"/>
                </a:solidFill>
              </a:defRPr>
            </a:lvl5pPr>
            <a:lvl6pPr>
              <a:buNone/>
              <a:defRPr sz="2250" b="1">
                <a:solidFill>
                  <a:srgbClr val="123B32"/>
                </a:solidFill>
              </a:defRPr>
            </a:lvl6pPr>
            <a:lvl7pPr>
              <a:buNone/>
              <a:defRPr sz="2250" b="1">
                <a:solidFill>
                  <a:srgbClr val="123B32"/>
                </a:solidFill>
              </a:defRPr>
            </a:lvl7pPr>
            <a:lvl8pPr>
              <a:buNone/>
              <a:defRPr sz="2250" b="1">
                <a:solidFill>
                  <a:srgbClr val="123B32"/>
                </a:solidFill>
              </a:defRPr>
            </a:lvl8pPr>
            <a:lvl9pPr>
              <a:buNone/>
              <a:defRPr sz="2250" b="1">
                <a:solidFill>
                  <a:srgbClr val="123B32"/>
                </a:solidFill>
              </a:defRPr>
            </a:lvl9pPr>
          </a:lstStyle>
          <a:p xmlns:a="http://schemas.openxmlformats.org/drawingml/2006/main">
            <a:pPr>
              <a:buNone/>
              <a:defRPr sz="2250" b="1">
                <a:solidFill>
                  <a:srgbClr val="123B32"/>
                </a:solidFill>
              </a:defRPr>
            </a:pPr>
            <a:r>
              <a:rPr sz="2250" b="1">
                <a:solidFill>
                  <a:srgbClr val="123B32"/>
                </a:solidFill>
              </a:rPr>
              <a:t>Landing</a:t>
            </a:r>
          </a:p>
        </p:txBody>
      </p:sp>
      <p:sp>
        <p:nvSpPr>
          <p:cNvPr id="8" name="">
            <a:extLst xmlns:a="http://schemas.openxmlformats.org/drawingml/2006/main">
              <a:ext uri="{FF2B5EF4-FFF2-40B4-BE49-F238E27FC236}">
                <a16:creationId xmlns:a16="http://schemas.microsoft.com/office/drawing/2014/main" id="{6DFAA6DD-0E68-426F-9326-03DE4CEC8B9D}"/>
              </a:ext>
            </a:extLst>
          </p:cNvPr>
          <p:cNvSpPr>
            <a:spLocks xmlns:a="http://schemas.openxmlformats.org/drawingml/2006/main" noGrp="1"/>
          </p:cNvSpPr>
          <p:nvPr/>
        </p:nvSpPr>
        <p:spPr>
          <a:xfrm xmlns:a="http://schemas.openxmlformats.org/drawingml/2006/main">
            <a:off x="771525"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buNone/>
              <a:defRPr sz="1950" b="0">
                <a:solidFill>
                  <a:srgbClr val="123B32"/>
                </a:solidFill>
              </a:defRPr>
            </a:lvl1pPr>
            <a:lvl2pPr>
              <a:buNone/>
              <a:defRPr sz="1950" b="0">
                <a:solidFill>
                  <a:srgbClr val="123B32"/>
                </a:solidFill>
              </a:defRPr>
            </a:lvl2pPr>
            <a:lvl3pPr>
              <a:buNone/>
              <a:defRPr sz="1950" b="0">
                <a:solidFill>
                  <a:srgbClr val="123B32"/>
                </a:solidFill>
              </a:defRPr>
            </a:lvl3pPr>
            <a:lvl4pPr>
              <a:buNone/>
              <a:defRPr sz="1950" b="0">
                <a:solidFill>
                  <a:srgbClr val="123B32"/>
                </a:solidFill>
              </a:defRPr>
            </a:lvl4pPr>
            <a:lvl5pPr>
              <a:buNone/>
              <a:defRPr sz="1950" b="0">
                <a:solidFill>
                  <a:srgbClr val="123B32"/>
                </a:solidFill>
              </a:defRPr>
            </a:lvl5pPr>
            <a:lvl6pPr>
              <a:buNone/>
              <a:defRPr sz="1950" b="0">
                <a:solidFill>
                  <a:srgbClr val="123B32"/>
                </a:solidFill>
              </a:defRPr>
            </a:lvl6pPr>
            <a:lvl7pPr>
              <a:buNone/>
              <a:defRPr sz="1950" b="0">
                <a:solidFill>
                  <a:srgbClr val="123B32"/>
                </a:solidFill>
              </a:defRPr>
            </a:lvl7pPr>
            <a:lvl8pPr>
              <a:buNone/>
              <a:defRPr sz="1950" b="0">
                <a:solidFill>
                  <a:srgbClr val="123B32"/>
                </a:solidFill>
              </a:defRPr>
            </a:lvl8pPr>
            <a:lvl9pPr>
              <a:buNone/>
              <a:defRPr sz="1950" b="0">
                <a:solidFill>
                  <a:srgbClr val="123B32"/>
                </a:solidFill>
              </a:defRPr>
            </a:lvl9pPr>
          </a:lstStyle>
          <a:p xmlns:a="http://schemas.openxmlformats.org/drawingml/2006/main">
            <a:pPr>
              <a:buNone/>
              <a:defRPr sz="1950" b="0">
                <a:solidFill>
                  <a:srgbClr val="123B32"/>
                </a:solidFill>
              </a:defRPr>
            </a:pPr>
            <a:r>
              <a:rPr sz="1950" b="0">
                <a:solidFill>
                  <a:srgbClr val="123B32"/>
                </a:solidFill>
              </a:rPr>
              <a:t>Preserve</a:t>
            </a:r>
          </a:p>
          <a:p xmlns:a="http://schemas.openxmlformats.org/drawingml/2006/main">
            <a:pPr>
              <a:buNone/>
              <a:defRPr sz="1950" b="0">
                <a:solidFill>
                  <a:srgbClr val="123B32"/>
                </a:solidFill>
              </a:defRPr>
            </a:pPr>
            <a:r>
              <a:rPr sz="1950" b="0">
                <a:solidFill>
                  <a:srgbClr val="123B32"/>
                </a:solidFill>
              </a:rPr>
              <a:t>originals</a:t>
            </a:r>
          </a:p>
        </p:txBody>
      </p:sp>
      <p:sp>
        <p:nvSpPr>
          <p:cNvPr id="9" name="">
            <a:extLst xmlns:a="http://schemas.openxmlformats.org/drawingml/2006/main">
              <a:ext uri="{FF2B5EF4-FFF2-40B4-BE49-F238E27FC236}">
                <a16:creationId xmlns:a16="http://schemas.microsoft.com/office/drawing/2014/main" id="{204FA7C2-B786-4588-817D-FB0680FD7F6D}"/>
              </a:ext>
            </a:extLst>
          </p:cNvPr>
          <p:cNvSpPr>
            <a:spLocks xmlns:a="http://schemas.openxmlformats.org/drawingml/2006/main" noGrp="1"/>
          </p:cNvSpPr>
          <p:nvPr/>
        </p:nvSpPr>
        <p:spPr>
          <a:xfrm xmlns:a="http://schemas.openxmlformats.org/drawingml/2006/main">
            <a:off x="3381375"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0" name="">
            <a:extLst xmlns:a="http://schemas.openxmlformats.org/drawingml/2006/main">
              <a:ext uri="{FF2B5EF4-FFF2-40B4-BE49-F238E27FC236}">
                <a16:creationId xmlns:a16="http://schemas.microsoft.com/office/drawing/2014/main" id="{DE5D1E6E-2CBB-45F1-954B-F2AF68BEC044}"/>
              </a:ext>
            </a:extLst>
          </p:cNvPr>
          <p:cNvSpPr>
            <a:spLocks xmlns:a="http://schemas.openxmlformats.org/drawingml/2006/main" noGrp="1"/>
          </p:cNvSpPr>
          <p:nvPr/>
        </p:nvSpPr>
        <p:spPr>
          <a:xfrm xmlns:a="http://schemas.openxmlformats.org/drawingml/2006/main">
            <a:off x="3543300"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buNone/>
              <a:defRPr sz="2250" b="1">
                <a:solidFill>
                  <a:srgbClr val="123B32"/>
                </a:solidFill>
              </a:defRPr>
            </a:lvl1pPr>
            <a:lvl2pPr>
              <a:buNone/>
              <a:defRPr sz="2250" b="1">
                <a:solidFill>
                  <a:srgbClr val="123B32"/>
                </a:solidFill>
              </a:defRPr>
            </a:lvl2pPr>
            <a:lvl3pPr>
              <a:buNone/>
              <a:defRPr sz="2250" b="1">
                <a:solidFill>
                  <a:srgbClr val="123B32"/>
                </a:solidFill>
              </a:defRPr>
            </a:lvl3pPr>
            <a:lvl4pPr>
              <a:buNone/>
              <a:defRPr sz="2250" b="1">
                <a:solidFill>
                  <a:srgbClr val="123B32"/>
                </a:solidFill>
              </a:defRPr>
            </a:lvl4pPr>
            <a:lvl5pPr>
              <a:buNone/>
              <a:defRPr sz="2250" b="1">
                <a:solidFill>
                  <a:srgbClr val="123B32"/>
                </a:solidFill>
              </a:defRPr>
            </a:lvl5pPr>
            <a:lvl6pPr>
              <a:buNone/>
              <a:defRPr sz="2250" b="1">
                <a:solidFill>
                  <a:srgbClr val="123B32"/>
                </a:solidFill>
              </a:defRPr>
            </a:lvl6pPr>
            <a:lvl7pPr>
              <a:buNone/>
              <a:defRPr sz="2250" b="1">
                <a:solidFill>
                  <a:srgbClr val="123B32"/>
                </a:solidFill>
              </a:defRPr>
            </a:lvl7pPr>
            <a:lvl8pPr>
              <a:buNone/>
              <a:defRPr sz="2250" b="1">
                <a:solidFill>
                  <a:srgbClr val="123B32"/>
                </a:solidFill>
              </a:defRPr>
            </a:lvl8pPr>
            <a:lvl9pPr>
              <a:buNone/>
              <a:defRPr sz="2250" b="1">
                <a:solidFill>
                  <a:srgbClr val="123B32"/>
                </a:solidFill>
              </a:defRPr>
            </a:lvl9pPr>
          </a:lstStyle>
          <a:p xmlns:a="http://schemas.openxmlformats.org/drawingml/2006/main">
            <a:pPr>
              <a:buNone/>
              <a:defRPr sz="2250" b="1">
                <a:solidFill>
                  <a:srgbClr val="123B32"/>
                </a:solidFill>
              </a:defRPr>
            </a:pPr>
            <a:r>
              <a:rPr sz="2250" b="1">
                <a:solidFill>
                  <a:srgbClr val="123B32"/>
                </a:solidFill>
              </a:rPr>
              <a:t>Formatted</a:t>
            </a:r>
          </a:p>
        </p:txBody>
      </p:sp>
      <p:sp>
        <p:nvSpPr>
          <p:cNvPr id="11" name="">
            <a:extLst xmlns:a="http://schemas.openxmlformats.org/drawingml/2006/main">
              <a:ext uri="{FF2B5EF4-FFF2-40B4-BE49-F238E27FC236}">
                <a16:creationId xmlns:a16="http://schemas.microsoft.com/office/drawing/2014/main" id="{7BE5EFC0-D541-45F5-872E-9DD0457D9DAC}"/>
              </a:ext>
            </a:extLst>
          </p:cNvPr>
          <p:cNvSpPr>
            <a:spLocks xmlns:a="http://schemas.openxmlformats.org/drawingml/2006/main" noGrp="1"/>
          </p:cNvSpPr>
          <p:nvPr/>
        </p:nvSpPr>
        <p:spPr>
          <a:xfrm xmlns:a="http://schemas.openxmlformats.org/drawingml/2006/main">
            <a:off x="3543300"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buNone/>
              <a:defRPr sz="1950" b="0">
                <a:solidFill>
                  <a:srgbClr val="123B32"/>
                </a:solidFill>
              </a:defRPr>
            </a:lvl1pPr>
            <a:lvl2pPr>
              <a:buNone/>
              <a:defRPr sz="1950" b="0">
                <a:solidFill>
                  <a:srgbClr val="123B32"/>
                </a:solidFill>
              </a:defRPr>
            </a:lvl2pPr>
            <a:lvl3pPr>
              <a:buNone/>
              <a:defRPr sz="1950" b="0">
                <a:solidFill>
                  <a:srgbClr val="123B32"/>
                </a:solidFill>
              </a:defRPr>
            </a:lvl3pPr>
            <a:lvl4pPr>
              <a:buNone/>
              <a:defRPr sz="1950" b="0">
                <a:solidFill>
                  <a:srgbClr val="123B32"/>
                </a:solidFill>
              </a:defRPr>
            </a:lvl4pPr>
            <a:lvl5pPr>
              <a:buNone/>
              <a:defRPr sz="1950" b="0">
                <a:solidFill>
                  <a:srgbClr val="123B32"/>
                </a:solidFill>
              </a:defRPr>
            </a:lvl5pPr>
            <a:lvl6pPr>
              <a:buNone/>
              <a:defRPr sz="1950" b="0">
                <a:solidFill>
                  <a:srgbClr val="123B32"/>
                </a:solidFill>
              </a:defRPr>
            </a:lvl6pPr>
            <a:lvl7pPr>
              <a:buNone/>
              <a:defRPr sz="1950" b="0">
                <a:solidFill>
                  <a:srgbClr val="123B32"/>
                </a:solidFill>
              </a:defRPr>
            </a:lvl7pPr>
            <a:lvl8pPr>
              <a:buNone/>
              <a:defRPr sz="1950" b="0">
                <a:solidFill>
                  <a:srgbClr val="123B32"/>
                </a:solidFill>
              </a:defRPr>
            </a:lvl8pPr>
            <a:lvl9pPr>
              <a:buNone/>
              <a:defRPr sz="1950" b="0">
                <a:solidFill>
                  <a:srgbClr val="123B32"/>
                </a:solidFill>
              </a:defRPr>
            </a:lvl9pPr>
          </a:lstStyle>
          <a:p xmlns:a="http://schemas.openxmlformats.org/drawingml/2006/main">
            <a:pPr>
              <a:buNone/>
              <a:defRPr sz="1950" b="0">
                <a:solidFill>
                  <a:srgbClr val="123B32"/>
                </a:solidFill>
              </a:defRPr>
            </a:pPr>
            <a:r>
              <a:rPr sz="1950" b="0">
                <a:solidFill>
                  <a:srgbClr val="123B32"/>
                </a:solidFill>
              </a:rPr>
              <a:t>Standardise</a:t>
            </a:r>
          </a:p>
          <a:p xmlns:a="http://schemas.openxmlformats.org/drawingml/2006/main">
            <a:pPr>
              <a:buNone/>
              <a:defRPr sz="1950" b="0">
                <a:solidFill>
                  <a:srgbClr val="123B32"/>
                </a:solidFill>
              </a:defRPr>
            </a:pPr>
            <a:r>
              <a:rPr sz="1950" b="0">
                <a:solidFill>
                  <a:srgbClr val="123B32"/>
                </a:solidFill>
              </a:rPr>
              <a:t>representation</a:t>
            </a:r>
          </a:p>
        </p:txBody>
      </p:sp>
      <p:sp>
        <p:nvSpPr>
          <p:cNvPr id="13" name="">
            <a:extLst xmlns:a="http://schemas.openxmlformats.org/drawingml/2006/main">
              <a:ext uri="{FF2B5EF4-FFF2-40B4-BE49-F238E27FC236}">
                <a16:creationId xmlns:a16="http://schemas.microsoft.com/office/drawing/2014/main" id="{5E9CB112-452C-4313-A2FA-2B7294DA88F9}"/>
              </a:ext>
            </a:extLst>
          </p:cNvPr>
          <p:cNvSpPr>
            <a:spLocks xmlns:a="http://schemas.openxmlformats.org/drawingml/2006/main" noGrp="1"/>
          </p:cNvSpPr>
          <p:nvPr/>
        </p:nvSpPr>
        <p:spPr>
          <a:xfrm xmlns:a="http://schemas.openxmlformats.org/drawingml/2006/main">
            <a:off x="6153150"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4" name="">
            <a:extLst xmlns:a="http://schemas.openxmlformats.org/drawingml/2006/main">
              <a:ext uri="{FF2B5EF4-FFF2-40B4-BE49-F238E27FC236}">
                <a16:creationId xmlns:a16="http://schemas.microsoft.com/office/drawing/2014/main" id="{EB342218-33F7-48FE-BEC4-BCA10BB162AD}"/>
              </a:ext>
            </a:extLst>
          </p:cNvPr>
          <p:cNvSpPr>
            <a:spLocks xmlns:a="http://schemas.openxmlformats.org/drawingml/2006/main" noGrp="1"/>
          </p:cNvSpPr>
          <p:nvPr/>
        </p:nvSpPr>
        <p:spPr>
          <a:xfrm xmlns:a="http://schemas.openxmlformats.org/drawingml/2006/main">
            <a:off x="6315075"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buNone/>
              <a:defRPr sz="2250" b="1">
                <a:solidFill>
                  <a:srgbClr val="123B32"/>
                </a:solidFill>
              </a:defRPr>
            </a:lvl1pPr>
            <a:lvl2pPr>
              <a:buNone/>
              <a:defRPr sz="2250" b="1">
                <a:solidFill>
                  <a:srgbClr val="123B32"/>
                </a:solidFill>
              </a:defRPr>
            </a:lvl2pPr>
            <a:lvl3pPr>
              <a:buNone/>
              <a:defRPr sz="2250" b="1">
                <a:solidFill>
                  <a:srgbClr val="123B32"/>
                </a:solidFill>
              </a:defRPr>
            </a:lvl3pPr>
            <a:lvl4pPr>
              <a:buNone/>
              <a:defRPr sz="2250" b="1">
                <a:solidFill>
                  <a:srgbClr val="123B32"/>
                </a:solidFill>
              </a:defRPr>
            </a:lvl4pPr>
            <a:lvl5pPr>
              <a:buNone/>
              <a:defRPr sz="2250" b="1">
                <a:solidFill>
                  <a:srgbClr val="123B32"/>
                </a:solidFill>
              </a:defRPr>
            </a:lvl5pPr>
            <a:lvl6pPr>
              <a:buNone/>
              <a:defRPr sz="2250" b="1">
                <a:solidFill>
                  <a:srgbClr val="123B32"/>
                </a:solidFill>
              </a:defRPr>
            </a:lvl6pPr>
            <a:lvl7pPr>
              <a:buNone/>
              <a:defRPr sz="2250" b="1">
                <a:solidFill>
                  <a:srgbClr val="123B32"/>
                </a:solidFill>
              </a:defRPr>
            </a:lvl7pPr>
            <a:lvl8pPr>
              <a:buNone/>
              <a:defRPr sz="2250" b="1">
                <a:solidFill>
                  <a:srgbClr val="123B32"/>
                </a:solidFill>
              </a:defRPr>
            </a:lvl8pPr>
            <a:lvl9pPr>
              <a:buNone/>
              <a:defRPr sz="2250" b="1">
                <a:solidFill>
                  <a:srgbClr val="123B32"/>
                </a:solidFill>
              </a:defRPr>
            </a:lvl9pPr>
          </a:lstStyle>
          <a:p xmlns:a="http://schemas.openxmlformats.org/drawingml/2006/main">
            <a:pPr>
              <a:buNone/>
              <a:defRPr sz="2250" b="1">
                <a:solidFill>
                  <a:srgbClr val="123B32"/>
                </a:solidFill>
              </a:defRPr>
            </a:pPr>
            <a:r>
              <a:rPr sz="2250" b="1">
                <a:solidFill>
                  <a:srgbClr val="123B32"/>
                </a:solidFill>
              </a:rPr>
              <a:t>Trusted</a:t>
            </a:r>
          </a:p>
        </p:txBody>
      </p:sp>
      <p:sp>
        <p:nvSpPr>
          <p:cNvPr id="15" name="">
            <a:extLst xmlns:a="http://schemas.openxmlformats.org/drawingml/2006/main">
              <a:ext uri="{FF2B5EF4-FFF2-40B4-BE49-F238E27FC236}">
                <a16:creationId xmlns:a16="http://schemas.microsoft.com/office/drawing/2014/main" id="{F8582543-2EB0-4EB3-9152-715883CECD0E}"/>
              </a:ext>
            </a:extLst>
          </p:cNvPr>
          <p:cNvSpPr>
            <a:spLocks xmlns:a="http://schemas.openxmlformats.org/drawingml/2006/main" noGrp="1"/>
          </p:cNvSpPr>
          <p:nvPr/>
        </p:nvSpPr>
        <p:spPr>
          <a:xfrm xmlns:a="http://schemas.openxmlformats.org/drawingml/2006/main">
            <a:off x="6315075"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buNone/>
              <a:defRPr sz="1950" b="0">
                <a:solidFill>
                  <a:srgbClr val="123B32"/>
                </a:solidFill>
              </a:defRPr>
            </a:lvl1pPr>
            <a:lvl2pPr>
              <a:buNone/>
              <a:defRPr sz="1950" b="0">
                <a:solidFill>
                  <a:srgbClr val="123B32"/>
                </a:solidFill>
              </a:defRPr>
            </a:lvl2pPr>
            <a:lvl3pPr>
              <a:buNone/>
              <a:defRPr sz="1950" b="0">
                <a:solidFill>
                  <a:srgbClr val="123B32"/>
                </a:solidFill>
              </a:defRPr>
            </a:lvl3pPr>
            <a:lvl4pPr>
              <a:buNone/>
              <a:defRPr sz="1950" b="0">
                <a:solidFill>
                  <a:srgbClr val="123B32"/>
                </a:solidFill>
              </a:defRPr>
            </a:lvl4pPr>
            <a:lvl5pPr>
              <a:buNone/>
              <a:defRPr sz="1950" b="0">
                <a:solidFill>
                  <a:srgbClr val="123B32"/>
                </a:solidFill>
              </a:defRPr>
            </a:lvl5pPr>
            <a:lvl6pPr>
              <a:buNone/>
              <a:defRPr sz="1950" b="0">
                <a:solidFill>
                  <a:srgbClr val="123B32"/>
                </a:solidFill>
              </a:defRPr>
            </a:lvl6pPr>
            <a:lvl7pPr>
              <a:buNone/>
              <a:defRPr sz="1950" b="0">
                <a:solidFill>
                  <a:srgbClr val="123B32"/>
                </a:solidFill>
              </a:defRPr>
            </a:lvl7pPr>
            <a:lvl8pPr>
              <a:buNone/>
              <a:defRPr sz="1950" b="0">
                <a:solidFill>
                  <a:srgbClr val="123B32"/>
                </a:solidFill>
              </a:defRPr>
            </a:lvl8pPr>
            <a:lvl9pPr>
              <a:buNone/>
              <a:defRPr sz="1950" b="0">
                <a:solidFill>
                  <a:srgbClr val="123B32"/>
                </a:solidFill>
              </a:defRPr>
            </a:lvl9pPr>
          </a:lstStyle>
          <a:p xmlns:a="http://schemas.openxmlformats.org/drawingml/2006/main">
            <a:pPr>
              <a:buNone/>
              <a:defRPr sz="1950" b="0">
                <a:solidFill>
                  <a:srgbClr val="123B32"/>
                </a:solidFill>
              </a:defRPr>
            </a:pPr>
            <a:r>
              <a:rPr sz="1950" b="0">
                <a:solidFill>
                  <a:srgbClr val="123B32"/>
                </a:solidFill>
              </a:rPr>
              <a:t>Check quality</a:t>
            </a:r>
          </a:p>
          <a:p xmlns:a="http://schemas.openxmlformats.org/drawingml/2006/main">
            <a:pPr>
              <a:buNone/>
              <a:defRPr sz="1950" b="0">
                <a:solidFill>
                  <a:srgbClr val="123B32"/>
                </a:solidFill>
              </a:defRPr>
            </a:pPr>
            <a:r>
              <a:rPr sz="1950" b="0">
                <a:solidFill>
                  <a:srgbClr val="123B32"/>
                </a:solidFill>
              </a:rPr>
              <a:t>and provenance</a:t>
            </a:r>
          </a:p>
        </p:txBody>
      </p:sp>
      <p:sp>
        <p:nvSpPr>
          <p:cNvPr id="17" name="">
            <a:extLst xmlns:a="http://schemas.openxmlformats.org/drawingml/2006/main">
              <a:ext uri="{FF2B5EF4-FFF2-40B4-BE49-F238E27FC236}">
                <a16:creationId xmlns:a16="http://schemas.microsoft.com/office/drawing/2014/main" id="{8ECD38F0-713B-4A06-A4F0-B76A7B3B57FA}"/>
              </a:ext>
            </a:extLst>
          </p:cNvPr>
          <p:cNvSpPr>
            <a:spLocks xmlns:a="http://schemas.openxmlformats.org/drawingml/2006/main" noGrp="1"/>
          </p:cNvSpPr>
          <p:nvPr/>
        </p:nvSpPr>
        <p:spPr>
          <a:xfrm xmlns:a="http://schemas.openxmlformats.org/drawingml/2006/main">
            <a:off x="8924925" y="2952750"/>
            <a:ext cx="2514600" cy="16859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8" name="">
            <a:extLst xmlns:a="http://schemas.openxmlformats.org/drawingml/2006/main">
              <a:ext uri="{FF2B5EF4-FFF2-40B4-BE49-F238E27FC236}">
                <a16:creationId xmlns:a16="http://schemas.microsoft.com/office/drawing/2014/main" id="{81789078-05A8-40D4-AB4B-F67EC72A6BD4}"/>
              </a:ext>
            </a:extLst>
          </p:cNvPr>
          <p:cNvSpPr>
            <a:spLocks xmlns:a="http://schemas.openxmlformats.org/drawingml/2006/main" noGrp="1"/>
          </p:cNvSpPr>
          <p:nvPr/>
        </p:nvSpPr>
        <p:spPr>
          <a:xfrm xmlns:a="http://schemas.openxmlformats.org/drawingml/2006/main">
            <a:off x="9086850" y="3105150"/>
            <a:ext cx="2190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buNone/>
              <a:defRPr sz="2250" b="1">
                <a:solidFill>
                  <a:srgbClr val="123B32"/>
                </a:solidFill>
              </a:defRPr>
            </a:lvl1pPr>
            <a:lvl2pPr>
              <a:buNone/>
              <a:defRPr sz="2250" b="1">
                <a:solidFill>
                  <a:srgbClr val="123B32"/>
                </a:solidFill>
              </a:defRPr>
            </a:lvl2pPr>
            <a:lvl3pPr>
              <a:buNone/>
              <a:defRPr sz="2250" b="1">
                <a:solidFill>
                  <a:srgbClr val="123B32"/>
                </a:solidFill>
              </a:defRPr>
            </a:lvl3pPr>
            <a:lvl4pPr>
              <a:buNone/>
              <a:defRPr sz="2250" b="1">
                <a:solidFill>
                  <a:srgbClr val="123B32"/>
                </a:solidFill>
              </a:defRPr>
            </a:lvl4pPr>
            <a:lvl5pPr>
              <a:buNone/>
              <a:defRPr sz="2250" b="1">
                <a:solidFill>
                  <a:srgbClr val="123B32"/>
                </a:solidFill>
              </a:defRPr>
            </a:lvl5pPr>
            <a:lvl6pPr>
              <a:buNone/>
              <a:defRPr sz="2250" b="1">
                <a:solidFill>
                  <a:srgbClr val="123B32"/>
                </a:solidFill>
              </a:defRPr>
            </a:lvl6pPr>
            <a:lvl7pPr>
              <a:buNone/>
              <a:defRPr sz="2250" b="1">
                <a:solidFill>
                  <a:srgbClr val="123B32"/>
                </a:solidFill>
              </a:defRPr>
            </a:lvl7pPr>
            <a:lvl8pPr>
              <a:buNone/>
              <a:defRPr sz="2250" b="1">
                <a:solidFill>
                  <a:srgbClr val="123B32"/>
                </a:solidFill>
              </a:defRPr>
            </a:lvl8pPr>
            <a:lvl9pPr>
              <a:buNone/>
              <a:defRPr sz="2250" b="1">
                <a:solidFill>
                  <a:srgbClr val="123B32"/>
                </a:solidFill>
              </a:defRPr>
            </a:lvl9pPr>
          </a:lstStyle>
          <a:p xmlns:a="http://schemas.openxmlformats.org/drawingml/2006/main">
            <a:pPr>
              <a:buNone/>
              <a:defRPr sz="2250" b="1">
                <a:solidFill>
                  <a:srgbClr val="123B32"/>
                </a:solidFill>
              </a:defRPr>
            </a:pPr>
            <a:r>
              <a:rPr sz="2250" b="1">
                <a:solidFill>
                  <a:srgbClr val="123B32"/>
                </a:solidFill>
              </a:rPr>
              <a:t>Exploitation</a:t>
            </a:r>
          </a:p>
        </p:txBody>
      </p:sp>
      <p:sp>
        <p:nvSpPr>
          <p:cNvPr id="19" name="">
            <a:extLst xmlns:a="http://schemas.openxmlformats.org/drawingml/2006/main">
              <a:ext uri="{FF2B5EF4-FFF2-40B4-BE49-F238E27FC236}">
                <a16:creationId xmlns:a16="http://schemas.microsoft.com/office/drawing/2014/main" id="{0DBF95E1-4A20-4C65-A8A3-3B2FA9632721}"/>
              </a:ext>
            </a:extLst>
          </p:cNvPr>
          <p:cNvSpPr>
            <a:spLocks xmlns:a="http://schemas.openxmlformats.org/drawingml/2006/main" noGrp="1"/>
          </p:cNvSpPr>
          <p:nvPr/>
        </p:nvSpPr>
        <p:spPr>
          <a:xfrm xmlns:a="http://schemas.openxmlformats.org/drawingml/2006/main">
            <a:off x="9086850" y="3543300"/>
            <a:ext cx="2238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buNone/>
              <a:defRPr sz="1950" b="0">
                <a:solidFill>
                  <a:srgbClr val="123B32"/>
                </a:solidFill>
              </a:defRPr>
            </a:lvl1pPr>
            <a:lvl2pPr>
              <a:buNone/>
              <a:defRPr sz="1950" b="0">
                <a:solidFill>
                  <a:srgbClr val="123B32"/>
                </a:solidFill>
              </a:defRPr>
            </a:lvl2pPr>
            <a:lvl3pPr>
              <a:buNone/>
              <a:defRPr sz="1950" b="0">
                <a:solidFill>
                  <a:srgbClr val="123B32"/>
                </a:solidFill>
              </a:defRPr>
            </a:lvl3pPr>
            <a:lvl4pPr>
              <a:buNone/>
              <a:defRPr sz="1950" b="0">
                <a:solidFill>
                  <a:srgbClr val="123B32"/>
                </a:solidFill>
              </a:defRPr>
            </a:lvl4pPr>
            <a:lvl5pPr>
              <a:buNone/>
              <a:defRPr sz="1950" b="0">
                <a:solidFill>
                  <a:srgbClr val="123B32"/>
                </a:solidFill>
              </a:defRPr>
            </a:lvl5pPr>
            <a:lvl6pPr>
              <a:buNone/>
              <a:defRPr sz="1950" b="0">
                <a:solidFill>
                  <a:srgbClr val="123B32"/>
                </a:solidFill>
              </a:defRPr>
            </a:lvl6pPr>
            <a:lvl7pPr>
              <a:buNone/>
              <a:defRPr sz="1950" b="0">
                <a:solidFill>
                  <a:srgbClr val="123B32"/>
                </a:solidFill>
              </a:defRPr>
            </a:lvl7pPr>
            <a:lvl8pPr>
              <a:buNone/>
              <a:defRPr sz="1950" b="0">
                <a:solidFill>
                  <a:srgbClr val="123B32"/>
                </a:solidFill>
              </a:defRPr>
            </a:lvl8pPr>
            <a:lvl9pPr>
              <a:buNone/>
              <a:defRPr sz="1950" b="0">
                <a:solidFill>
                  <a:srgbClr val="123B32"/>
                </a:solidFill>
              </a:defRPr>
            </a:lvl9pPr>
          </a:lstStyle>
          <a:p xmlns:a="http://schemas.openxmlformats.org/drawingml/2006/main">
            <a:pPr>
              <a:buNone/>
              <a:defRPr sz="1950" b="0">
                <a:solidFill>
                  <a:srgbClr val="123B32"/>
                </a:solidFill>
              </a:defRPr>
            </a:pPr>
            <a:r>
              <a:rPr sz="1950" b="0">
                <a:solidFill>
                  <a:srgbClr val="123B32"/>
                </a:solidFill>
              </a:rPr>
              <a:t>Create model</a:t>
            </a:r>
          </a:p>
          <a:p xmlns:a="http://schemas.openxmlformats.org/drawingml/2006/main">
            <a:pPr>
              <a:buNone/>
              <a:defRPr sz="1950" b="0">
                <a:solidFill>
                  <a:srgbClr val="123B32"/>
                </a:solidFill>
              </a:defRPr>
            </a:pPr>
            <a:r>
              <a:rPr sz="1950" b="0">
                <a:solidFill>
                  <a:srgbClr val="123B32"/>
                </a:solidFill>
              </a:rPr>
              <a:t>representations</a:t>
            </a:r>
          </a:p>
        </p:txBody>
      </p:sp>
      <p:sp>
        <p:nvSpPr>
          <p:cNvPr id="21" name="">
            <a:extLst xmlns:a="http://schemas.openxmlformats.org/drawingml/2006/main">
              <a:ext uri="{FF2B5EF4-FFF2-40B4-BE49-F238E27FC236}">
                <a16:creationId xmlns:a16="http://schemas.microsoft.com/office/drawing/2014/main" id="{5B6F38F8-AF9D-469D-BEEB-947E0C8CE89B}"/>
              </a:ext>
            </a:extLst>
          </p:cNvPr>
          <p:cNvSpPr>
            <a:spLocks xmlns:a="http://schemas.openxmlformats.org/drawingml/2006/main" noGrp="1"/>
          </p:cNvSpPr>
          <p:nvPr/>
        </p:nvSpPr>
        <p:spPr>
          <a:xfrm xmlns:a="http://schemas.openxmlformats.org/drawingml/2006/main">
            <a:off x="609600" y="4876800"/>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CE5D2"/>
                </a:solidFill>
              </a:defRPr>
            </a:defPPr>
            <a:lvl1pPr>
              <a:buNone/>
              <a:defRPr sz="2025" b="0">
                <a:solidFill>
                  <a:srgbClr val="DCE5D2"/>
                </a:solidFill>
              </a:defRPr>
            </a:lvl1pPr>
            <a:lvl2pPr>
              <a:buNone/>
              <a:defRPr sz="2025" b="0">
                <a:solidFill>
                  <a:srgbClr val="DCE5D2"/>
                </a:solidFill>
              </a:defRPr>
            </a:lvl2pPr>
            <a:lvl3pPr>
              <a:buNone/>
              <a:defRPr sz="2025" b="0">
                <a:solidFill>
                  <a:srgbClr val="DCE5D2"/>
                </a:solidFill>
              </a:defRPr>
            </a:lvl3pPr>
            <a:lvl4pPr>
              <a:buNone/>
              <a:defRPr sz="2025" b="0">
                <a:solidFill>
                  <a:srgbClr val="DCE5D2"/>
                </a:solidFill>
              </a:defRPr>
            </a:lvl4pPr>
            <a:lvl5pPr>
              <a:buNone/>
              <a:defRPr sz="2025" b="0">
                <a:solidFill>
                  <a:srgbClr val="DCE5D2"/>
                </a:solidFill>
              </a:defRPr>
            </a:lvl5pPr>
            <a:lvl6pPr>
              <a:buNone/>
              <a:defRPr sz="2025" b="0">
                <a:solidFill>
                  <a:srgbClr val="DCE5D2"/>
                </a:solidFill>
              </a:defRPr>
            </a:lvl6pPr>
            <a:lvl7pPr>
              <a:buNone/>
              <a:defRPr sz="2025" b="0">
                <a:solidFill>
                  <a:srgbClr val="DCE5D2"/>
                </a:solidFill>
              </a:defRPr>
            </a:lvl7pPr>
            <a:lvl8pPr>
              <a:buNone/>
              <a:defRPr sz="2025" b="0">
                <a:solidFill>
                  <a:srgbClr val="DCE5D2"/>
                </a:solidFill>
              </a:defRPr>
            </a:lvl8pPr>
            <a:lvl9pPr>
              <a:buNone/>
              <a:defRPr sz="2025" b="0">
                <a:solidFill>
                  <a:srgbClr val="DCE5D2"/>
                </a:solidFill>
              </a:defRPr>
            </a:lvl9pPr>
          </a:lstStyle>
          <a:p xmlns:a="http://schemas.openxmlformats.org/drawingml/2006/main">
            <a:pPr>
              <a:buNone/>
              <a:defRPr sz="2025" b="0">
                <a:solidFill>
                  <a:srgbClr val="DCE5D2"/>
                </a:solidFill>
              </a:defRPr>
            </a:pPr>
            <a:r>
              <a:rPr sz="2025" b="0">
                <a:solidFill>
                  <a:srgbClr val="DCE5D2"/>
                </a:solidFill>
              </a:rPr>
              <a:t>S3-compatible object storage in Docker</a:t>
            </a:r>
          </a:p>
        </p:txBody>
      </p:sp>
      <p:sp>
        <p:nvSpPr>
          <p:cNvPr id="22" name="">
            <a:extLst xmlns:a="http://schemas.openxmlformats.org/drawingml/2006/main">
              <a:ext uri="{FF2B5EF4-FFF2-40B4-BE49-F238E27FC236}">
                <a16:creationId xmlns:a16="http://schemas.microsoft.com/office/drawing/2014/main" id="{FD40DBCE-F76B-42CB-9C25-6F9A076C7930}"/>
              </a:ext>
            </a:extLst>
          </p:cNvPr>
          <p:cNvSpPr>
            <a:spLocks xmlns:a="http://schemas.openxmlformats.org/drawingml/2006/main" noGrp="1"/>
          </p:cNvSpPr>
          <p:nvPr/>
        </p:nvSpPr>
        <p:spPr>
          <a:xfrm xmlns:a="http://schemas.openxmlformats.org/drawingml/2006/main">
            <a:off x="8924925" y="5286375"/>
            <a:ext cx="2514600" cy="61912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23" name="">
            <a:extLst xmlns:a="http://schemas.openxmlformats.org/drawingml/2006/main">
              <a:ext uri="{FF2B5EF4-FFF2-40B4-BE49-F238E27FC236}">
                <a16:creationId xmlns:a16="http://schemas.microsoft.com/office/drawing/2014/main" id="{61E1201C-52B9-4358-A22A-F646881D5BE8}"/>
              </a:ext>
            </a:extLst>
          </p:cNvPr>
          <p:cNvSpPr>
            <a:spLocks xmlns:a="http://schemas.openxmlformats.org/drawingml/2006/main" noGrp="1"/>
          </p:cNvSpPr>
          <p:nvPr/>
        </p:nvSpPr>
        <p:spPr>
          <a:xfrm xmlns:a="http://schemas.openxmlformats.org/drawingml/2006/main">
            <a:off x="9086850" y="543877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buNone/>
              <a:defRPr sz="1950" b="1">
                <a:solidFill>
                  <a:srgbClr val="123B32"/>
                </a:solidFill>
              </a:defRPr>
            </a:lvl1pPr>
            <a:lvl2pPr>
              <a:buNone/>
              <a:defRPr sz="1950" b="1">
                <a:solidFill>
                  <a:srgbClr val="123B32"/>
                </a:solidFill>
              </a:defRPr>
            </a:lvl2pPr>
            <a:lvl3pPr>
              <a:buNone/>
              <a:defRPr sz="1950" b="1">
                <a:solidFill>
                  <a:srgbClr val="123B32"/>
                </a:solidFill>
              </a:defRPr>
            </a:lvl3pPr>
            <a:lvl4pPr>
              <a:buNone/>
              <a:defRPr sz="1950" b="1">
                <a:solidFill>
                  <a:srgbClr val="123B32"/>
                </a:solidFill>
              </a:defRPr>
            </a:lvl4pPr>
            <a:lvl5pPr>
              <a:buNone/>
              <a:defRPr sz="1950" b="1">
                <a:solidFill>
                  <a:srgbClr val="123B32"/>
                </a:solidFill>
              </a:defRPr>
            </a:lvl5pPr>
            <a:lvl6pPr>
              <a:buNone/>
              <a:defRPr sz="1950" b="1">
                <a:solidFill>
                  <a:srgbClr val="123B32"/>
                </a:solidFill>
              </a:defRPr>
            </a:lvl6pPr>
            <a:lvl7pPr>
              <a:buNone/>
              <a:defRPr sz="1950" b="1">
                <a:solidFill>
                  <a:srgbClr val="123B32"/>
                </a:solidFill>
              </a:defRPr>
            </a:lvl7pPr>
            <a:lvl8pPr>
              <a:buNone/>
              <a:defRPr sz="1950" b="1">
                <a:solidFill>
                  <a:srgbClr val="123B32"/>
                </a:solidFill>
              </a:defRPr>
            </a:lvl8pPr>
            <a:lvl9pPr>
              <a:buNone/>
              <a:defRPr sz="1950" b="1">
                <a:solidFill>
                  <a:srgbClr val="123B32"/>
                </a:solidFill>
              </a:defRPr>
            </a:lvl9pPr>
          </a:lstStyle>
          <a:p xmlns:a="http://schemas.openxmlformats.org/drawingml/2006/main">
            <a:pPr>
              <a:buNone/>
              <a:defRPr sz="1950" b="1">
                <a:solidFill>
                  <a:srgbClr val="123B32"/>
                </a:solidFill>
              </a:defRPr>
            </a:pPr>
            <a:r>
              <a:rPr sz="1950" b="1">
                <a:solidFill>
                  <a:srgbClr val="123B32"/>
                </a:solidFill>
              </a:rPr>
              <a:t>Query snapshot</a:t>
            </a:r>
          </a:p>
        </p:txBody>
      </p:sp>
      <p:sp>
        <p:nvSpPr>
          <p:cNvPr id="25" name="">
            <a:extLst xmlns:a="http://schemas.openxmlformats.org/drawingml/2006/main">
              <a:ext uri="{FF2B5EF4-FFF2-40B4-BE49-F238E27FC236}">
                <a16:creationId xmlns:a16="http://schemas.microsoft.com/office/drawing/2014/main" id="{0EB4023E-36E4-4481-9CF3-E25076F5BAE5}"/>
              </a:ext>
            </a:extLst>
          </p:cNvPr>
          <p:cNvSpPr>
            <a:spLocks xmlns:a="http://schemas.openxmlformats.org/drawingml/2006/main" noGrp="1"/>
          </p:cNvSpPr>
          <p:nvPr/>
        </p:nvSpPr>
        <p:spPr>
          <a:xfrm xmlns:a="http://schemas.openxmlformats.org/drawingml/2006/main">
            <a:off x="5943600" y="5286375"/>
            <a:ext cx="2514600" cy="6191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26" name="">
            <a:extLst xmlns:a="http://schemas.openxmlformats.org/drawingml/2006/main">
              <a:ext uri="{FF2B5EF4-FFF2-40B4-BE49-F238E27FC236}">
                <a16:creationId xmlns:a16="http://schemas.microsoft.com/office/drawing/2014/main" id="{54B4430D-B6B5-4BB5-9889-17C3A302FBF4}"/>
              </a:ext>
            </a:extLst>
          </p:cNvPr>
          <p:cNvSpPr>
            <a:spLocks xmlns:a="http://schemas.openxmlformats.org/drawingml/2006/main" noGrp="1"/>
          </p:cNvSpPr>
          <p:nvPr/>
        </p:nvSpPr>
        <p:spPr>
          <a:xfrm xmlns:a="http://schemas.openxmlformats.org/drawingml/2006/main">
            <a:off x="6105525" y="5438775"/>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buNone/>
              <a:defRPr sz="1950" b="1">
                <a:solidFill>
                  <a:srgbClr val="123B32"/>
                </a:solidFill>
              </a:defRPr>
            </a:lvl1pPr>
            <a:lvl2pPr>
              <a:buNone/>
              <a:defRPr sz="1950" b="1">
                <a:solidFill>
                  <a:srgbClr val="123B32"/>
                </a:solidFill>
              </a:defRPr>
            </a:lvl2pPr>
            <a:lvl3pPr>
              <a:buNone/>
              <a:defRPr sz="1950" b="1">
                <a:solidFill>
                  <a:srgbClr val="123B32"/>
                </a:solidFill>
              </a:defRPr>
            </a:lvl3pPr>
            <a:lvl4pPr>
              <a:buNone/>
              <a:defRPr sz="1950" b="1">
                <a:solidFill>
                  <a:srgbClr val="123B32"/>
                </a:solidFill>
              </a:defRPr>
            </a:lvl4pPr>
            <a:lvl5pPr>
              <a:buNone/>
              <a:defRPr sz="1950" b="1">
                <a:solidFill>
                  <a:srgbClr val="123B32"/>
                </a:solidFill>
              </a:defRPr>
            </a:lvl5pPr>
            <a:lvl6pPr>
              <a:buNone/>
              <a:defRPr sz="1950" b="1">
                <a:solidFill>
                  <a:srgbClr val="123B32"/>
                </a:solidFill>
              </a:defRPr>
            </a:lvl6pPr>
            <a:lvl7pPr>
              <a:buNone/>
              <a:defRPr sz="1950" b="1">
                <a:solidFill>
                  <a:srgbClr val="123B32"/>
                </a:solidFill>
              </a:defRPr>
            </a:lvl7pPr>
            <a:lvl8pPr>
              <a:buNone/>
              <a:defRPr sz="1950" b="1">
                <a:solidFill>
                  <a:srgbClr val="123B32"/>
                </a:solidFill>
              </a:defRPr>
            </a:lvl8pPr>
            <a:lvl9pPr>
              <a:buNone/>
              <a:defRPr sz="1950" b="1">
                <a:solidFill>
                  <a:srgbClr val="123B32"/>
                </a:solidFill>
              </a:defRPr>
            </a:lvl9pPr>
          </a:lstStyle>
          <a:p xmlns:a="http://schemas.openxmlformats.org/drawingml/2006/main">
            <a:pPr>
              <a:buNone/>
              <a:defRPr sz="1950" b="1">
                <a:solidFill>
                  <a:srgbClr val="123B32"/>
                </a:solidFill>
              </a:defRPr>
            </a:pPr>
            <a:r>
              <a:rPr sz="1950" b="1">
                <a:solidFill>
                  <a:srgbClr val="123B32"/>
                </a:solidFill>
              </a:rPr>
              <a:t>Tasks 1 / 2 / 3</a:t>
            </a:r>
          </a:p>
        </p:txBody>
      </p:sp>
      <p:sp>
        <p:nvSpPr>
          <p:cNvPr id="28" name="">
            <a:extLst xmlns:a="http://schemas.openxmlformats.org/drawingml/2006/main">
              <a:ext uri="{FF2B5EF4-FFF2-40B4-BE49-F238E27FC236}">
                <a16:creationId xmlns:a16="http://schemas.microsoft.com/office/drawing/2014/main" id="{8FA89EB8-065F-4AC7-A292-29EED5BF394E}"/>
              </a:ext>
            </a:extLst>
          </p:cNvPr>
          <p:cNvSpPr>
            <a:spLocks xmlns:a="http://schemas.openxmlformats.org/drawingml/2006/main" noGrp="1"/>
          </p:cNvSpPr>
          <p:nvPr/>
        </p:nvSpPr>
        <p:spPr>
          <a:xfrm xmlns:a="http://schemas.openxmlformats.org/drawingml/2006/main">
            <a:off x="609600" y="5457825"/>
            <a:ext cx="5048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CE5D2"/>
                </a:solidFill>
              </a:defRPr>
            </a:defPPr>
            <a:lvl1pPr>
              <a:buNone/>
              <a:defRPr sz="2025" b="0">
                <a:solidFill>
                  <a:srgbClr val="DCE5D2"/>
                </a:solidFill>
              </a:defRPr>
            </a:lvl1pPr>
            <a:lvl2pPr>
              <a:buNone/>
              <a:defRPr sz="2025" b="0">
                <a:solidFill>
                  <a:srgbClr val="DCE5D2"/>
                </a:solidFill>
              </a:defRPr>
            </a:lvl2pPr>
            <a:lvl3pPr>
              <a:buNone/>
              <a:defRPr sz="2025" b="0">
                <a:solidFill>
                  <a:srgbClr val="DCE5D2"/>
                </a:solidFill>
              </a:defRPr>
            </a:lvl3pPr>
            <a:lvl4pPr>
              <a:buNone/>
              <a:defRPr sz="2025" b="0">
                <a:solidFill>
                  <a:srgbClr val="DCE5D2"/>
                </a:solidFill>
              </a:defRPr>
            </a:lvl4pPr>
            <a:lvl5pPr>
              <a:buNone/>
              <a:defRPr sz="2025" b="0">
                <a:solidFill>
                  <a:srgbClr val="DCE5D2"/>
                </a:solidFill>
              </a:defRPr>
            </a:lvl5pPr>
            <a:lvl6pPr>
              <a:buNone/>
              <a:defRPr sz="2025" b="0">
                <a:solidFill>
                  <a:srgbClr val="DCE5D2"/>
                </a:solidFill>
              </a:defRPr>
            </a:lvl6pPr>
            <a:lvl7pPr>
              <a:buNone/>
              <a:defRPr sz="2025" b="0">
                <a:solidFill>
                  <a:srgbClr val="DCE5D2"/>
                </a:solidFill>
              </a:defRPr>
            </a:lvl7pPr>
            <a:lvl8pPr>
              <a:buNone/>
              <a:defRPr sz="2025" b="0">
                <a:solidFill>
                  <a:srgbClr val="DCE5D2"/>
                </a:solidFill>
              </a:defRPr>
            </a:lvl8pPr>
            <a:lvl9pPr>
              <a:buNone/>
              <a:defRPr sz="2025" b="0">
                <a:solidFill>
                  <a:srgbClr val="DCE5D2"/>
                </a:solidFill>
              </a:defRPr>
            </a:lvl9pPr>
          </a:lstStyle>
          <a:p xmlns:a="http://schemas.openxmlformats.org/drawingml/2006/main">
            <a:pPr>
              <a:buNone/>
              <a:defRPr sz="2025" b="0">
                <a:solidFill>
                  <a:srgbClr val="DCE5D2"/>
                </a:solidFill>
              </a:defRPr>
            </a:pPr>
            <a:r>
              <a:rPr sz="2025" b="0">
                <a:solidFill>
                  <a:srgbClr val="DCE5D2"/>
                </a:solidFill>
              </a:rPr>
              <a:t>Source keys, hashes and policies</a:t>
            </a:r>
          </a:p>
          <a:p xmlns:a="http://schemas.openxmlformats.org/drawingml/2006/main">
            <a:pPr>
              <a:buNone/>
              <a:defRPr sz="2025" b="0">
                <a:solidFill>
                  <a:srgbClr val="DCE5D2"/>
                </a:solidFill>
              </a:defRPr>
            </a:pPr>
            <a:r>
              <a:rPr sz="2025" b="0">
                <a:solidFill>
                  <a:srgbClr val="DCE5D2"/>
                </a:solidFill>
              </a:rPr>
              <a:t>travel with each asset</a:t>
            </a:r>
          </a:p>
        </p:txBody>
      </p:sp>
      <p:sp>
        <p:nvSpPr>
          <p:cNvPr id="29" name="">
            <a:extLst xmlns:a="http://schemas.openxmlformats.org/drawingml/2006/main">
              <a:ext uri="{FF2B5EF4-FFF2-40B4-BE49-F238E27FC236}">
                <a16:creationId xmlns:a16="http://schemas.microsoft.com/office/drawing/2014/main" id="{29BF76F9-05B0-478E-97B9-DA88C526A208}"/>
              </a:ext>
            </a:extLst>
          </p:cNvPr>
          <p:cNvSpPr>
            <a:spLocks xmlns:a="http://schemas.openxmlformats.org/drawingml/2006/main" noGrp="1"/>
          </p:cNvSpPr>
          <p:nvPr/>
        </p:nvSpPr>
        <p:spPr>
          <a:xfrm xmlns:a="http://schemas.openxmlformats.org/drawingml/2006/main">
            <a:off x="8924925" y="4762500"/>
            <a:ext cx="2428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DCE5D2"/>
                </a:solidFill>
              </a:defRPr>
            </a:defPPr>
            <a:lvl1pPr>
              <a:buNone/>
              <a:defRPr sz="2025" b="0">
                <a:solidFill>
                  <a:srgbClr val="DCE5D2"/>
                </a:solidFill>
              </a:defRPr>
            </a:lvl1pPr>
            <a:lvl2pPr>
              <a:buNone/>
              <a:defRPr sz="2025" b="0">
                <a:solidFill>
                  <a:srgbClr val="DCE5D2"/>
                </a:solidFill>
              </a:defRPr>
            </a:lvl2pPr>
            <a:lvl3pPr>
              <a:buNone/>
              <a:defRPr sz="2025" b="0">
                <a:solidFill>
                  <a:srgbClr val="DCE5D2"/>
                </a:solidFill>
              </a:defRPr>
            </a:lvl3pPr>
            <a:lvl4pPr>
              <a:buNone/>
              <a:defRPr sz="2025" b="0">
                <a:solidFill>
                  <a:srgbClr val="DCE5D2"/>
                </a:solidFill>
              </a:defRPr>
            </a:lvl4pPr>
            <a:lvl5pPr>
              <a:buNone/>
              <a:defRPr sz="2025" b="0">
                <a:solidFill>
                  <a:srgbClr val="DCE5D2"/>
                </a:solidFill>
              </a:defRPr>
            </a:lvl5pPr>
            <a:lvl6pPr>
              <a:buNone/>
              <a:defRPr sz="2025" b="0">
                <a:solidFill>
                  <a:srgbClr val="DCE5D2"/>
                </a:solidFill>
              </a:defRPr>
            </a:lvl6pPr>
            <a:lvl7pPr>
              <a:buNone/>
              <a:defRPr sz="2025" b="0">
                <a:solidFill>
                  <a:srgbClr val="DCE5D2"/>
                </a:solidFill>
              </a:defRPr>
            </a:lvl7pPr>
            <a:lvl8pPr>
              <a:buNone/>
              <a:defRPr sz="2025" b="0">
                <a:solidFill>
                  <a:srgbClr val="DCE5D2"/>
                </a:solidFill>
              </a:defRPr>
            </a:lvl8pPr>
            <a:lvl9pPr>
              <a:buNone/>
              <a:defRPr sz="2025" b="0">
                <a:solidFill>
                  <a:srgbClr val="DCE5D2"/>
                </a:solidFill>
              </a:defRPr>
            </a:lvl9pPr>
          </a:lstStyle>
          <a:p xmlns:a="http://schemas.openxmlformats.org/drawingml/2006/main">
            <a:pPr>
              <a:buNone/>
              <a:defRPr sz="2025" b="0">
                <a:solidFill>
                  <a:srgbClr val="DCE5D2"/>
                </a:solidFill>
              </a:defRPr>
            </a:pPr>
            <a:r>
              <a:rPr sz="2025" b="0">
                <a:solidFill>
                  <a:srgbClr val="DCE5D2"/>
                </a:solidFill>
              </a:rPr>
              <a:t>Chroma</a:t>
            </a:r>
          </a:p>
        </p:txBody>
      </p:sp>
    </p:spTree>
    <p:extLst>
      <p:ext uri="{BB962C8B-B14F-4D97-AF65-F5344CB8AC3E}">
        <p14:creationId xmlns:p14="http://schemas.microsoft.com/office/powerpoint/2010/main" val="625712860"/>
      </p:ext>
    </p:extLst>
  </p:cSld>
</p:sld>
</file>

<file path=ppt/slides/slide5.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152CFD00-F4D5-4810-AF0E-9A405E794B65}"/>
              </a:ext>
            </a:extLst>
          </p:cNvPr>
          <p:cNvCxnSpPr>
            <a:stCxn xmlns:a="http://schemas.openxmlformats.org/drawingml/2006/main" id="18" idx="2"/>
            <a:endCxn xmlns:a="http://schemas.openxmlformats.org/drawingml/2006/main" id="22" idx="0"/>
          </p:cNvCxnSpPr>
          <p:nvPr/>
        </p:nvCxnSpPr>
        <p:spPr>
          <a:xfrm xmlns:a="http://schemas.openxmlformats.org/drawingml/2006/main">
            <a:off x="1785938" y="5029200"/>
            <a:ext cx="0" cy="190500"/>
          </a:xfrm>
          <a:prstGeom xmlns:a="http://schemas.openxmlformats.org/drawingml/2006/main" prst="straightConnector1">
            <a:avLst/>
          </a:prstGeom>
          <a:ln xmlns:a="http://schemas.openxmlformats.org/drawingml/2006/main" w="14288">
            <a:solidFill>
              <a:srgbClr val="123B32"/>
            </a:solidFill>
            <a:tailEnd type="arrow" w="med" len="med"/>
          </a:ln>
        </p:spPr>
      </p:cxnSp>
      <p:cxnSp>
        <p:nvCxnSpPr>
          <p:cNvPr id="21" name="">
            <a:extLst xmlns:a="http://schemas.openxmlformats.org/drawingml/2006/main">
              <a:ext uri="{FF2B5EF4-FFF2-40B4-BE49-F238E27FC236}">
                <a16:creationId xmlns:a16="http://schemas.microsoft.com/office/drawing/2014/main" id="{A75263BB-6FFD-403B-BFDB-E88B77EF70F1}"/>
              </a:ext>
            </a:extLst>
          </p:cNvPr>
          <p:cNvCxnSpPr>
            <a:stCxn xmlns:a="http://schemas.openxmlformats.org/drawingml/2006/main" id="14" idx="2"/>
            <a:endCxn xmlns:a="http://schemas.openxmlformats.org/drawingml/2006/main" id="18" idx="0"/>
          </p:cNvCxnSpPr>
          <p:nvPr/>
        </p:nvCxnSpPr>
        <p:spPr>
          <a:xfrm xmlns:a="http://schemas.openxmlformats.org/drawingml/2006/main">
            <a:off x="1785938" y="4381500"/>
            <a:ext cx="0" cy="190500"/>
          </a:xfrm>
          <a:prstGeom xmlns:a="http://schemas.openxmlformats.org/drawingml/2006/main" prst="straightConnector1">
            <a:avLst/>
          </a:prstGeom>
          <a:ln xmlns:a="http://schemas.openxmlformats.org/drawingml/2006/main" w="14288">
            <a:solidFill>
              <a:srgbClr val="123B32"/>
            </a:solidFill>
            <a:tailEnd type="arrow" w="med" len="med"/>
          </a:ln>
        </p:spPr>
      </p:cxnSp>
      <p:cxnSp>
        <p:nvCxnSpPr>
          <p:cNvPr id="17" name="">
            <a:extLst xmlns:a="http://schemas.openxmlformats.org/drawingml/2006/main">
              <a:ext uri="{FF2B5EF4-FFF2-40B4-BE49-F238E27FC236}">
                <a16:creationId xmlns:a16="http://schemas.microsoft.com/office/drawing/2014/main" id="{395D857C-A9A7-4F34-9071-0408759FE5F2}"/>
              </a:ext>
            </a:extLst>
          </p:cNvPr>
          <p:cNvCxnSpPr>
            <a:stCxn xmlns:a="http://schemas.openxmlformats.org/drawingml/2006/main" id="10" idx="2"/>
            <a:endCxn xmlns:a="http://schemas.openxmlformats.org/drawingml/2006/main" id="14" idx="0"/>
          </p:cNvCxnSpPr>
          <p:nvPr/>
        </p:nvCxnSpPr>
        <p:spPr>
          <a:xfrm xmlns:a="http://schemas.openxmlformats.org/drawingml/2006/main">
            <a:off x="1785938" y="3733800"/>
            <a:ext cx="0" cy="190500"/>
          </a:xfrm>
          <a:prstGeom xmlns:a="http://schemas.openxmlformats.org/drawingml/2006/main" prst="straightConnector1">
            <a:avLst/>
          </a:prstGeom>
          <a:ln xmlns:a="http://schemas.openxmlformats.org/drawingml/2006/main" w="14288">
            <a:solidFill>
              <a:srgbClr val="123B32"/>
            </a:solidFill>
            <a:tailEnd type="arrow" w="med" len="med"/>
          </a:ln>
        </p:spPr>
      </p:cxnSp>
      <p:cxnSp>
        <p:nvCxnSpPr>
          <p:cNvPr id="13" name="">
            <a:extLst xmlns:a="http://schemas.openxmlformats.org/drawingml/2006/main">
              <a:ext uri="{FF2B5EF4-FFF2-40B4-BE49-F238E27FC236}">
                <a16:creationId xmlns:a16="http://schemas.microsoft.com/office/drawing/2014/main" id="{8CF8D734-923C-49A2-AFE1-3FD784B794CC}"/>
              </a:ext>
            </a:extLst>
          </p:cNvPr>
          <p:cNvCxnSpPr>
            <a:stCxn xmlns:a="http://schemas.openxmlformats.org/drawingml/2006/main" id="6" idx="2"/>
            <a:endCxn xmlns:a="http://schemas.openxmlformats.org/drawingml/2006/main" id="10" idx="0"/>
          </p:cNvCxnSpPr>
          <p:nvPr/>
        </p:nvCxnSpPr>
        <p:spPr>
          <a:xfrm xmlns:a="http://schemas.openxmlformats.org/drawingml/2006/main">
            <a:off x="1785938" y="3086100"/>
            <a:ext cx="0" cy="190500"/>
          </a:xfrm>
          <a:prstGeom xmlns:a="http://schemas.openxmlformats.org/drawingml/2006/main" prst="straightConnector1">
            <a:avLst/>
          </a:prstGeom>
          <a:ln xmlns:a="http://schemas.openxmlformats.org/drawingml/2006/main" w="14288">
            <a:solidFill>
              <a:srgbClr val="123B32"/>
            </a:solidFill>
            <a:tailEnd type="arrow" w="med" len="med"/>
          </a:ln>
        </p:spPr>
      </p:cxnSp>
      <p:cxnSp>
        <p:nvCxnSpPr>
          <p:cNvPr id="9" name="">
            <a:extLst xmlns:a="http://schemas.openxmlformats.org/drawingml/2006/main">
              <a:ext uri="{FF2B5EF4-FFF2-40B4-BE49-F238E27FC236}">
                <a16:creationId xmlns:a16="http://schemas.microsoft.com/office/drawing/2014/main" id="{96105005-1A0C-4527-9048-06FF48BAE0C9}"/>
              </a:ext>
            </a:extLst>
          </p:cNvPr>
          <p:cNvCxnSpPr>
            <a:stCxn xmlns:a="http://schemas.openxmlformats.org/drawingml/2006/main" id="3" idx="2"/>
            <a:endCxn xmlns:a="http://schemas.openxmlformats.org/drawingml/2006/main" id="6" idx="0"/>
          </p:cNvCxnSpPr>
          <p:nvPr/>
        </p:nvCxnSpPr>
        <p:spPr>
          <a:xfrm xmlns:a="http://schemas.openxmlformats.org/drawingml/2006/main">
            <a:off x="1785938" y="2438400"/>
            <a:ext cx="0" cy="190500"/>
          </a:xfrm>
          <a:prstGeom xmlns:a="http://schemas.openxmlformats.org/drawingml/2006/main" prst="straightConnector1">
            <a:avLst/>
          </a:prstGeom>
          <a:ln xmlns:a="http://schemas.openxmlformats.org/drawingml/2006/main" w="14288">
            <a:solidFill>
              <a:srgbClr val="123B32"/>
            </a:solidFill>
            <a:tailEnd type="arrow" w="med" len="med"/>
          </a:ln>
        </p:spPr>
      </p:cxnSp>
      <p:sp>
        <p:nvSpPr>
          <p:cNvPr id="28" name="">
            <a:extLst xmlns:a="http://schemas.openxmlformats.org/drawingml/2006/main">
              <a:ext uri="{FF2B5EF4-FFF2-40B4-BE49-F238E27FC236}">
                <a16:creationId xmlns:a16="http://schemas.microsoft.com/office/drawing/2014/main" id="{2035BBA0-B46C-4ACE-B41A-8B8870FF9E63}"/>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defRPr sz="3375" b="1">
                <a:solidFill>
                  <a:srgbClr val="123B32"/>
                </a:solidFill>
              </a:defRPr>
            </a:lvl1pPr>
            <a:lvl2pPr>
              <a:defRPr sz="3375" b="1">
                <a:solidFill>
                  <a:srgbClr val="123B32"/>
                </a:solidFill>
              </a:defRPr>
            </a:lvl2pPr>
            <a:lvl3pPr>
              <a:defRPr sz="3375" b="1">
                <a:solidFill>
                  <a:srgbClr val="123B32"/>
                </a:solidFill>
              </a:defRPr>
            </a:lvl3pPr>
            <a:lvl4pPr>
              <a:defRPr sz="3375" b="1">
                <a:solidFill>
                  <a:srgbClr val="123B32"/>
                </a:solidFill>
              </a:defRPr>
            </a:lvl4pPr>
            <a:lvl5pPr>
              <a:defRPr sz="3375" b="1">
                <a:solidFill>
                  <a:srgbClr val="123B32"/>
                </a:solidFill>
              </a:defRPr>
            </a:lvl5pPr>
            <a:lvl6pPr>
              <a:defRPr sz="3375" b="1">
                <a:solidFill>
                  <a:srgbClr val="123B32"/>
                </a:solidFill>
              </a:defRPr>
            </a:lvl6pPr>
            <a:lvl7pPr>
              <a:defRPr sz="3375" b="1">
                <a:solidFill>
                  <a:srgbClr val="123B32"/>
                </a:solidFill>
              </a:defRPr>
            </a:lvl7pPr>
            <a:lvl8pPr>
              <a:defRPr sz="3375" b="1">
                <a:solidFill>
                  <a:srgbClr val="123B32"/>
                </a:solidFill>
              </a:defRPr>
            </a:lvl8pPr>
            <a:lvl9pPr>
              <a:defRPr sz="3375" b="1">
                <a:solidFill>
                  <a:srgbClr val="123B32"/>
                </a:solidFill>
              </a:defRPr>
            </a:lvl9pPr>
          </a:lstStyle>
          <a:p xmlns:a="http://schemas.openxmlformats.org/drawingml/2006/main">
            <a:pPr>
              <a:defRPr sz="3375" b="1">
                <a:solidFill>
                  <a:srgbClr val="123B32"/>
                </a:solidFill>
              </a:defRPr>
            </a:pPr>
            <a:r>
              <a:rPr sz="3375" b="1">
                <a:solidFill>
                  <a:srgbClr val="123B32"/>
                </a:solidFill>
              </a:rPr>
              <a:t>The 16 steps in order</a:t>
            </a:r>
          </a:p>
        </p:txBody>
      </p:sp>
      <p:sp>
        <p:nvSpPr>
          <p:cNvPr id="2" name="">
            <a:extLst xmlns:a="http://schemas.openxmlformats.org/drawingml/2006/main">
              <a:ext uri="{FF2B5EF4-FFF2-40B4-BE49-F238E27FC236}">
                <a16:creationId xmlns:a16="http://schemas.microsoft.com/office/drawing/2014/main" id="{26D5D1B0-EB1E-4AEE-B441-BC541AAD54B3}"/>
              </a:ext>
            </a:extLst>
          </p:cNvPr>
          <p:cNvSpPr>
            <a:spLocks xmlns:a="http://schemas.openxmlformats.org/drawingml/2006/main" noGrp="1"/>
          </p:cNvSpPr>
          <p:nvPr/>
        </p:nvSpPr>
        <p:spPr>
          <a:xfrm xmlns:a="http://schemas.openxmlformats.org/drawingml/2006/main">
            <a:off x="619125" y="14097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85D35"/>
                </a:solidFill>
              </a:defRPr>
            </a:defPPr>
            <a:lvl1pPr>
              <a:defRPr sz="2175" b="1">
                <a:solidFill>
                  <a:srgbClr val="B85D35"/>
                </a:solidFill>
              </a:defRPr>
            </a:lvl1pPr>
            <a:lvl2pPr>
              <a:defRPr sz="2175" b="1">
                <a:solidFill>
                  <a:srgbClr val="B85D35"/>
                </a:solidFill>
              </a:defRPr>
            </a:lvl2pPr>
            <a:lvl3pPr>
              <a:defRPr sz="2175" b="1">
                <a:solidFill>
                  <a:srgbClr val="B85D35"/>
                </a:solidFill>
              </a:defRPr>
            </a:lvl3pPr>
            <a:lvl4pPr>
              <a:defRPr sz="2175" b="1">
                <a:solidFill>
                  <a:srgbClr val="B85D35"/>
                </a:solidFill>
              </a:defRPr>
            </a:lvl4pPr>
            <a:lvl5pPr>
              <a:defRPr sz="2175" b="1">
                <a:solidFill>
                  <a:srgbClr val="B85D35"/>
                </a:solidFill>
              </a:defRPr>
            </a:lvl5pPr>
            <a:lvl6pPr>
              <a:defRPr sz="2175" b="1">
                <a:solidFill>
                  <a:srgbClr val="B85D35"/>
                </a:solidFill>
              </a:defRPr>
            </a:lvl6pPr>
            <a:lvl7pPr>
              <a:defRPr sz="2175" b="1">
                <a:solidFill>
                  <a:srgbClr val="B85D35"/>
                </a:solidFill>
              </a:defRPr>
            </a:lvl7pPr>
            <a:lvl8pPr>
              <a:defRPr sz="2175" b="1">
                <a:solidFill>
                  <a:srgbClr val="B85D35"/>
                </a:solidFill>
              </a:defRPr>
            </a:lvl8pPr>
            <a:lvl9pPr>
              <a:defRPr sz="2175" b="1">
                <a:solidFill>
                  <a:srgbClr val="B85D35"/>
                </a:solidFill>
              </a:defRPr>
            </a:lvl9pPr>
          </a:lstStyle>
          <a:p xmlns:a="http://schemas.openxmlformats.org/drawingml/2006/main">
            <a:pPr>
              <a:defRPr sz="2175" b="1">
                <a:solidFill>
                  <a:srgbClr val="B85D35"/>
                </a:solidFill>
              </a:defRPr>
            </a:pPr>
            <a:r>
              <a:rPr sz="2175" b="1">
                <a:solidFill>
                  <a:srgbClr val="B85D35"/>
                </a:solidFill>
              </a:rPr>
              <a:t>Sequential execution. A failure stops the later steps.</a:t>
            </a:r>
          </a:p>
        </p:txBody>
      </p:sp>
      <p:sp>
        <p:nvSpPr>
          <p:cNvPr id="3" name="">
            <a:extLst xmlns:a="http://schemas.openxmlformats.org/drawingml/2006/main">
              <a:ext uri="{FF2B5EF4-FFF2-40B4-BE49-F238E27FC236}">
                <a16:creationId xmlns:a16="http://schemas.microsoft.com/office/drawing/2014/main" id="{FD25968E-3625-4132-B9EF-74771E074DE9}"/>
              </a:ext>
            </a:extLst>
          </p:cNvPr>
          <p:cNvSpPr>
            <a:spLocks xmlns:a="http://schemas.openxmlformats.org/drawingml/2006/main" noGrp="1"/>
          </p:cNvSpPr>
          <p:nvPr/>
        </p:nvSpPr>
        <p:spPr>
          <a:xfrm xmlns:a="http://schemas.openxmlformats.org/drawingml/2006/main">
            <a:off x="619125" y="1981200"/>
            <a:ext cx="2333625" cy="457200"/>
          </a:xfrm>
          <a:prstGeom xmlns:a="http://schemas.openxmlformats.org/drawingml/2006/main" prst="rect">
            <a:avLst/>
          </a:prstGeom>
          <a:solidFill xmlns:a="http://schemas.openxmlformats.org/drawingml/2006/main">
            <a:srgbClr val="DCE5D2"/>
          </a:solidFill>
          <a:ln xmlns:a="http://schemas.openxmlformats.org/drawingml/2006/main" w="9525">
            <a:solidFill>
              <a:srgbClr val="123B32"/>
            </a:solidFill>
          </a:ln>
        </p:spPr>
      </p:sp>
      <p:sp>
        <p:nvSpPr>
          <p:cNvPr id="4" name="">
            <a:extLst xmlns:a="http://schemas.openxmlformats.org/drawingml/2006/main">
              <a:ext uri="{FF2B5EF4-FFF2-40B4-BE49-F238E27FC236}">
                <a16:creationId xmlns:a16="http://schemas.microsoft.com/office/drawing/2014/main" id="{D7741ADF-7039-4172-9271-6BA040EA9D61}"/>
              </a:ext>
            </a:extLst>
          </p:cNvPr>
          <p:cNvSpPr>
            <a:spLocks xmlns:a="http://schemas.openxmlformats.org/drawingml/2006/main" noGrp="1"/>
          </p:cNvSpPr>
          <p:nvPr/>
        </p:nvSpPr>
        <p:spPr>
          <a:xfrm xmlns:a="http://schemas.openxmlformats.org/drawingml/2006/main">
            <a:off x="723900" y="2047875"/>
            <a:ext cx="2133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Storage</a:t>
            </a:r>
          </a:p>
        </p:txBody>
      </p:sp>
      <p:sp>
        <p:nvSpPr>
          <p:cNvPr id="5" name="">
            <a:extLst xmlns:a="http://schemas.openxmlformats.org/drawingml/2006/main">
              <a:ext uri="{FF2B5EF4-FFF2-40B4-BE49-F238E27FC236}">
                <a16:creationId xmlns:a16="http://schemas.microsoft.com/office/drawing/2014/main" id="{2EF5368F-0459-46AC-921E-30BB343BF8FA}"/>
              </a:ext>
            </a:extLst>
          </p:cNvPr>
          <p:cNvSpPr>
            <a:spLocks xmlns:a="http://schemas.openxmlformats.org/drawingml/2006/main" noGrp="1"/>
          </p:cNvSpPr>
          <p:nvPr/>
        </p:nvSpPr>
        <p:spPr>
          <a:xfrm xmlns:a="http://schemas.openxmlformats.org/drawingml/2006/main">
            <a:off x="3257550" y="2047875"/>
            <a:ext cx="823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1  Check connection     2  Create missing buckets</a:t>
            </a:r>
          </a:p>
        </p:txBody>
      </p:sp>
      <p:sp>
        <p:nvSpPr>
          <p:cNvPr id="6" name="">
            <a:extLst xmlns:a="http://schemas.openxmlformats.org/drawingml/2006/main">
              <a:ext uri="{FF2B5EF4-FFF2-40B4-BE49-F238E27FC236}">
                <a16:creationId xmlns:a16="http://schemas.microsoft.com/office/drawing/2014/main" id="{A2B1AE7B-932E-4013-AF4C-1D54139003E5}"/>
              </a:ext>
            </a:extLst>
          </p:cNvPr>
          <p:cNvSpPr>
            <a:spLocks xmlns:a="http://schemas.openxmlformats.org/drawingml/2006/main" noGrp="1"/>
          </p:cNvSpPr>
          <p:nvPr/>
        </p:nvSpPr>
        <p:spPr>
          <a:xfrm xmlns:a="http://schemas.openxmlformats.org/drawingml/2006/main">
            <a:off x="619125" y="2628900"/>
            <a:ext cx="2333625" cy="457200"/>
          </a:xfrm>
          <a:prstGeom xmlns:a="http://schemas.openxmlformats.org/drawingml/2006/main" prst="rect">
            <a:avLst/>
          </a:prstGeom>
          <a:solidFill xmlns:a="http://schemas.openxmlformats.org/drawingml/2006/main">
            <a:srgbClr val="DCE5D2"/>
          </a:solidFill>
          <a:ln xmlns:a="http://schemas.openxmlformats.org/drawingml/2006/main" w="9525">
            <a:solidFill>
              <a:srgbClr val="123B32"/>
            </a:solidFill>
          </a:ln>
        </p:spPr>
      </p:sp>
      <p:sp>
        <p:nvSpPr>
          <p:cNvPr id="7" name="">
            <a:extLst xmlns:a="http://schemas.openxmlformats.org/drawingml/2006/main">
              <a:ext uri="{FF2B5EF4-FFF2-40B4-BE49-F238E27FC236}">
                <a16:creationId xmlns:a16="http://schemas.microsoft.com/office/drawing/2014/main" id="{626FAF8D-F191-447C-8D40-DF1727D96351}"/>
              </a:ext>
            </a:extLst>
          </p:cNvPr>
          <p:cNvSpPr>
            <a:spLocks xmlns:a="http://schemas.openxmlformats.org/drawingml/2006/main" noGrp="1"/>
          </p:cNvSpPr>
          <p:nvPr/>
        </p:nvSpPr>
        <p:spPr>
          <a:xfrm xmlns:a="http://schemas.openxmlformats.org/drawingml/2006/main">
            <a:off x="723900" y="2695575"/>
            <a:ext cx="2133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Landing</a:t>
            </a:r>
          </a:p>
        </p:txBody>
      </p:sp>
      <p:sp>
        <p:nvSpPr>
          <p:cNvPr id="8" name="">
            <a:extLst xmlns:a="http://schemas.openxmlformats.org/drawingml/2006/main">
              <a:ext uri="{FF2B5EF4-FFF2-40B4-BE49-F238E27FC236}">
                <a16:creationId xmlns:a16="http://schemas.microsoft.com/office/drawing/2014/main" id="{DB20F0CA-FE22-42D5-BB58-431B2FF0E320}"/>
              </a:ext>
            </a:extLst>
          </p:cNvPr>
          <p:cNvSpPr>
            <a:spLocks xmlns:a="http://schemas.openxmlformats.org/drawingml/2006/main" noGrp="1"/>
          </p:cNvSpPr>
          <p:nvPr/>
        </p:nvSpPr>
        <p:spPr>
          <a:xfrm xmlns:a="http://schemas.openxmlformats.org/drawingml/2006/main">
            <a:off x="3257550" y="2695575"/>
            <a:ext cx="823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3  Ingest local files     4  Copy and verify originals</a:t>
            </a:r>
          </a:p>
        </p:txBody>
      </p:sp>
      <p:sp>
        <p:nvSpPr>
          <p:cNvPr id="10" name="">
            <a:extLst xmlns:a="http://schemas.openxmlformats.org/drawingml/2006/main">
              <a:ext uri="{FF2B5EF4-FFF2-40B4-BE49-F238E27FC236}">
                <a16:creationId xmlns:a16="http://schemas.microsoft.com/office/drawing/2014/main" id="{8388F0D2-FD45-4FFC-BC95-86EAC6876112}"/>
              </a:ext>
            </a:extLst>
          </p:cNvPr>
          <p:cNvSpPr>
            <a:spLocks xmlns:a="http://schemas.openxmlformats.org/drawingml/2006/main" noGrp="1"/>
          </p:cNvSpPr>
          <p:nvPr/>
        </p:nvSpPr>
        <p:spPr>
          <a:xfrm xmlns:a="http://schemas.openxmlformats.org/drawingml/2006/main">
            <a:off x="619125" y="3276600"/>
            <a:ext cx="2333625" cy="457200"/>
          </a:xfrm>
          <a:prstGeom xmlns:a="http://schemas.openxmlformats.org/drawingml/2006/main" prst="rect">
            <a:avLst/>
          </a:prstGeom>
          <a:solidFill xmlns:a="http://schemas.openxmlformats.org/drawingml/2006/main">
            <a:srgbClr val="DCE5D2"/>
          </a:solidFill>
          <a:ln xmlns:a="http://schemas.openxmlformats.org/drawingml/2006/main" w="9525">
            <a:solidFill>
              <a:srgbClr val="123B32"/>
            </a:solidFill>
          </a:ln>
        </p:spPr>
      </p:sp>
      <p:sp>
        <p:nvSpPr>
          <p:cNvPr id="11" name="">
            <a:extLst xmlns:a="http://schemas.openxmlformats.org/drawingml/2006/main">
              <a:ext uri="{FF2B5EF4-FFF2-40B4-BE49-F238E27FC236}">
                <a16:creationId xmlns:a16="http://schemas.microsoft.com/office/drawing/2014/main" id="{1B3F2703-BAE2-4C4C-A7BE-C5996E2F5673}"/>
              </a:ext>
            </a:extLst>
          </p:cNvPr>
          <p:cNvSpPr>
            <a:spLocks xmlns:a="http://schemas.openxmlformats.org/drawingml/2006/main" noGrp="1"/>
          </p:cNvSpPr>
          <p:nvPr/>
        </p:nvSpPr>
        <p:spPr>
          <a:xfrm xmlns:a="http://schemas.openxmlformats.org/drawingml/2006/main">
            <a:off x="723900" y="3343275"/>
            <a:ext cx="2133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Formatted</a:t>
            </a:r>
          </a:p>
        </p:txBody>
      </p:sp>
      <p:sp>
        <p:nvSpPr>
          <p:cNvPr id="12" name="">
            <a:extLst xmlns:a="http://schemas.openxmlformats.org/drawingml/2006/main">
              <a:ext uri="{FF2B5EF4-FFF2-40B4-BE49-F238E27FC236}">
                <a16:creationId xmlns:a16="http://schemas.microsoft.com/office/drawing/2014/main" id="{119399CC-1E45-4F11-842D-DD41A846FB8B}"/>
              </a:ext>
            </a:extLst>
          </p:cNvPr>
          <p:cNvSpPr>
            <a:spLocks xmlns:a="http://schemas.openxmlformats.org/drawingml/2006/main" noGrp="1"/>
          </p:cNvSpPr>
          <p:nvPr/>
        </p:nvSpPr>
        <p:spPr>
          <a:xfrm xmlns:a="http://schemas.openxmlformats.org/drawingml/2006/main">
            <a:off x="3257550" y="3343275"/>
            <a:ext cx="823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5  Images     6  Audio     7  Text</a:t>
            </a:r>
          </a:p>
        </p:txBody>
      </p:sp>
      <p:sp>
        <p:nvSpPr>
          <p:cNvPr id="14" name="">
            <a:extLst xmlns:a="http://schemas.openxmlformats.org/drawingml/2006/main">
              <a:ext uri="{FF2B5EF4-FFF2-40B4-BE49-F238E27FC236}">
                <a16:creationId xmlns:a16="http://schemas.microsoft.com/office/drawing/2014/main" id="{9212DF3B-90FD-466A-AC19-A9EB704ED8A4}"/>
              </a:ext>
            </a:extLst>
          </p:cNvPr>
          <p:cNvSpPr>
            <a:spLocks xmlns:a="http://schemas.openxmlformats.org/drawingml/2006/main" noGrp="1"/>
          </p:cNvSpPr>
          <p:nvPr/>
        </p:nvSpPr>
        <p:spPr>
          <a:xfrm xmlns:a="http://schemas.openxmlformats.org/drawingml/2006/main">
            <a:off x="619125" y="3924300"/>
            <a:ext cx="2333625" cy="457200"/>
          </a:xfrm>
          <a:prstGeom xmlns:a="http://schemas.openxmlformats.org/drawingml/2006/main" prst="rect">
            <a:avLst/>
          </a:prstGeom>
          <a:solidFill xmlns:a="http://schemas.openxmlformats.org/drawingml/2006/main">
            <a:srgbClr val="DCE5D2"/>
          </a:solidFill>
          <a:ln xmlns:a="http://schemas.openxmlformats.org/drawingml/2006/main" w="9525">
            <a:solidFill>
              <a:srgbClr val="123B32"/>
            </a:solidFill>
          </a:ln>
        </p:spPr>
      </p:sp>
      <p:sp>
        <p:nvSpPr>
          <p:cNvPr id="15" name="">
            <a:extLst xmlns:a="http://schemas.openxmlformats.org/drawingml/2006/main">
              <a:ext uri="{FF2B5EF4-FFF2-40B4-BE49-F238E27FC236}">
                <a16:creationId xmlns:a16="http://schemas.microsoft.com/office/drawing/2014/main" id="{3E98FD0E-CE46-433E-97FF-ED9AE7E6A454}"/>
              </a:ext>
            </a:extLst>
          </p:cNvPr>
          <p:cNvSpPr>
            <a:spLocks xmlns:a="http://schemas.openxmlformats.org/drawingml/2006/main" noGrp="1"/>
          </p:cNvSpPr>
          <p:nvPr/>
        </p:nvSpPr>
        <p:spPr>
          <a:xfrm xmlns:a="http://schemas.openxmlformats.org/drawingml/2006/main">
            <a:off x="723900" y="3990975"/>
            <a:ext cx="2133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Trusted</a:t>
            </a:r>
          </a:p>
        </p:txBody>
      </p:sp>
      <p:sp>
        <p:nvSpPr>
          <p:cNvPr id="16" name="">
            <a:extLst xmlns:a="http://schemas.openxmlformats.org/drawingml/2006/main">
              <a:ext uri="{FF2B5EF4-FFF2-40B4-BE49-F238E27FC236}">
                <a16:creationId xmlns:a16="http://schemas.microsoft.com/office/drawing/2014/main" id="{7D78B547-9F48-4EA8-A40A-63D571C5FE8A}"/>
              </a:ext>
            </a:extLst>
          </p:cNvPr>
          <p:cNvSpPr>
            <a:spLocks xmlns:a="http://schemas.openxmlformats.org/drawingml/2006/main" noGrp="1"/>
          </p:cNvSpPr>
          <p:nvPr/>
        </p:nvSpPr>
        <p:spPr>
          <a:xfrm xmlns:a="http://schemas.openxmlformats.org/drawingml/2006/main">
            <a:off x="3257550" y="3990975"/>
            <a:ext cx="823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8  Images     9  Audio     10  Text</a:t>
            </a:r>
          </a:p>
        </p:txBody>
      </p:sp>
      <p:sp>
        <p:nvSpPr>
          <p:cNvPr id="18" name="">
            <a:extLst xmlns:a="http://schemas.openxmlformats.org/drawingml/2006/main">
              <a:ext uri="{FF2B5EF4-FFF2-40B4-BE49-F238E27FC236}">
                <a16:creationId xmlns:a16="http://schemas.microsoft.com/office/drawing/2014/main" id="{AB0065CE-195A-4326-85A5-DE33C9D30B8F}"/>
              </a:ext>
            </a:extLst>
          </p:cNvPr>
          <p:cNvSpPr>
            <a:spLocks xmlns:a="http://schemas.openxmlformats.org/drawingml/2006/main" noGrp="1"/>
          </p:cNvSpPr>
          <p:nvPr/>
        </p:nvSpPr>
        <p:spPr>
          <a:xfrm xmlns:a="http://schemas.openxmlformats.org/drawingml/2006/main">
            <a:off x="619125" y="4572000"/>
            <a:ext cx="2333625" cy="457200"/>
          </a:xfrm>
          <a:prstGeom xmlns:a="http://schemas.openxmlformats.org/drawingml/2006/main" prst="rect">
            <a:avLst/>
          </a:prstGeom>
          <a:solidFill xmlns:a="http://schemas.openxmlformats.org/drawingml/2006/main">
            <a:srgbClr val="DCE5D2"/>
          </a:solidFill>
          <a:ln xmlns:a="http://schemas.openxmlformats.org/drawingml/2006/main" w="9525">
            <a:solidFill>
              <a:srgbClr val="123B32"/>
            </a:solidFill>
          </a:ln>
        </p:spPr>
      </p:sp>
      <p:sp>
        <p:nvSpPr>
          <p:cNvPr id="19" name="">
            <a:extLst xmlns:a="http://schemas.openxmlformats.org/drawingml/2006/main">
              <a:ext uri="{FF2B5EF4-FFF2-40B4-BE49-F238E27FC236}">
                <a16:creationId xmlns:a16="http://schemas.microsoft.com/office/drawing/2014/main" id="{1E0256D3-4FAA-403F-A35A-971A763EB503}"/>
              </a:ext>
            </a:extLst>
          </p:cNvPr>
          <p:cNvSpPr>
            <a:spLocks xmlns:a="http://schemas.openxmlformats.org/drawingml/2006/main" noGrp="1"/>
          </p:cNvSpPr>
          <p:nvPr/>
        </p:nvSpPr>
        <p:spPr>
          <a:xfrm xmlns:a="http://schemas.openxmlformats.org/drawingml/2006/main">
            <a:off x="723900" y="4638675"/>
            <a:ext cx="2133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Exploitation</a:t>
            </a:r>
          </a:p>
        </p:txBody>
      </p:sp>
      <p:sp>
        <p:nvSpPr>
          <p:cNvPr id="20" name="">
            <a:extLst xmlns:a="http://schemas.openxmlformats.org/drawingml/2006/main">
              <a:ext uri="{FF2B5EF4-FFF2-40B4-BE49-F238E27FC236}">
                <a16:creationId xmlns:a16="http://schemas.microsoft.com/office/drawing/2014/main" id="{764F7208-6642-44CC-8278-E6B7A1DCFADA}"/>
              </a:ext>
            </a:extLst>
          </p:cNvPr>
          <p:cNvSpPr>
            <a:spLocks xmlns:a="http://schemas.openxmlformats.org/drawingml/2006/main" noGrp="1"/>
          </p:cNvSpPr>
          <p:nvPr/>
        </p:nvSpPr>
        <p:spPr>
          <a:xfrm xmlns:a="http://schemas.openxmlformats.org/drawingml/2006/main">
            <a:off x="3257550" y="4572000"/>
            <a:ext cx="8239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11  Images     12  Text     13  Audio</a:t>
            </a:r>
          </a:p>
          <a:p xmlns:a="http://schemas.openxmlformats.org/drawingml/2006/main">
            <a:pPr>
              <a:defRPr sz="1950" b="0">
                <a:solidFill>
                  <a:srgbClr val="123B32"/>
                </a:solidFill>
              </a:defRPr>
            </a:pPr>
            <a:r>
              <a:rPr sz="1950" b="0">
                <a:solidFill>
                  <a:srgbClr val="123B32"/>
                </a:solidFill>
              </a:rPr>
              <a:t>14  Image + text     15  Audio + text</a:t>
            </a:r>
          </a:p>
        </p:txBody>
      </p:sp>
      <p:sp>
        <p:nvSpPr>
          <p:cNvPr id="22" name="">
            <a:extLst xmlns:a="http://schemas.openxmlformats.org/drawingml/2006/main">
              <a:ext uri="{FF2B5EF4-FFF2-40B4-BE49-F238E27FC236}">
                <a16:creationId xmlns:a16="http://schemas.microsoft.com/office/drawing/2014/main" id="{0284B7D9-B9D7-4CD9-B8ED-9437F40B40E1}"/>
              </a:ext>
            </a:extLst>
          </p:cNvPr>
          <p:cNvSpPr>
            <a:spLocks xmlns:a="http://schemas.openxmlformats.org/drawingml/2006/main" noGrp="1"/>
          </p:cNvSpPr>
          <p:nvPr/>
        </p:nvSpPr>
        <p:spPr>
          <a:xfrm xmlns:a="http://schemas.openxmlformats.org/drawingml/2006/main">
            <a:off x="619125" y="5219700"/>
            <a:ext cx="2333625" cy="457200"/>
          </a:xfrm>
          <a:prstGeom xmlns:a="http://schemas.openxmlformats.org/drawingml/2006/main" prst="rect">
            <a:avLst/>
          </a:prstGeom>
          <a:solidFill xmlns:a="http://schemas.openxmlformats.org/drawingml/2006/main">
            <a:srgbClr val="DCE5D2"/>
          </a:solidFill>
          <a:ln xmlns:a="http://schemas.openxmlformats.org/drawingml/2006/main" w="9525">
            <a:solidFill>
              <a:srgbClr val="123B32"/>
            </a:solidFill>
          </a:ln>
        </p:spPr>
      </p:sp>
      <p:sp>
        <p:nvSpPr>
          <p:cNvPr id="23" name="">
            <a:extLst xmlns:a="http://schemas.openxmlformats.org/drawingml/2006/main">
              <a:ext uri="{FF2B5EF4-FFF2-40B4-BE49-F238E27FC236}">
                <a16:creationId xmlns:a16="http://schemas.microsoft.com/office/drawing/2014/main" id="{F238796B-905A-47E1-BA37-B5F4AB6689E1}"/>
              </a:ext>
            </a:extLst>
          </p:cNvPr>
          <p:cNvSpPr>
            <a:spLocks xmlns:a="http://schemas.openxmlformats.org/drawingml/2006/main" noGrp="1"/>
          </p:cNvSpPr>
          <p:nvPr/>
        </p:nvSpPr>
        <p:spPr>
          <a:xfrm xmlns:a="http://schemas.openxmlformats.org/drawingml/2006/main">
            <a:off x="723900" y="5286375"/>
            <a:ext cx="2133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defRPr sz="1950" b="1">
                <a:solidFill>
                  <a:srgbClr val="123B32"/>
                </a:solidFill>
              </a:defRPr>
            </a:lvl1pPr>
            <a:lvl2pPr>
              <a:defRPr sz="1950" b="1">
                <a:solidFill>
                  <a:srgbClr val="123B32"/>
                </a:solidFill>
              </a:defRPr>
            </a:lvl2pPr>
            <a:lvl3pPr>
              <a:defRPr sz="1950" b="1">
                <a:solidFill>
                  <a:srgbClr val="123B32"/>
                </a:solidFill>
              </a:defRPr>
            </a:lvl3pPr>
            <a:lvl4pPr>
              <a:defRPr sz="1950" b="1">
                <a:solidFill>
                  <a:srgbClr val="123B32"/>
                </a:solidFill>
              </a:defRPr>
            </a:lvl4pPr>
            <a:lvl5pPr>
              <a:defRPr sz="1950" b="1">
                <a:solidFill>
                  <a:srgbClr val="123B32"/>
                </a:solidFill>
              </a:defRPr>
            </a:lvl5pPr>
            <a:lvl6pPr>
              <a:defRPr sz="1950" b="1">
                <a:solidFill>
                  <a:srgbClr val="123B32"/>
                </a:solidFill>
              </a:defRPr>
            </a:lvl6pPr>
            <a:lvl7pPr>
              <a:defRPr sz="1950" b="1">
                <a:solidFill>
                  <a:srgbClr val="123B32"/>
                </a:solidFill>
              </a:defRPr>
            </a:lvl7pPr>
            <a:lvl8pPr>
              <a:defRPr sz="1950" b="1">
                <a:solidFill>
                  <a:srgbClr val="123B32"/>
                </a:solidFill>
              </a:defRPr>
            </a:lvl8pPr>
            <a:lvl9pPr>
              <a:defRPr sz="1950" b="1">
                <a:solidFill>
                  <a:srgbClr val="123B32"/>
                </a:solidFill>
              </a:defRPr>
            </a:lvl9pPr>
          </a:lstStyle>
          <a:p xmlns:a="http://schemas.openxmlformats.org/drawingml/2006/main">
            <a:pPr>
              <a:defRPr sz="1950" b="1">
                <a:solidFill>
                  <a:srgbClr val="123B32"/>
                </a:solidFill>
              </a:defRPr>
            </a:pPr>
            <a:r>
              <a:rPr sz="1950" b="1">
                <a:solidFill>
                  <a:srgbClr val="123B32"/>
                </a:solidFill>
              </a:rPr>
              <a:t>Verification</a:t>
            </a:r>
          </a:p>
        </p:txBody>
      </p:sp>
      <p:sp>
        <p:nvSpPr>
          <p:cNvPr id="24" name="">
            <a:extLst xmlns:a="http://schemas.openxmlformats.org/drawingml/2006/main">
              <a:ext uri="{FF2B5EF4-FFF2-40B4-BE49-F238E27FC236}">
                <a16:creationId xmlns:a16="http://schemas.microsoft.com/office/drawing/2014/main" id="{40F83A0E-3381-40EF-A30A-2F61A9BFC3AA}"/>
              </a:ext>
            </a:extLst>
          </p:cNvPr>
          <p:cNvSpPr>
            <a:spLocks xmlns:a="http://schemas.openxmlformats.org/drawingml/2006/main" noGrp="1"/>
          </p:cNvSpPr>
          <p:nvPr/>
        </p:nvSpPr>
        <p:spPr>
          <a:xfrm xmlns:a="http://schemas.openxmlformats.org/drawingml/2006/main">
            <a:off x="3257550" y="5286375"/>
            <a:ext cx="823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23B32"/>
                </a:solidFill>
              </a:defRPr>
            </a:defPPr>
            <a:lvl1pPr>
              <a:defRPr sz="1950" b="0">
                <a:solidFill>
                  <a:srgbClr val="123B32"/>
                </a:solidFill>
              </a:defRPr>
            </a:lvl1pPr>
            <a:lvl2pPr>
              <a:defRPr sz="1950" b="0">
                <a:solidFill>
                  <a:srgbClr val="123B32"/>
                </a:solidFill>
              </a:defRPr>
            </a:lvl2pPr>
            <a:lvl3pPr>
              <a:defRPr sz="1950" b="0">
                <a:solidFill>
                  <a:srgbClr val="123B32"/>
                </a:solidFill>
              </a:defRPr>
            </a:lvl3pPr>
            <a:lvl4pPr>
              <a:defRPr sz="1950" b="0">
                <a:solidFill>
                  <a:srgbClr val="123B32"/>
                </a:solidFill>
              </a:defRPr>
            </a:lvl4pPr>
            <a:lvl5pPr>
              <a:defRPr sz="1950" b="0">
                <a:solidFill>
                  <a:srgbClr val="123B32"/>
                </a:solidFill>
              </a:defRPr>
            </a:lvl5pPr>
            <a:lvl6pPr>
              <a:defRPr sz="1950" b="0">
                <a:solidFill>
                  <a:srgbClr val="123B32"/>
                </a:solidFill>
              </a:defRPr>
            </a:lvl6pPr>
            <a:lvl7pPr>
              <a:defRPr sz="1950" b="0">
                <a:solidFill>
                  <a:srgbClr val="123B32"/>
                </a:solidFill>
              </a:defRPr>
            </a:lvl7pPr>
            <a:lvl8pPr>
              <a:defRPr sz="1950" b="0">
                <a:solidFill>
                  <a:srgbClr val="123B32"/>
                </a:solidFill>
              </a:defRPr>
            </a:lvl8pPr>
            <a:lvl9pPr>
              <a:defRPr sz="1950" b="0">
                <a:solidFill>
                  <a:srgbClr val="123B32"/>
                </a:solidFill>
              </a:defRPr>
            </a:lvl9pPr>
          </a:lstStyle>
          <a:p xmlns:a="http://schemas.openxmlformats.org/drawingml/2006/main">
            <a:pPr>
              <a:defRPr sz="1950" b="0">
                <a:solidFill>
                  <a:srgbClr val="123B32"/>
                </a:solidFill>
              </a:defRPr>
            </a:pPr>
            <a:r>
              <a:rPr sz="1950" b="0">
                <a:solidFill>
                  <a:srgbClr val="123B32"/>
                </a:solidFill>
              </a:rPr>
              <a:t>16  Check accepted files against vector parts</a:t>
            </a:r>
          </a:p>
        </p:txBody>
      </p:sp>
      <p:sp>
        <p:nvSpPr>
          <p:cNvPr id="26" name="">
            <a:extLst xmlns:a="http://schemas.openxmlformats.org/drawingml/2006/main">
              <a:ext uri="{FF2B5EF4-FFF2-40B4-BE49-F238E27FC236}">
                <a16:creationId xmlns:a16="http://schemas.microsoft.com/office/drawing/2014/main" id="{879A9A23-7BDB-4B62-9A9E-02524BD014F7}"/>
              </a:ext>
            </a:extLst>
          </p:cNvPr>
          <p:cNvSpPr>
            <a:spLocks xmlns:a="http://schemas.openxmlformats.org/drawingml/2006/main" noGrp="1"/>
          </p:cNvSpPr>
          <p:nvPr/>
        </p:nvSpPr>
        <p:spPr>
          <a:xfrm xmlns:a="http://schemas.openxmlformats.org/drawingml/2006/main">
            <a:off x="619125" y="60960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defRPr sz="1800" b="0">
                <a:solidFill>
                  <a:srgbClr val="52675C"/>
                </a:solidFill>
              </a:defRPr>
            </a:lvl1pPr>
            <a:lvl2pPr>
              <a:defRPr sz="1800" b="0">
                <a:solidFill>
                  <a:srgbClr val="52675C"/>
                </a:solidFill>
              </a:defRPr>
            </a:lvl2pPr>
            <a:lvl3pPr>
              <a:defRPr sz="1800" b="0">
                <a:solidFill>
                  <a:srgbClr val="52675C"/>
                </a:solidFill>
              </a:defRPr>
            </a:lvl3pPr>
            <a:lvl4pPr>
              <a:defRPr sz="1800" b="0">
                <a:solidFill>
                  <a:srgbClr val="52675C"/>
                </a:solidFill>
              </a:defRPr>
            </a:lvl4pPr>
            <a:lvl5pPr>
              <a:defRPr sz="1800" b="0">
                <a:solidFill>
                  <a:srgbClr val="52675C"/>
                </a:solidFill>
              </a:defRPr>
            </a:lvl5pPr>
            <a:lvl6pPr>
              <a:defRPr sz="1800" b="0">
                <a:solidFill>
                  <a:srgbClr val="52675C"/>
                </a:solidFill>
              </a:defRPr>
            </a:lvl6pPr>
            <a:lvl7pPr>
              <a:defRPr sz="1800" b="0">
                <a:solidFill>
                  <a:srgbClr val="52675C"/>
                </a:solidFill>
              </a:defRPr>
            </a:lvl7pPr>
            <a:lvl8pPr>
              <a:defRPr sz="1800" b="0">
                <a:solidFill>
                  <a:srgbClr val="52675C"/>
                </a:solidFill>
              </a:defRPr>
            </a:lvl8pPr>
            <a:lvl9pPr>
              <a:defRPr sz="1800" b="0">
                <a:solidFill>
                  <a:srgbClr val="52675C"/>
                </a:solidFill>
              </a:defRPr>
            </a:lvl9pPr>
          </a:lstStyle>
          <a:p xmlns:a="http://schemas.openxmlformats.org/drawingml/2006/main">
            <a:pPr>
              <a:defRPr sz="1800" b="0">
                <a:solidFill>
                  <a:srgbClr val="52675C"/>
                </a:solidFill>
              </a:defRPr>
            </a:pPr>
            <a:r>
              <a:rPr sz="1800" b="0">
                <a:solidFill>
                  <a:srgbClr val="52675C"/>
                </a:solidFill>
              </a:rPr>
              <a:t>Optional downloads after storage add 3 steps: 19 in total.</a:t>
            </a:r>
          </a:p>
        </p:txBody>
      </p:sp>
      <p:sp>
        <p:nvSpPr>
          <p:cNvPr id="27" name="">
            <a:extLst xmlns:a="http://schemas.openxmlformats.org/drawingml/2006/main">
              <a:ext uri="{FF2B5EF4-FFF2-40B4-BE49-F238E27FC236}">
                <a16:creationId xmlns:a16="http://schemas.microsoft.com/office/drawing/2014/main" id="{FF01916C-9475-48BD-8916-1DD4501A5220}"/>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defRPr sz="1425" b="0">
                <a:solidFill>
                  <a:srgbClr val="52675C"/>
                </a:solidFill>
              </a:defRPr>
            </a:lvl1pPr>
            <a:lvl2pPr>
              <a:defRPr sz="1425" b="0">
                <a:solidFill>
                  <a:srgbClr val="52675C"/>
                </a:solidFill>
              </a:defRPr>
            </a:lvl2pPr>
            <a:lvl3pPr>
              <a:defRPr sz="1425" b="0">
                <a:solidFill>
                  <a:srgbClr val="52675C"/>
                </a:solidFill>
              </a:defRPr>
            </a:lvl3pPr>
            <a:lvl4pPr>
              <a:defRPr sz="1425" b="0">
                <a:solidFill>
                  <a:srgbClr val="52675C"/>
                </a:solidFill>
              </a:defRPr>
            </a:lvl4pPr>
            <a:lvl5pPr>
              <a:defRPr sz="1425" b="0">
                <a:solidFill>
                  <a:srgbClr val="52675C"/>
                </a:solidFill>
              </a:defRPr>
            </a:lvl5pPr>
            <a:lvl6pPr>
              <a:defRPr sz="1425" b="0">
                <a:solidFill>
                  <a:srgbClr val="52675C"/>
                </a:solidFill>
              </a:defRPr>
            </a:lvl6pPr>
            <a:lvl7pPr>
              <a:defRPr sz="1425" b="0">
                <a:solidFill>
                  <a:srgbClr val="52675C"/>
                </a:solidFill>
              </a:defRPr>
            </a:lvl7pPr>
            <a:lvl8pPr>
              <a:defRPr sz="1425" b="0">
                <a:solidFill>
                  <a:srgbClr val="52675C"/>
                </a:solidFill>
              </a:defRPr>
            </a:lvl8pPr>
            <a:lvl9pPr>
              <a:defRPr sz="1425" b="0">
                <a:solidFill>
                  <a:srgbClr val="52675C"/>
                </a:solidFill>
              </a:defRPr>
            </a:lvl9pPr>
          </a:lstStyle>
          <a:p xmlns:a="http://schemas.openxmlformats.org/drawingml/2006/main">
            <a:pPr>
              <a:defRPr sz="1425" b="0">
                <a:solidFill>
                  <a:srgbClr val="52675C"/>
                </a:solidFill>
              </a:defRPr>
            </a:pPr>
            <a:r>
              <a:rPr sz="1425" b="0">
                <a:solidFill>
                  <a:srgbClr val="52675C"/>
                </a:solidFill>
              </a:rPr>
              <a:t>05</a:t>
            </a:r>
          </a:p>
        </p:txBody>
      </p:sp>
    </p:spTree>
    <p:extLst>
      <p:ext uri="{BB962C8B-B14F-4D97-AF65-F5344CB8AC3E}">
        <p14:creationId xmlns:p14="http://schemas.microsoft.com/office/powerpoint/2010/main" val="752264546"/>
      </p:ext>
    </p:extLst>
  </p:cSld>
</p:sld>
</file>

<file path=ppt/slides/slide6.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40005BF-AACC-4EDD-B050-551C9615D06A}"/>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Hashes and embeddings</a:t>
            </a:r>
          </a:p>
        </p:txBody>
      </p:sp>
      <p:sp>
        <p:nvSpPr>
          <p:cNvPr id="2" name="">
            <a:extLst xmlns:a="http://schemas.openxmlformats.org/drawingml/2006/main">
              <a:ext uri="{FF2B5EF4-FFF2-40B4-BE49-F238E27FC236}">
                <a16:creationId xmlns:a16="http://schemas.microsoft.com/office/drawing/2014/main" id="{2CD01799-27EB-487E-8EB8-700863F3825C}"/>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06</a:t>
            </a:r>
          </a:p>
        </p:txBody>
      </p:sp>
      <p:graphicFrame>
        <p:nvGraphicFramePr>
          <p:cNvPr id="3" name="">
            <a:extLst xmlns:a="http://schemas.openxmlformats.org/drawingml/2006/main">
              <a:ext uri="{FF2B5EF4-FFF2-40B4-BE49-F238E27FC236}">
                <a16:creationId xmlns:a16="http://schemas.microsoft.com/office/drawing/2014/main" id="{33CC8F97-1EBA-4FE3-B199-2090C8AAAB86}"/>
              </a:ext>
            </a:extLst>
          </p:cNvPr>
          <p:cNvGraphicFramePr/>
          <p:nvPr/>
        </p:nvGraphicFramePr>
        <p:xfrm>
          <a:off xmlns:a="http://schemas.openxmlformats.org/drawingml/2006/main" x="609600" y="1952625"/>
          <a:ext xmlns:a="http://schemas.openxmlformats.org/drawingml/2006/main" cx="10953750" cy="3190875"/>
        </p:xfrm>
        <a:graphic xmlns:a="http://schemas.openxmlformats.org/drawingml/2006/main">
          <a:graphicData uri="http://schemas.openxmlformats.org/drawingml/2006/table">
            <a:tbl>
              <a:tblPr/>
              <a:tblGrid>
                <a:gridCol w="2143125"/>
                <a:gridCol w="4286250"/>
                <a:gridCol w="4524375"/>
              </a:tblGrid>
              <a:tr h="797719">
                <a:tc>
                  <a:txBody>
                    <a:bodyPr/>
                    <a:lstStyle/>
                    <a:p>
                      <a:r>
                        <a:rPr sz="2025" b="1">
                          <a:solidFill>
                            <a:srgbClr val="F5F1E7"/>
                          </a:solidFill>
                          <a:latin typeface="Arial"/>
                          <a:ea typeface="Arial"/>
                          <a:cs typeface="Arial"/>
                        </a:rPr>
                        <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SHA-256 hash</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Embedding</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797719">
                <a:tc>
                  <a:txBody>
                    <a:bodyPr/>
                    <a:lstStyle/>
                    <a:p>
                      <a:r>
                        <a:rPr sz="1950">
                          <a:solidFill>
                            <a:srgbClr val="123B32"/>
                          </a:solidFill>
                          <a:latin typeface="Arial"/>
                          <a:ea typeface="Arial"/>
                          <a:cs typeface="Arial"/>
                        </a:rPr>
                        <a:t>Question</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Did the bytes change?</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Which assets are similar?</a:t>
                      </a:r>
                    </a:p>
                  </a:txBody>
                  <a:tcPr marL="91440" marR="91440" marT="45720" marB="45720">
                    <a:lnR w="6668">
                      <a:solidFill>
                        <a:srgbClr val="A2B5A4"/>
                      </a:solidFill>
                      <a:prstDash val="solid"/>
                    </a:lnR>
                    <a:lnB w="6668">
                      <a:solidFill>
                        <a:srgbClr val="A2B5A4"/>
                      </a:solidFill>
                      <a:prstDash val="solid"/>
                    </a:lnB>
                    <a:solidFill>
                      <a:srgbClr val="F5F1E7"/>
                    </a:solidFill>
                  </a:tcPr>
                </a:tc>
              </a:tr>
              <a:tr h="797719">
                <a:tc>
                  <a:txBody>
                    <a:bodyPr/>
                    <a:lstStyle/>
                    <a:p>
                      <a:r>
                        <a:rPr sz="1950">
                          <a:solidFill>
                            <a:srgbClr val="123B32"/>
                          </a:solidFill>
                          <a:latin typeface="Arial"/>
                          <a:ea typeface="Arial"/>
                          <a:cs typeface="Arial"/>
                        </a:rPr>
                        <a:t>Output</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64 hexadecimal digits</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384 or 512 numbers</a:t>
                      </a:r>
                    </a:p>
                  </a:txBody>
                  <a:tcPr marL="91440" marR="91440" marT="45720" marB="45720">
                    <a:lnR w="6668">
                      <a:solidFill>
                        <a:srgbClr val="A2B5A4"/>
                      </a:solidFill>
                      <a:prstDash val="solid"/>
                    </a:lnR>
                    <a:lnB w="6668">
                      <a:solidFill>
                        <a:srgbClr val="A2B5A4"/>
                      </a:solidFill>
                      <a:prstDash val="solid"/>
                    </a:lnB>
                    <a:solidFill>
                      <a:srgbClr val="F5F1E7"/>
                    </a:solidFill>
                  </a:tcPr>
                </a:tc>
              </a:tr>
              <a:tr h="797719">
                <a:tc>
                  <a:txBody>
                    <a:bodyPr/>
                    <a:lstStyle/>
                    <a:p>
                      <a:r>
                        <a:rPr sz="1950">
                          <a:solidFill>
                            <a:srgbClr val="123B32"/>
                          </a:solidFill>
                          <a:latin typeface="Arial"/>
                          <a:ea typeface="Arial"/>
                          <a:cs typeface="Arial"/>
                        </a:rPr>
                        <a:t>EcoSentinel use</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Identity and integrity</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Similarity and retrieval</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sp>
        <p:nvSpPr>
          <p:cNvPr id="4" name="">
            <a:extLst xmlns:a="http://schemas.openxmlformats.org/drawingml/2006/main">
              <a:ext uri="{FF2B5EF4-FFF2-40B4-BE49-F238E27FC236}">
                <a16:creationId xmlns:a16="http://schemas.microsoft.com/office/drawing/2014/main" id="{63FD64FF-337F-49C3-87DC-7AF6447B53F5}"/>
              </a:ext>
            </a:extLst>
          </p:cNvPr>
          <p:cNvSpPr>
            <a:spLocks xmlns:a="http://schemas.openxmlformats.org/drawingml/2006/main" noGrp="1"/>
          </p:cNvSpPr>
          <p:nvPr/>
        </p:nvSpPr>
        <p:spPr>
          <a:xfrm xmlns:a="http://schemas.openxmlformats.org/drawingml/2006/main">
            <a:off x="619125" y="55245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85D35"/>
                </a:solidFill>
              </a:defRPr>
            </a:defPPr>
            <a:lvl1pPr>
              <a:buNone/>
              <a:defRPr sz="2175" b="1">
                <a:solidFill>
                  <a:srgbClr val="B85D35"/>
                </a:solidFill>
              </a:defRPr>
            </a:lvl1pPr>
            <a:lvl2pPr>
              <a:buNone/>
              <a:defRPr sz="2175" b="1">
                <a:solidFill>
                  <a:srgbClr val="B85D35"/>
                </a:solidFill>
              </a:defRPr>
            </a:lvl2pPr>
            <a:lvl3pPr>
              <a:buNone/>
              <a:defRPr sz="2175" b="1">
                <a:solidFill>
                  <a:srgbClr val="B85D35"/>
                </a:solidFill>
              </a:defRPr>
            </a:lvl3pPr>
            <a:lvl4pPr>
              <a:buNone/>
              <a:defRPr sz="2175" b="1">
                <a:solidFill>
                  <a:srgbClr val="B85D35"/>
                </a:solidFill>
              </a:defRPr>
            </a:lvl4pPr>
            <a:lvl5pPr>
              <a:buNone/>
              <a:defRPr sz="2175" b="1">
                <a:solidFill>
                  <a:srgbClr val="B85D35"/>
                </a:solidFill>
              </a:defRPr>
            </a:lvl5pPr>
            <a:lvl6pPr>
              <a:buNone/>
              <a:defRPr sz="2175" b="1">
                <a:solidFill>
                  <a:srgbClr val="B85D35"/>
                </a:solidFill>
              </a:defRPr>
            </a:lvl6pPr>
            <a:lvl7pPr>
              <a:buNone/>
              <a:defRPr sz="2175" b="1">
                <a:solidFill>
                  <a:srgbClr val="B85D35"/>
                </a:solidFill>
              </a:defRPr>
            </a:lvl7pPr>
            <a:lvl8pPr>
              <a:buNone/>
              <a:defRPr sz="2175" b="1">
                <a:solidFill>
                  <a:srgbClr val="B85D35"/>
                </a:solidFill>
              </a:defRPr>
            </a:lvl8pPr>
            <a:lvl9pPr>
              <a:buNone/>
              <a:defRPr sz="2175" b="1">
                <a:solidFill>
                  <a:srgbClr val="B85D35"/>
                </a:solidFill>
              </a:defRPr>
            </a:lvl9pPr>
          </a:lstStyle>
          <a:p xmlns:a="http://schemas.openxmlformats.org/drawingml/2006/main">
            <a:pPr>
              <a:buNone/>
              <a:defRPr sz="2175" b="1">
                <a:solidFill>
                  <a:srgbClr val="B85D35"/>
                </a:solidFill>
              </a:defRPr>
            </a:pPr>
            <a:r>
              <a:rPr sz="2175" b="1">
                <a:solidFill>
                  <a:srgbClr val="B85D35"/>
                </a:solidFill>
              </a:rPr>
              <a:t>SHA-256: one byte scan, no decoder or neural model</a:t>
            </a:r>
          </a:p>
        </p:txBody>
      </p:sp>
    </p:spTree>
    <p:extLst>
      <p:ext uri="{BB962C8B-B14F-4D97-AF65-F5344CB8AC3E}">
        <p14:creationId xmlns:p14="http://schemas.microsoft.com/office/powerpoint/2010/main" val="1634461843"/>
      </p:ext>
    </p:extLst>
  </p:cSld>
</p:sld>
</file>

<file path=ppt/slides/slide7.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43AF7DD4-5CDD-4D1C-A94F-74D9C4B32F57}"/>
              </a:ext>
            </a:extLst>
          </p:cNvPr>
          <p:cNvCxnSpPr>
            <a:stCxn xmlns:a="http://schemas.openxmlformats.org/drawingml/2006/main" id="11" idx="3"/>
            <a:endCxn xmlns:a="http://schemas.openxmlformats.org/drawingml/2006/main" id="13" idx="1"/>
          </p:cNvCxnSpPr>
          <p:nvPr/>
        </p:nvCxnSpPr>
        <p:spPr>
          <a:xfrm xmlns:a="http://schemas.openxmlformats.org/drawingml/2006/main">
            <a:off x="7705725" y="4362450"/>
            <a:ext cx="619125" cy="0"/>
          </a:xfrm>
          <a:prstGeom xmlns:a="http://schemas.openxmlformats.org/drawingml/2006/main" prst="straightConnector1">
            <a:avLst/>
          </a:prstGeom>
          <a:ln xmlns:a="http://schemas.openxmlformats.org/drawingml/2006/main" w="25718">
            <a:solidFill>
              <a:srgbClr val="B85D35"/>
            </a:solidFill>
            <a:tailEnd type="arrow" w="med" len="med"/>
          </a:ln>
        </p:spPr>
      </p:cxnSp>
      <p:cxnSp>
        <p:nvCxnSpPr>
          <p:cNvPr id="15" name="">
            <a:extLst xmlns:a="http://schemas.openxmlformats.org/drawingml/2006/main">
              <a:ext uri="{FF2B5EF4-FFF2-40B4-BE49-F238E27FC236}">
                <a16:creationId xmlns:a16="http://schemas.microsoft.com/office/drawing/2014/main" id="{4B731F36-18A5-4CCB-978C-24DA11A21CC1}"/>
              </a:ext>
            </a:extLst>
          </p:cNvPr>
          <p:cNvCxnSpPr>
            <a:stCxn xmlns:a="http://schemas.openxmlformats.org/drawingml/2006/main" id="9" idx="3"/>
            <a:endCxn xmlns:a="http://schemas.openxmlformats.org/drawingml/2006/main" id="11" idx="1"/>
          </p:cNvCxnSpPr>
          <p:nvPr/>
        </p:nvCxnSpPr>
        <p:spPr>
          <a:xfrm xmlns:a="http://schemas.openxmlformats.org/drawingml/2006/main">
            <a:off x="3990975" y="4362450"/>
            <a:ext cx="619125" cy="0"/>
          </a:xfrm>
          <a:prstGeom xmlns:a="http://schemas.openxmlformats.org/drawingml/2006/main" prst="straightConnector1">
            <a:avLst/>
          </a:prstGeom>
          <a:ln xmlns:a="http://schemas.openxmlformats.org/drawingml/2006/main" w="25718">
            <a:solidFill>
              <a:srgbClr val="B85D35"/>
            </a:solidFill>
            <a:tailEnd type="arrow" w="med" len="med"/>
          </a:ln>
        </p:spPr>
      </p:cxnSp>
      <p:cxnSp>
        <p:nvCxnSpPr>
          <p:cNvPr id="8" name="">
            <a:extLst xmlns:a="http://schemas.openxmlformats.org/drawingml/2006/main">
              <a:ext uri="{FF2B5EF4-FFF2-40B4-BE49-F238E27FC236}">
                <a16:creationId xmlns:a16="http://schemas.microsoft.com/office/drawing/2014/main" id="{D9770EB8-6258-40E7-A773-6AE14EE707E1}"/>
              </a:ext>
            </a:extLst>
          </p:cNvPr>
          <p:cNvCxnSpPr>
            <a:stCxn xmlns:a="http://schemas.openxmlformats.org/drawingml/2006/main" id="4" idx="3"/>
            <a:endCxn xmlns:a="http://schemas.openxmlformats.org/drawingml/2006/main" id="6" idx="1"/>
          </p:cNvCxnSpPr>
          <p:nvPr/>
        </p:nvCxnSpPr>
        <p:spPr>
          <a:xfrm xmlns:a="http://schemas.openxmlformats.org/drawingml/2006/main">
            <a:off x="4705350" y="2914650"/>
            <a:ext cx="1485900" cy="0"/>
          </a:xfrm>
          <a:prstGeom xmlns:a="http://schemas.openxmlformats.org/drawingml/2006/main" prst="straightConnector1">
            <a:avLst/>
          </a:prstGeom>
          <a:ln xmlns:a="http://schemas.openxmlformats.org/drawingml/2006/main" w="25718">
            <a:solidFill>
              <a:srgbClr val="B85D35"/>
            </a:solidFill>
            <a:tailEnd type="arrow" w="med" len="med"/>
          </a:ln>
        </p:spPr>
      </p:cxnSp>
      <p:sp>
        <p:nvSpPr>
          <p:cNvPr id="19" name="">
            <a:extLst xmlns:a="http://schemas.openxmlformats.org/drawingml/2006/main">
              <a:ext uri="{FF2B5EF4-FFF2-40B4-BE49-F238E27FC236}">
                <a16:creationId xmlns:a16="http://schemas.microsoft.com/office/drawing/2014/main" id="{128F1338-9B5B-47BD-B2E0-0ED35F11197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Landing: file identity and verified copies</a:t>
            </a:r>
          </a:p>
        </p:txBody>
      </p:sp>
      <p:sp>
        <p:nvSpPr>
          <p:cNvPr id="2" name="">
            <a:extLst xmlns:a="http://schemas.openxmlformats.org/drawingml/2006/main">
              <a:ext uri="{FF2B5EF4-FFF2-40B4-BE49-F238E27FC236}">
                <a16:creationId xmlns:a16="http://schemas.microsoft.com/office/drawing/2014/main" id="{41A72B19-C0A5-4782-B91C-D9215E92F7AB}"/>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07</a:t>
            </a:r>
          </a:p>
        </p:txBody>
      </p:sp>
      <p:sp>
        <p:nvSpPr>
          <p:cNvPr id="3" name="">
            <a:extLst xmlns:a="http://schemas.openxmlformats.org/drawingml/2006/main">
              <a:ext uri="{FF2B5EF4-FFF2-40B4-BE49-F238E27FC236}">
                <a16:creationId xmlns:a16="http://schemas.microsoft.com/office/drawing/2014/main" id="{54C887B7-5C92-455E-88E8-D96F6F4F6228}"/>
              </a:ext>
            </a:extLst>
          </p:cNvPr>
          <p:cNvSpPr>
            <a:spLocks xmlns:a="http://schemas.openxmlformats.org/drawingml/2006/main" noGrp="1"/>
          </p:cNvSpPr>
          <p:nvPr/>
        </p:nvSpPr>
        <p:spPr>
          <a:xfrm xmlns:a="http://schemas.openxmlformats.org/drawingml/2006/main">
            <a:off x="609600" y="15335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B85D35"/>
                </a:solidFill>
              </a:defRPr>
            </a:defPPr>
            <a:lvl1pPr>
              <a:buNone/>
              <a:defRPr sz="2325" b="1">
                <a:solidFill>
                  <a:srgbClr val="B85D35"/>
                </a:solidFill>
              </a:defRPr>
            </a:lvl1pPr>
            <a:lvl2pPr>
              <a:buNone/>
              <a:defRPr sz="2325" b="1">
                <a:solidFill>
                  <a:srgbClr val="B85D35"/>
                </a:solidFill>
              </a:defRPr>
            </a:lvl2pPr>
            <a:lvl3pPr>
              <a:buNone/>
              <a:defRPr sz="2325" b="1">
                <a:solidFill>
                  <a:srgbClr val="B85D35"/>
                </a:solidFill>
              </a:defRPr>
            </a:lvl3pPr>
            <a:lvl4pPr>
              <a:buNone/>
              <a:defRPr sz="2325" b="1">
                <a:solidFill>
                  <a:srgbClr val="B85D35"/>
                </a:solidFill>
              </a:defRPr>
            </a:lvl4pPr>
            <a:lvl5pPr>
              <a:buNone/>
              <a:defRPr sz="2325" b="1">
                <a:solidFill>
                  <a:srgbClr val="B85D35"/>
                </a:solidFill>
              </a:defRPr>
            </a:lvl5pPr>
            <a:lvl6pPr>
              <a:buNone/>
              <a:defRPr sz="2325" b="1">
                <a:solidFill>
                  <a:srgbClr val="B85D35"/>
                </a:solidFill>
              </a:defRPr>
            </a:lvl6pPr>
            <a:lvl7pPr>
              <a:buNone/>
              <a:defRPr sz="2325" b="1">
                <a:solidFill>
                  <a:srgbClr val="B85D35"/>
                </a:solidFill>
              </a:defRPr>
            </a:lvl7pPr>
            <a:lvl8pPr>
              <a:buNone/>
              <a:defRPr sz="2325" b="1">
                <a:solidFill>
                  <a:srgbClr val="B85D35"/>
                </a:solidFill>
              </a:defRPr>
            </a:lvl8pPr>
            <a:lvl9pPr>
              <a:buNone/>
              <a:defRPr sz="2325" b="1">
                <a:solidFill>
                  <a:srgbClr val="B85D35"/>
                </a:solidFill>
              </a:defRPr>
            </a:lvl9pPr>
          </a:lstStyle>
          <a:p xmlns:a="http://schemas.openxmlformats.org/drawingml/2006/main">
            <a:pPr>
              <a:buNone/>
              <a:defRPr sz="2325" b="1">
                <a:solidFill>
                  <a:srgbClr val="B85D35"/>
                </a:solidFill>
              </a:defRPr>
            </a:pPr>
            <a:r>
              <a:rPr sz="2325" b="1">
                <a:solidFill>
                  <a:srgbClr val="B85D35"/>
                </a:solidFill>
              </a:rPr>
              <a:t>temporal_landing/&lt;SHA-256[:16]&gt;__&lt;filename&gt;</a:t>
            </a:r>
          </a:p>
        </p:txBody>
      </p:sp>
      <p:sp>
        <p:nvSpPr>
          <p:cNvPr id="4" name="">
            <a:extLst xmlns:a="http://schemas.openxmlformats.org/drawingml/2006/main">
              <a:ext uri="{FF2B5EF4-FFF2-40B4-BE49-F238E27FC236}">
                <a16:creationId xmlns:a16="http://schemas.microsoft.com/office/drawing/2014/main" id="{01CABCFB-FD1F-4B3E-84F6-73125766B58A}"/>
              </a:ext>
            </a:extLst>
          </p:cNvPr>
          <p:cNvSpPr>
            <a:spLocks xmlns:a="http://schemas.openxmlformats.org/drawingml/2006/main" noGrp="1"/>
          </p:cNvSpPr>
          <p:nvPr/>
        </p:nvSpPr>
        <p:spPr>
          <a:xfrm xmlns:a="http://schemas.openxmlformats.org/drawingml/2006/main">
            <a:off x="609600" y="2533650"/>
            <a:ext cx="4095750" cy="7620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5" name="">
            <a:extLst xmlns:a="http://schemas.openxmlformats.org/drawingml/2006/main">
              <a:ext uri="{FF2B5EF4-FFF2-40B4-BE49-F238E27FC236}">
                <a16:creationId xmlns:a16="http://schemas.microsoft.com/office/drawing/2014/main" id="{59FBE5E9-6DD2-4E07-A18C-4439AE3E0A39}"/>
              </a:ext>
            </a:extLst>
          </p:cNvPr>
          <p:cNvSpPr>
            <a:spLocks xmlns:a="http://schemas.openxmlformats.org/drawingml/2006/main" noGrp="1"/>
          </p:cNvSpPr>
          <p:nvPr/>
        </p:nvSpPr>
        <p:spPr>
          <a:xfrm xmlns:a="http://schemas.openxmlformats.org/drawingml/2006/main">
            <a:off x="771525" y="2676525"/>
            <a:ext cx="3771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Temporal object exists</a:t>
            </a:r>
          </a:p>
        </p:txBody>
      </p:sp>
      <p:sp>
        <p:nvSpPr>
          <p:cNvPr id="6" name="">
            <a:extLst xmlns:a="http://schemas.openxmlformats.org/drawingml/2006/main">
              <a:ext uri="{FF2B5EF4-FFF2-40B4-BE49-F238E27FC236}">
                <a16:creationId xmlns:a16="http://schemas.microsoft.com/office/drawing/2014/main" id="{AA0D2CC2-2770-4C67-9DFD-B9FA8ABA704D}"/>
              </a:ext>
            </a:extLst>
          </p:cNvPr>
          <p:cNvSpPr>
            <a:spLocks xmlns:a="http://schemas.openxmlformats.org/drawingml/2006/main" noGrp="1"/>
          </p:cNvSpPr>
          <p:nvPr/>
        </p:nvSpPr>
        <p:spPr>
          <a:xfrm xmlns:a="http://schemas.openxmlformats.org/drawingml/2006/main">
            <a:off x="6191250" y="2533650"/>
            <a:ext cx="5381625" cy="7620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7" name="">
            <a:extLst xmlns:a="http://schemas.openxmlformats.org/drawingml/2006/main">
              <a:ext uri="{FF2B5EF4-FFF2-40B4-BE49-F238E27FC236}">
                <a16:creationId xmlns:a16="http://schemas.microsoft.com/office/drawing/2014/main" id="{89F59818-D2E9-4B3A-AB5D-D8F51641162D}"/>
              </a:ext>
            </a:extLst>
          </p:cNvPr>
          <p:cNvSpPr>
            <a:spLocks xmlns:a="http://schemas.openxmlformats.org/drawingml/2006/main" noGrp="1"/>
          </p:cNvSpPr>
          <p:nvPr/>
        </p:nvSpPr>
        <p:spPr>
          <a:xfrm xmlns:a="http://schemas.openxmlformats.org/drawingml/2006/main">
            <a:off x="6353175" y="2676525"/>
            <a:ext cx="50577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Check source identity, then reuse</a:t>
            </a:r>
          </a:p>
        </p:txBody>
      </p:sp>
      <p:sp>
        <p:nvSpPr>
          <p:cNvPr id="9" name="">
            <a:extLst xmlns:a="http://schemas.openxmlformats.org/drawingml/2006/main">
              <a:ext uri="{FF2B5EF4-FFF2-40B4-BE49-F238E27FC236}">
                <a16:creationId xmlns:a16="http://schemas.microsoft.com/office/drawing/2014/main" id="{D30BA031-9C01-45BF-98D7-CAA3B5F16C3E}"/>
              </a:ext>
            </a:extLst>
          </p:cNvPr>
          <p:cNvSpPr>
            <a:spLocks xmlns:a="http://schemas.openxmlformats.org/drawingml/2006/main" noGrp="1"/>
          </p:cNvSpPr>
          <p:nvPr/>
        </p:nvSpPr>
        <p:spPr>
          <a:xfrm xmlns:a="http://schemas.openxmlformats.org/drawingml/2006/main">
            <a:off x="609600" y="3981450"/>
            <a:ext cx="3381375" cy="7620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0" name="">
            <a:extLst xmlns:a="http://schemas.openxmlformats.org/drawingml/2006/main">
              <a:ext uri="{FF2B5EF4-FFF2-40B4-BE49-F238E27FC236}">
                <a16:creationId xmlns:a16="http://schemas.microsoft.com/office/drawing/2014/main" id="{0DF1D8A7-4F67-4C76-A8E4-4D32D7EE27F4}"/>
              </a:ext>
            </a:extLst>
          </p:cNvPr>
          <p:cNvSpPr>
            <a:spLocks xmlns:a="http://schemas.openxmlformats.org/drawingml/2006/main" noGrp="1"/>
          </p:cNvSpPr>
          <p:nvPr/>
        </p:nvSpPr>
        <p:spPr>
          <a:xfrm xmlns:a="http://schemas.openxmlformats.org/drawingml/2006/main">
            <a:off x="771525" y="4124325"/>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Temporal is absent</a:t>
            </a:r>
          </a:p>
        </p:txBody>
      </p:sp>
      <p:sp>
        <p:nvSpPr>
          <p:cNvPr id="11" name="">
            <a:extLst xmlns:a="http://schemas.openxmlformats.org/drawingml/2006/main">
              <a:ext uri="{FF2B5EF4-FFF2-40B4-BE49-F238E27FC236}">
                <a16:creationId xmlns:a16="http://schemas.microsoft.com/office/drawing/2014/main" id="{42D5B63B-2E47-4988-AC20-20D3401AE444}"/>
              </a:ext>
            </a:extLst>
          </p:cNvPr>
          <p:cNvSpPr>
            <a:spLocks xmlns:a="http://schemas.openxmlformats.org/drawingml/2006/main" noGrp="1"/>
          </p:cNvSpPr>
          <p:nvPr/>
        </p:nvSpPr>
        <p:spPr>
          <a:xfrm xmlns:a="http://schemas.openxmlformats.org/drawingml/2006/main">
            <a:off x="4610100" y="3981450"/>
            <a:ext cx="3095625" cy="7620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2" name="">
            <a:extLst xmlns:a="http://schemas.openxmlformats.org/drawingml/2006/main">
              <a:ext uri="{FF2B5EF4-FFF2-40B4-BE49-F238E27FC236}">
                <a16:creationId xmlns:a16="http://schemas.microsoft.com/office/drawing/2014/main" id="{35E77C0C-7368-4F04-A5B7-4A5BDA404202}"/>
              </a:ext>
            </a:extLst>
          </p:cNvPr>
          <p:cNvSpPr>
            <a:spLocks xmlns:a="http://schemas.openxmlformats.org/drawingml/2006/main" noGrp="1"/>
          </p:cNvSpPr>
          <p:nvPr/>
        </p:nvSpPr>
        <p:spPr>
          <a:xfrm xmlns:a="http://schemas.openxmlformats.org/drawingml/2006/main">
            <a:off x="4772025" y="4124325"/>
            <a:ext cx="27717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Check completion</a:t>
            </a:r>
          </a:p>
        </p:txBody>
      </p:sp>
      <p:sp>
        <p:nvSpPr>
          <p:cNvPr id="13" name="">
            <a:extLst xmlns:a="http://schemas.openxmlformats.org/drawingml/2006/main">
              <a:ext uri="{FF2B5EF4-FFF2-40B4-BE49-F238E27FC236}">
                <a16:creationId xmlns:a16="http://schemas.microsoft.com/office/drawing/2014/main" id="{AD6340F9-B67C-443E-B6F8-771630552F23}"/>
              </a:ext>
            </a:extLst>
          </p:cNvPr>
          <p:cNvSpPr>
            <a:spLocks xmlns:a="http://schemas.openxmlformats.org/drawingml/2006/main" noGrp="1"/>
          </p:cNvSpPr>
          <p:nvPr/>
        </p:nvSpPr>
        <p:spPr>
          <a:xfrm xmlns:a="http://schemas.openxmlformats.org/drawingml/2006/main">
            <a:off x="8324850" y="3981450"/>
            <a:ext cx="3238500" cy="7620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4" name="">
            <a:extLst xmlns:a="http://schemas.openxmlformats.org/drawingml/2006/main">
              <a:ext uri="{FF2B5EF4-FFF2-40B4-BE49-F238E27FC236}">
                <a16:creationId xmlns:a16="http://schemas.microsoft.com/office/drawing/2014/main" id="{34704D32-98EF-440E-8A46-429054889D26}"/>
              </a:ext>
            </a:extLst>
          </p:cNvPr>
          <p:cNvSpPr>
            <a:spLocks xmlns:a="http://schemas.openxmlformats.org/drawingml/2006/main" noGrp="1"/>
          </p:cNvSpPr>
          <p:nvPr/>
        </p:nvSpPr>
        <p:spPr>
          <a:xfrm xmlns:a="http://schemas.openxmlformats.org/drawingml/2006/main">
            <a:off x="8486775" y="4124325"/>
            <a:ext cx="2914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Persistent exists</a:t>
            </a:r>
          </a:p>
        </p:txBody>
      </p:sp>
      <p:sp>
        <p:nvSpPr>
          <p:cNvPr id="17" name="">
            <a:extLst xmlns:a="http://schemas.openxmlformats.org/drawingml/2006/main">
              <a:ext uri="{FF2B5EF4-FFF2-40B4-BE49-F238E27FC236}">
                <a16:creationId xmlns:a16="http://schemas.microsoft.com/office/drawing/2014/main" id="{9EC1C746-3A4F-4F71-8151-84BE2F0DC6A2}"/>
              </a:ext>
            </a:extLst>
          </p:cNvPr>
          <p:cNvSpPr>
            <a:spLocks xmlns:a="http://schemas.openxmlformats.org/drawingml/2006/main" noGrp="1"/>
          </p:cNvSpPr>
          <p:nvPr/>
        </p:nvSpPr>
        <p:spPr>
          <a:xfrm xmlns:a="http://schemas.openxmlformats.org/drawingml/2006/main">
            <a:off x="619125" y="52197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Matching identity + recorded Persistent target: skip</a:t>
            </a:r>
          </a:p>
          <a:p xmlns:a="http://schemas.openxmlformats.org/drawingml/2006/main">
            <a:pPr>
              <a:buNone/>
              <a:defRPr sz="2175" b="1">
                <a:solidFill>
                  <a:srgbClr val="123B32"/>
                </a:solidFill>
              </a:defRPr>
            </a:pPr>
            <a:r>
              <a:rPr sz="2175" b="1">
                <a:solidFill>
                  <a:srgbClr val="123B32"/>
                </a:solidFill>
              </a:rPr>
              <a:t>No completion record: ingest as new</a:t>
            </a:r>
          </a:p>
        </p:txBody>
      </p:sp>
      <p:sp>
        <p:nvSpPr>
          <p:cNvPr id="18" name="">
            <a:extLst xmlns:a="http://schemas.openxmlformats.org/drawingml/2006/main">
              <a:ext uri="{FF2B5EF4-FFF2-40B4-BE49-F238E27FC236}">
                <a16:creationId xmlns:a16="http://schemas.microsoft.com/office/drawing/2014/main" id="{BFC0CE35-2737-429B-A2A8-31A455C9DF20}"/>
              </a:ext>
            </a:extLst>
          </p:cNvPr>
          <p:cNvSpPr>
            <a:spLocks xmlns:a="http://schemas.openxmlformats.org/drawingml/2006/main" noGrp="1"/>
          </p:cNvSpPr>
          <p:nvPr/>
        </p:nvSpPr>
        <p:spPr>
          <a:xfrm xmlns:a="http://schemas.openxmlformats.org/drawingml/2006/main">
            <a:off x="619125" y="60769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Verify the copy, then record completion. Missing copies or conflicts fail.</a:t>
            </a:r>
          </a:p>
        </p:txBody>
      </p:sp>
    </p:spTree>
    <p:extLst>
      <p:ext uri="{BB962C8B-B14F-4D97-AF65-F5344CB8AC3E}">
        <p14:creationId xmlns:p14="http://schemas.microsoft.com/office/powerpoint/2010/main" val="1590442378"/>
      </p:ext>
    </p:extLst>
  </p:cSld>
</p:sld>
</file>

<file path=ppt/slides/slide8.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ABA93B0-447C-47AD-8231-CDFFFB00B172}"/>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Landing: four identity cases</a:t>
            </a:r>
          </a:p>
        </p:txBody>
      </p:sp>
      <p:sp>
        <p:nvSpPr>
          <p:cNvPr id="2" name="">
            <a:extLst xmlns:a="http://schemas.openxmlformats.org/drawingml/2006/main">
              <a:ext uri="{FF2B5EF4-FFF2-40B4-BE49-F238E27FC236}">
                <a16:creationId xmlns:a16="http://schemas.microsoft.com/office/drawing/2014/main" id="{6FE16E87-111C-41A3-AF73-9FD874AEBBFF}"/>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08</a:t>
            </a:r>
          </a:p>
        </p:txBody>
      </p:sp>
      <p:sp>
        <p:nvSpPr>
          <p:cNvPr id="3" name="">
            <a:extLst xmlns:a="http://schemas.openxmlformats.org/drawingml/2006/main">
              <a:ext uri="{FF2B5EF4-FFF2-40B4-BE49-F238E27FC236}">
                <a16:creationId xmlns:a16="http://schemas.microsoft.com/office/drawing/2014/main" id="{58A1B654-B19F-445A-803E-9333B1C545A6}"/>
              </a:ext>
            </a:extLst>
          </p:cNvPr>
          <p:cNvSpPr>
            <a:spLocks xmlns:a="http://schemas.openxmlformats.org/drawingml/2006/main" noGrp="1"/>
          </p:cNvSpPr>
          <p:nvPr/>
        </p:nvSpPr>
        <p:spPr>
          <a:xfrm xmlns:a="http://schemas.openxmlformats.org/drawingml/2006/main">
            <a:off x="619125" y="149542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2675C"/>
                </a:solidFill>
              </a:defRPr>
            </a:defPPr>
            <a:lvl1pPr>
              <a:buNone/>
              <a:defRPr sz="2100" b="0">
                <a:solidFill>
                  <a:srgbClr val="52675C"/>
                </a:solidFill>
              </a:defRPr>
            </a:lvl1pPr>
            <a:lvl2pPr>
              <a:buNone/>
              <a:defRPr sz="2100" b="0">
                <a:solidFill>
                  <a:srgbClr val="52675C"/>
                </a:solidFill>
              </a:defRPr>
            </a:lvl2pPr>
            <a:lvl3pPr>
              <a:buNone/>
              <a:defRPr sz="2100" b="0">
                <a:solidFill>
                  <a:srgbClr val="52675C"/>
                </a:solidFill>
              </a:defRPr>
            </a:lvl3pPr>
            <a:lvl4pPr>
              <a:buNone/>
              <a:defRPr sz="2100" b="0">
                <a:solidFill>
                  <a:srgbClr val="52675C"/>
                </a:solidFill>
              </a:defRPr>
            </a:lvl4pPr>
            <a:lvl5pPr>
              <a:buNone/>
              <a:defRPr sz="2100" b="0">
                <a:solidFill>
                  <a:srgbClr val="52675C"/>
                </a:solidFill>
              </a:defRPr>
            </a:lvl5pPr>
            <a:lvl6pPr>
              <a:buNone/>
              <a:defRPr sz="2100" b="0">
                <a:solidFill>
                  <a:srgbClr val="52675C"/>
                </a:solidFill>
              </a:defRPr>
            </a:lvl6pPr>
            <a:lvl7pPr>
              <a:buNone/>
              <a:defRPr sz="2100" b="0">
                <a:solidFill>
                  <a:srgbClr val="52675C"/>
                </a:solidFill>
              </a:defRPr>
            </a:lvl7pPr>
            <a:lvl8pPr>
              <a:buNone/>
              <a:defRPr sz="2100" b="0">
                <a:solidFill>
                  <a:srgbClr val="52675C"/>
                </a:solidFill>
              </a:defRPr>
            </a:lvl8pPr>
            <a:lvl9pPr>
              <a:buNone/>
              <a:defRPr sz="2100" b="0">
                <a:solidFill>
                  <a:srgbClr val="52675C"/>
                </a:solidFill>
              </a:defRPr>
            </a:lvl9pPr>
          </a:lstStyle>
          <a:p xmlns:a="http://schemas.openxmlformats.org/drawingml/2006/main">
            <a:pPr>
              <a:buNone/>
              <a:defRPr sz="2100" b="0">
                <a:solidFill>
                  <a:srgbClr val="52675C"/>
                </a:solidFill>
              </a:defRPr>
            </a:pPr>
            <a:r>
              <a:rPr sz="2100" b="0">
                <a:solidFill>
                  <a:srgbClr val="52675C"/>
                </a:solidFill>
              </a:rPr>
              <a:t>Same source metadata; the first file is already recorded</a:t>
            </a:r>
          </a:p>
        </p:txBody>
      </p:sp>
      <p:graphicFrame>
        <p:nvGraphicFramePr>
          <p:cNvPr id="4" name="">
            <a:extLst xmlns:a="http://schemas.openxmlformats.org/drawingml/2006/main">
              <a:ext uri="{FF2B5EF4-FFF2-40B4-BE49-F238E27FC236}">
                <a16:creationId xmlns:a16="http://schemas.microsoft.com/office/drawing/2014/main" id="{393196A1-7483-4E9A-B25A-9FE9F88A1925}"/>
              </a:ext>
            </a:extLst>
          </p:cNvPr>
          <p:cNvGraphicFramePr/>
          <p:nvPr/>
        </p:nvGraphicFramePr>
        <p:xfrm>
          <a:off xmlns:a="http://schemas.openxmlformats.org/drawingml/2006/main" x="609600" y="2095500"/>
          <a:ext xmlns:a="http://schemas.openxmlformats.org/drawingml/2006/main" cx="10953750" cy="3714750"/>
        </p:xfrm>
        <a:graphic xmlns:a="http://schemas.openxmlformats.org/drawingml/2006/main">
          <a:graphicData uri="http://schemas.openxmlformats.org/drawingml/2006/table">
            <a:tbl>
              <a:tblPr/>
              <a:tblGrid>
                <a:gridCol w="3190875"/>
                <a:gridCol w="3190875"/>
                <a:gridCol w="2571750"/>
                <a:gridCol w="2000250"/>
              </a:tblGrid>
              <a:tr h="742950">
                <a:tc>
                  <a:txBody>
                    <a:bodyPr/>
                    <a:lstStyle/>
                    <a:p>
                      <a:r>
                        <a:rPr sz="2025" b="1">
                          <a:solidFill>
                            <a:srgbClr val="F5F1E7"/>
                          </a:solidFill>
                          <a:latin typeface="Arial"/>
                          <a:ea typeface="Arial"/>
                          <a:cs typeface="Arial"/>
                        </a:rPr>
                        <a:t>Already seen</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Incoming file</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Key change</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Action</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742950">
                <a:tc>
                  <a:txBody>
                    <a:bodyPr/>
                    <a:lstStyle/>
                    <a:p>
                      <a:r>
                        <a:rPr sz="1950">
                          <a:solidFill>
                            <a:srgbClr val="123B32"/>
                          </a:solidFill>
                          <a:latin typeface="Arial"/>
                          <a:ea typeface="Arial"/>
                          <a:cs typeface="Arial"/>
                        </a:rPr>
                        <a:t>lynx.jpg</a:t>
                      </a:r>
                    </a:p>
                    <a:p>
                      <a:r>
                        <a:rPr sz="1950">
                          <a:solidFill>
                            <a:srgbClr val="123B32"/>
                          </a:solidFill>
                          <a:latin typeface="Arial"/>
                          <a:ea typeface="Arial"/>
                          <a:cs typeface="Arial"/>
                        </a:rPr>
                        <a:t>hash de7879...</a:t>
                      </a:r>
                    </a:p>
                  </a:txBody>
                  <a:tcPr marL="876300" marR="66675" marT="76200" marB="47625">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lynx.jpg</a:t>
                      </a:r>
                    </a:p>
                    <a:p>
                      <a:r>
                        <a:rPr sz="1950">
                          <a:solidFill>
                            <a:srgbClr val="123B32"/>
                          </a:solidFill>
                          <a:latin typeface="Arial"/>
                          <a:ea typeface="Arial"/>
                          <a:cs typeface="Arial"/>
                        </a:rPr>
                        <a:t>hash de7879...</a:t>
                      </a:r>
                    </a:p>
                  </a:txBody>
                  <a:tcPr marL="876300" marR="66675" marT="76200" marB="47625">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None</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SKIP</a:t>
                      </a:r>
                    </a:p>
                  </a:txBody>
                  <a:tcPr marL="91440" marR="91440" marT="45720" marB="45720">
                    <a:lnR w="6668">
                      <a:solidFill>
                        <a:srgbClr val="A2B5A4"/>
                      </a:solidFill>
                      <a:prstDash val="solid"/>
                    </a:lnR>
                    <a:lnB w="6668">
                      <a:solidFill>
                        <a:srgbClr val="A2B5A4"/>
                      </a:solidFill>
                      <a:prstDash val="solid"/>
                    </a:lnB>
                    <a:solidFill>
                      <a:srgbClr val="F5F1E7"/>
                    </a:solidFill>
                  </a:tcPr>
                </a:tc>
              </a:tr>
              <a:tr h="742950">
                <a:tc>
                  <a:txBody>
                    <a:bodyPr/>
                    <a:lstStyle/>
                    <a:p>
                      <a:r>
                        <a:rPr sz="1950">
                          <a:solidFill>
                            <a:srgbClr val="123B32"/>
                          </a:solidFill>
                          <a:latin typeface="Arial"/>
                          <a:ea typeface="Arial"/>
                          <a:cs typeface="Arial"/>
                        </a:rPr>
                        <a:t>lynx.jpg</a:t>
                      </a:r>
                    </a:p>
                    <a:p>
                      <a:r>
                        <a:rPr sz="1950">
                          <a:solidFill>
                            <a:srgbClr val="123B32"/>
                          </a:solidFill>
                          <a:latin typeface="Arial"/>
                          <a:ea typeface="Arial"/>
                          <a:cs typeface="Arial"/>
                        </a:rPr>
                        <a:t>hash de7879...</a:t>
                      </a:r>
                    </a:p>
                  </a:txBody>
                  <a:tcPr marL="876300" marR="66675" marT="76200" marB="47625">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renamed.jpg</a:t>
                      </a:r>
                    </a:p>
                    <a:p>
                      <a:r>
                        <a:rPr sz="1950">
                          <a:solidFill>
                            <a:srgbClr val="123B32"/>
                          </a:solidFill>
                          <a:latin typeface="Arial"/>
                          <a:ea typeface="Arial"/>
                          <a:cs typeface="Arial"/>
                        </a:rPr>
                        <a:t>hash de7879...</a:t>
                      </a:r>
                    </a:p>
                  </a:txBody>
                  <a:tcPr marL="876300" marR="66675" marT="76200" marB="47625">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Name</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INGEST</a:t>
                      </a:r>
                    </a:p>
                  </a:txBody>
                  <a:tcPr marL="91440" marR="91440" marT="45720" marB="45720">
                    <a:lnR w="6668">
                      <a:solidFill>
                        <a:srgbClr val="A2B5A4"/>
                      </a:solidFill>
                      <a:prstDash val="solid"/>
                    </a:lnR>
                    <a:lnB w="6668">
                      <a:solidFill>
                        <a:srgbClr val="A2B5A4"/>
                      </a:solidFill>
                      <a:prstDash val="solid"/>
                    </a:lnB>
                    <a:solidFill>
                      <a:srgbClr val="F5F1E7"/>
                    </a:solidFill>
                  </a:tcPr>
                </a:tc>
              </a:tr>
              <a:tr h="742950">
                <a:tc>
                  <a:txBody>
                    <a:bodyPr/>
                    <a:lstStyle/>
                    <a:p>
                      <a:r>
                        <a:rPr sz="1950">
                          <a:solidFill>
                            <a:srgbClr val="123B32"/>
                          </a:solidFill>
                          <a:latin typeface="Arial"/>
                          <a:ea typeface="Arial"/>
                          <a:cs typeface="Arial"/>
                        </a:rPr>
                        <a:t>lynx.jpg</a:t>
                      </a:r>
                    </a:p>
                    <a:p>
                      <a:r>
                        <a:rPr sz="1950">
                          <a:solidFill>
                            <a:srgbClr val="123B32"/>
                          </a:solidFill>
                          <a:latin typeface="Arial"/>
                          <a:ea typeface="Arial"/>
                          <a:cs typeface="Arial"/>
                        </a:rPr>
                        <a:t>hash de7879...</a:t>
                      </a:r>
                    </a:p>
                  </a:txBody>
                  <a:tcPr marL="876300" marR="66675" marT="76200" marB="47625">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lynx.jpg</a:t>
                      </a:r>
                    </a:p>
                    <a:p>
                      <a:r>
                        <a:rPr sz="1950">
                          <a:solidFill>
                            <a:srgbClr val="123B32"/>
                          </a:solidFill>
                          <a:latin typeface="Arial"/>
                          <a:ea typeface="Arial"/>
                          <a:cs typeface="Arial"/>
                        </a:rPr>
                        <a:t>hash 3e983a...</a:t>
                      </a:r>
                    </a:p>
                  </a:txBody>
                  <a:tcPr marL="876300" marR="66675" marT="76200" marB="47625">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Hash</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INGEST</a:t>
                      </a:r>
                    </a:p>
                  </a:txBody>
                  <a:tcPr marL="91440" marR="91440" marT="45720" marB="45720">
                    <a:lnR w="6668">
                      <a:solidFill>
                        <a:srgbClr val="A2B5A4"/>
                      </a:solidFill>
                      <a:prstDash val="solid"/>
                    </a:lnR>
                    <a:lnB w="6668">
                      <a:solidFill>
                        <a:srgbClr val="A2B5A4"/>
                      </a:solidFill>
                      <a:prstDash val="solid"/>
                    </a:lnB>
                    <a:solidFill>
                      <a:srgbClr val="F5F1E7"/>
                    </a:solidFill>
                  </a:tcPr>
                </a:tc>
              </a:tr>
              <a:tr h="742950">
                <a:tc>
                  <a:txBody>
                    <a:bodyPr/>
                    <a:lstStyle/>
                    <a:p>
                      <a:r>
                        <a:rPr sz="1950">
                          <a:solidFill>
                            <a:srgbClr val="123B32"/>
                          </a:solidFill>
                          <a:latin typeface="Arial"/>
                          <a:ea typeface="Arial"/>
                          <a:cs typeface="Arial"/>
                        </a:rPr>
                        <a:t>lynx.jpg</a:t>
                      </a:r>
                    </a:p>
                    <a:p>
                      <a:r>
                        <a:rPr sz="1950">
                          <a:solidFill>
                            <a:srgbClr val="123B32"/>
                          </a:solidFill>
                          <a:latin typeface="Arial"/>
                          <a:ea typeface="Arial"/>
                          <a:cs typeface="Arial"/>
                        </a:rPr>
                        <a:t>hash de7879...</a:t>
                      </a:r>
                    </a:p>
                  </a:txBody>
                  <a:tcPr marL="876300" marR="66675" marT="76200" marB="47625">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renamed.jpg</a:t>
                      </a:r>
                    </a:p>
                    <a:p>
                      <a:r>
                        <a:rPr sz="1950">
                          <a:solidFill>
                            <a:srgbClr val="123B32"/>
                          </a:solidFill>
                          <a:latin typeface="Arial"/>
                          <a:ea typeface="Arial"/>
                          <a:cs typeface="Arial"/>
                        </a:rPr>
                        <a:t>hash 3e983a...</a:t>
                      </a:r>
                    </a:p>
                  </a:txBody>
                  <a:tcPr marL="876300" marR="66675" marT="76200" marB="47625">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Both</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INGEST</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pic>
        <p:nvPicPr>
          <p:cNvPr id="5" name="">
            <a:extLst xmlns:a="http://schemas.openxmlformats.org/drawingml/2006/main">
              <a:ext uri="{FF2B5EF4-FFF2-40B4-BE49-F238E27FC236}">
                <a16:creationId xmlns:a16="http://schemas.microsoft.com/office/drawing/2014/main" id="{D2C65D99-792B-40EE-A73A-EDDD218BD3E3}"/>
              </a:ext>
            </a:extLst>
          </p:cNvPr>
          <p:cNvPicPr>
            <a:picLocks xmlns:a="http://schemas.openxmlformats.org/drawingml/2006/main" noChangeAspect="1"/>
          </p:cNvPicPr>
          <p:nvPr/>
        </p:nvPicPr>
        <p:blipFill>
          <a:blip xmlns:r="http://schemas.openxmlformats.org/officeDocument/2006/relationships" xmlns:a="http://schemas.openxmlformats.org/drawingml/2006/main" r:embed="R930592cb3ff84f74"/>
          <a:stretch xmlns:a="http://schemas.openxmlformats.org/drawingml/2006/main"/>
        </p:blipFill>
        <p:spPr>
          <a:xfrm xmlns:a="http://schemas.openxmlformats.org/drawingml/2006/main">
            <a:off x="810281" y="2886075"/>
            <a:ext cx="436838" cy="6477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A1A1313B-BEB5-4954-9142-F37630F486EB}"/>
              </a:ext>
            </a:extLst>
          </p:cNvPr>
          <p:cNvPicPr>
            <a:picLocks xmlns:a="http://schemas.openxmlformats.org/drawingml/2006/main" noChangeAspect="1"/>
          </p:cNvPicPr>
          <p:nvPr/>
        </p:nvPicPr>
        <p:blipFill>
          <a:blip xmlns:r="http://schemas.openxmlformats.org/officeDocument/2006/relationships" xmlns:a="http://schemas.openxmlformats.org/drawingml/2006/main" r:embed="R962f73f12263407e"/>
          <a:stretch xmlns:a="http://schemas.openxmlformats.org/drawingml/2006/main"/>
        </p:blipFill>
        <p:spPr>
          <a:xfrm xmlns:a="http://schemas.openxmlformats.org/drawingml/2006/main">
            <a:off x="4001156" y="2886075"/>
            <a:ext cx="436838" cy="6477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A171C2E0-2979-476E-B74F-E421DD366D7C}"/>
              </a:ext>
            </a:extLst>
          </p:cNvPr>
          <p:cNvPicPr>
            <a:picLocks xmlns:a="http://schemas.openxmlformats.org/drawingml/2006/main" noChangeAspect="1"/>
          </p:cNvPicPr>
          <p:nvPr/>
        </p:nvPicPr>
        <p:blipFill>
          <a:blip xmlns:r="http://schemas.openxmlformats.org/officeDocument/2006/relationships" xmlns:a="http://schemas.openxmlformats.org/drawingml/2006/main" r:embed="R2008a729754a4e81"/>
          <a:stretch xmlns:a="http://schemas.openxmlformats.org/drawingml/2006/main"/>
        </p:blipFill>
        <p:spPr>
          <a:xfrm xmlns:a="http://schemas.openxmlformats.org/drawingml/2006/main">
            <a:off x="810281" y="3629025"/>
            <a:ext cx="436838" cy="6477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1BFBA3C-9DFD-43A9-82BB-610D72B45CF2}"/>
              </a:ext>
            </a:extLst>
          </p:cNvPr>
          <p:cNvPicPr>
            <a:picLocks xmlns:a="http://schemas.openxmlformats.org/drawingml/2006/main" noChangeAspect="1"/>
          </p:cNvPicPr>
          <p:nvPr/>
        </p:nvPicPr>
        <p:blipFill>
          <a:blip xmlns:r="http://schemas.openxmlformats.org/officeDocument/2006/relationships" xmlns:a="http://schemas.openxmlformats.org/drawingml/2006/main" r:embed="Rb1266643755f4aff"/>
          <a:stretch xmlns:a="http://schemas.openxmlformats.org/drawingml/2006/main"/>
        </p:blipFill>
        <p:spPr>
          <a:xfrm xmlns:a="http://schemas.openxmlformats.org/drawingml/2006/main">
            <a:off x="4001156" y="3629025"/>
            <a:ext cx="436838" cy="64770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3FD7ACF8-35B6-4A12-8F37-313C128B9462}"/>
              </a:ext>
            </a:extLst>
          </p:cNvPr>
          <p:cNvPicPr>
            <a:picLocks xmlns:a="http://schemas.openxmlformats.org/drawingml/2006/main" noChangeAspect="1"/>
          </p:cNvPicPr>
          <p:nvPr/>
        </p:nvPicPr>
        <p:blipFill>
          <a:blip xmlns:r="http://schemas.openxmlformats.org/officeDocument/2006/relationships" xmlns:a="http://schemas.openxmlformats.org/drawingml/2006/main" r:embed="Rf81bf1a2f0134c49"/>
          <a:stretch xmlns:a="http://schemas.openxmlformats.org/drawingml/2006/main"/>
        </p:blipFill>
        <p:spPr>
          <a:xfrm xmlns:a="http://schemas.openxmlformats.org/drawingml/2006/main">
            <a:off x="810281" y="4371975"/>
            <a:ext cx="436838" cy="6477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EFE25D35-828F-411F-BB9F-4086C5754307}"/>
              </a:ext>
            </a:extLst>
          </p:cNvPr>
          <p:cNvPicPr>
            <a:picLocks xmlns:a="http://schemas.openxmlformats.org/drawingml/2006/main" noChangeAspect="1"/>
          </p:cNvPicPr>
          <p:nvPr/>
        </p:nvPicPr>
        <p:blipFill>
          <a:blip xmlns:r="http://schemas.openxmlformats.org/officeDocument/2006/relationships" xmlns:a="http://schemas.openxmlformats.org/drawingml/2006/main" r:embed="R8abfac4754084399"/>
          <a:stretch xmlns:a="http://schemas.openxmlformats.org/drawingml/2006/main"/>
        </p:blipFill>
        <p:spPr>
          <a:xfrm xmlns:a="http://schemas.openxmlformats.org/drawingml/2006/main">
            <a:off x="3886200" y="4494133"/>
            <a:ext cx="666750" cy="40338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96879FA7-C8BA-4D89-9CA5-A8E837F035C4}"/>
              </a:ext>
            </a:extLst>
          </p:cNvPr>
          <p:cNvPicPr>
            <a:picLocks xmlns:a="http://schemas.openxmlformats.org/drawingml/2006/main" noChangeAspect="1"/>
          </p:cNvPicPr>
          <p:nvPr/>
        </p:nvPicPr>
        <p:blipFill>
          <a:blip xmlns:r="http://schemas.openxmlformats.org/officeDocument/2006/relationships" xmlns:a="http://schemas.openxmlformats.org/drawingml/2006/main" r:embed="Rb9c07455d2f54e9d"/>
          <a:stretch xmlns:a="http://schemas.openxmlformats.org/drawingml/2006/main"/>
        </p:blipFill>
        <p:spPr>
          <a:xfrm xmlns:a="http://schemas.openxmlformats.org/drawingml/2006/main">
            <a:off x="810281" y="5114925"/>
            <a:ext cx="436838" cy="6477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5035A3FA-5865-462C-A28E-1BBB00303BDF}"/>
              </a:ext>
            </a:extLst>
          </p:cNvPr>
          <p:cNvPicPr>
            <a:picLocks xmlns:a="http://schemas.openxmlformats.org/drawingml/2006/main" noChangeAspect="1"/>
          </p:cNvPicPr>
          <p:nvPr/>
        </p:nvPicPr>
        <p:blipFill>
          <a:blip xmlns:r="http://schemas.openxmlformats.org/officeDocument/2006/relationships" xmlns:a="http://schemas.openxmlformats.org/drawingml/2006/main" r:embed="R5aa253667db4450a"/>
          <a:stretch xmlns:a="http://schemas.openxmlformats.org/drawingml/2006/main"/>
        </p:blipFill>
        <p:spPr>
          <a:xfrm xmlns:a="http://schemas.openxmlformats.org/drawingml/2006/main">
            <a:off x="3886200" y="5237083"/>
            <a:ext cx="666750" cy="403384"/>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BCAE9D8-836D-447B-8F3D-E600FF09F09E}"/>
              </a:ext>
            </a:extLst>
          </p:cNvPr>
          <p:cNvSpPr>
            <a:spLocks xmlns:a="http://schemas.openxmlformats.org/drawingml/2006/main" noGrp="1"/>
          </p:cNvSpPr>
          <p:nvPr/>
        </p:nvSpPr>
        <p:spPr>
          <a:xfrm xmlns:a="http://schemas.openxmlformats.org/drawingml/2006/main">
            <a:off x="619125" y="61912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buNone/>
              <a:defRPr sz="2100" b="1">
                <a:solidFill>
                  <a:srgbClr val="B85D35"/>
                </a:solidFill>
              </a:defRPr>
            </a:lvl1pPr>
            <a:lvl2pPr>
              <a:buNone/>
              <a:defRPr sz="2100" b="1">
                <a:solidFill>
                  <a:srgbClr val="B85D35"/>
                </a:solidFill>
              </a:defRPr>
            </a:lvl2pPr>
            <a:lvl3pPr>
              <a:buNone/>
              <a:defRPr sz="2100" b="1">
                <a:solidFill>
                  <a:srgbClr val="B85D35"/>
                </a:solidFill>
              </a:defRPr>
            </a:lvl3pPr>
            <a:lvl4pPr>
              <a:buNone/>
              <a:defRPr sz="2100" b="1">
                <a:solidFill>
                  <a:srgbClr val="B85D35"/>
                </a:solidFill>
              </a:defRPr>
            </a:lvl4pPr>
            <a:lvl5pPr>
              <a:buNone/>
              <a:defRPr sz="2100" b="1">
                <a:solidFill>
                  <a:srgbClr val="B85D35"/>
                </a:solidFill>
              </a:defRPr>
            </a:lvl5pPr>
            <a:lvl6pPr>
              <a:buNone/>
              <a:defRPr sz="2100" b="1">
                <a:solidFill>
                  <a:srgbClr val="B85D35"/>
                </a:solidFill>
              </a:defRPr>
            </a:lvl6pPr>
            <a:lvl7pPr>
              <a:buNone/>
              <a:defRPr sz="2100" b="1">
                <a:solidFill>
                  <a:srgbClr val="B85D35"/>
                </a:solidFill>
              </a:defRPr>
            </a:lvl7pPr>
            <a:lvl8pPr>
              <a:buNone/>
              <a:defRPr sz="2100" b="1">
                <a:solidFill>
                  <a:srgbClr val="B85D35"/>
                </a:solidFill>
              </a:defRPr>
            </a:lvl8pPr>
            <a:lvl9pPr>
              <a:buNone/>
              <a:defRPr sz="2100" b="1">
                <a:solidFill>
                  <a:srgbClr val="B85D35"/>
                </a:solidFill>
              </a:defRPr>
            </a:lvl9pPr>
          </a:lstStyle>
          <a:p xmlns:a="http://schemas.openxmlformats.org/drawingml/2006/main">
            <a:pPr>
              <a:buNone/>
              <a:defRPr sz="2100" b="1">
                <a:solidFill>
                  <a:srgbClr val="B85D35"/>
                </a:solidFill>
              </a:defRPr>
            </a:pPr>
            <a:r>
              <a:rPr sz="2100" b="1">
                <a:solidFill>
                  <a:srgbClr val="B85D35"/>
                </a:solidFill>
              </a:rPr>
              <a:t>New name = new source record. Trusted checks duplicate content.</a:t>
            </a:r>
          </a:p>
        </p:txBody>
      </p:sp>
    </p:spTree>
    <p:extLst>
      <p:ext uri="{BB962C8B-B14F-4D97-AF65-F5344CB8AC3E}">
        <p14:creationId xmlns:p14="http://schemas.microsoft.com/office/powerpoint/2010/main" val="1756892432"/>
      </p:ext>
    </p:extLst>
  </p:cSld>
</p:sld>
</file>

<file path=ppt/slides/slide9.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92FE73-2C9D-4FDD-9EE3-D323CFD34BD9}"/>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Formatted choices for wildlife data</a:t>
            </a:r>
          </a:p>
        </p:txBody>
      </p:sp>
      <p:sp>
        <p:nvSpPr>
          <p:cNvPr id="2" name="">
            <a:extLst xmlns:a="http://schemas.openxmlformats.org/drawingml/2006/main">
              <a:ext uri="{FF2B5EF4-FFF2-40B4-BE49-F238E27FC236}">
                <a16:creationId xmlns:a16="http://schemas.microsoft.com/office/drawing/2014/main" id="{40E57462-0E8F-42B0-B3D8-19EFA83A7314}"/>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09</a:t>
            </a:r>
          </a:p>
        </p:txBody>
      </p:sp>
      <p:graphicFrame>
        <p:nvGraphicFramePr>
          <p:cNvPr id="3" name="">
            <a:extLst xmlns:a="http://schemas.openxmlformats.org/drawingml/2006/main">
              <a:ext uri="{FF2B5EF4-FFF2-40B4-BE49-F238E27FC236}">
                <a16:creationId xmlns:a16="http://schemas.microsoft.com/office/drawing/2014/main" id="{C19B5B69-A58C-4609-9E66-BC369FA97C60}"/>
              </a:ext>
            </a:extLst>
          </p:cNvPr>
          <p:cNvGraphicFramePr/>
          <p:nvPr/>
        </p:nvGraphicFramePr>
        <p:xfrm>
          <a:off xmlns:a="http://schemas.openxmlformats.org/drawingml/2006/main" x="609600" y="1933575"/>
          <a:ext xmlns:a="http://schemas.openxmlformats.org/drawingml/2006/main" cx="10953750" cy="3143250"/>
        </p:xfrm>
        <a:graphic xmlns:a="http://schemas.openxmlformats.org/drawingml/2006/main">
          <a:graphicData uri="http://schemas.openxmlformats.org/drawingml/2006/table">
            <a:tbl>
              <a:tblPr/>
              <a:tblGrid>
                <a:gridCol w="1619250"/>
                <a:gridCol w="3238500"/>
                <a:gridCol w="6096000"/>
              </a:tblGrid>
              <a:tr h="785813">
                <a:tc>
                  <a:txBody>
                    <a:bodyPr/>
                    <a:lstStyle/>
                    <a:p>
                      <a:r>
                        <a:rPr sz="2025" b="1">
                          <a:solidFill>
                            <a:srgbClr val="F5F1E7"/>
                          </a:solidFill>
                          <a:latin typeface="Arial"/>
                          <a:ea typeface="Arial"/>
                          <a:cs typeface="Arial"/>
                        </a:rPr>
                        <a:t>Asset</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Canonical format</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Why it fits this pipeline</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785813">
                <a:tc>
                  <a:txBody>
                    <a:bodyPr/>
                    <a:lstStyle/>
                    <a:p>
                      <a:r>
                        <a:rPr sz="1950">
                          <a:solidFill>
                            <a:srgbClr val="123B32"/>
                          </a:solidFill>
                          <a:latin typeface="Arial"/>
                          <a:ea typeface="Arial"/>
                          <a:cs typeface="Arial"/>
                        </a:rPr>
                        <a:t>Image</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RGB JPEG, quality 95</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Smaller photo files than typical PNG</a:t>
                      </a:r>
                    </a:p>
                    <a:p>
                      <a:r>
                        <a:rPr sz="1950">
                          <a:solidFill>
                            <a:srgbClr val="123B32"/>
                          </a:solidFill>
                          <a:latin typeface="Arial"/>
                          <a:ea typeface="Arial"/>
                          <a:cs typeface="Arial"/>
                        </a:rPr>
                        <a:t>High quality, original dimensions</a:t>
                      </a:r>
                    </a:p>
                  </a:txBody>
                  <a:tcPr marL="91440" marR="91440" marT="45720" marB="45720">
                    <a:lnR w="6668">
                      <a:solidFill>
                        <a:srgbClr val="A2B5A4"/>
                      </a:solidFill>
                      <a:prstDash val="solid"/>
                    </a:lnR>
                    <a:lnB w="6668">
                      <a:solidFill>
                        <a:srgbClr val="A2B5A4"/>
                      </a:solidFill>
                      <a:prstDash val="solid"/>
                    </a:lnB>
                    <a:solidFill>
                      <a:srgbClr val="F5F1E7"/>
                    </a:solidFill>
                  </a:tcPr>
                </a:tc>
              </a:tr>
              <a:tr h="785813">
                <a:tc>
                  <a:txBody>
                    <a:bodyPr/>
                    <a:lstStyle/>
                    <a:p>
                      <a:r>
                        <a:rPr sz="1950">
                          <a:solidFill>
                            <a:srgbClr val="123B32"/>
                          </a:solidFill>
                          <a:latin typeface="Arial"/>
                          <a:ea typeface="Arial"/>
                          <a:cs typeface="Arial"/>
                        </a:rPr>
                        <a:t>Audio</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FLAC PCM16</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Avoid extra loss in faint animal calls</a:t>
                      </a:r>
                    </a:p>
                    <a:p>
                      <a:r>
                        <a:rPr sz="1950">
                          <a:solidFill>
                            <a:srgbClr val="123B32"/>
                          </a:solidFill>
                          <a:latin typeface="Arial"/>
                          <a:ea typeface="Arial"/>
                          <a:cs typeface="Arial"/>
                        </a:rPr>
                        <a:t>Keep rain, background and quiet intervals</a:t>
                      </a:r>
                    </a:p>
                  </a:txBody>
                  <a:tcPr marL="91440" marR="91440" marT="45720" marB="45720">
                    <a:lnR w="6668">
                      <a:solidFill>
                        <a:srgbClr val="A2B5A4"/>
                      </a:solidFill>
                      <a:prstDash val="solid"/>
                    </a:lnR>
                    <a:lnB w="6668">
                      <a:solidFill>
                        <a:srgbClr val="A2B5A4"/>
                      </a:solidFill>
                      <a:prstDash val="solid"/>
                    </a:lnB>
                    <a:solidFill>
                      <a:srgbClr val="F5F1E7"/>
                    </a:solidFill>
                  </a:tcPr>
                </a:tc>
              </a:tr>
              <a:tr h="785813">
                <a:tc>
                  <a:txBody>
                    <a:bodyPr/>
                    <a:lstStyle/>
                    <a:p>
                      <a:r>
                        <a:rPr sz="1950">
                          <a:solidFill>
                            <a:srgbClr val="123B32"/>
                          </a:solidFill>
                          <a:latin typeface="Arial"/>
                          <a:ea typeface="Arial"/>
                          <a:cs typeface="Arial"/>
                        </a:rPr>
                        <a:t>Text</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UTF-8, LF, NFC</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Preserve multilingual wording</a:t>
                      </a:r>
                    </a:p>
                    <a:p>
                      <a:r>
                        <a:rPr sz="1950">
                          <a:solidFill>
                            <a:srgbClr val="123B32"/>
                          </a:solidFill>
                          <a:latin typeface="Arial"/>
                          <a:ea typeface="Arial"/>
                          <a:cs typeface="Arial"/>
                        </a:rPr>
                        <a:t>JSON: known text keys, then longest string</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sp>
        <p:nvSpPr>
          <p:cNvPr id="4" name="">
            <a:extLst xmlns:a="http://schemas.openxmlformats.org/drawingml/2006/main">
              <a:ext uri="{FF2B5EF4-FFF2-40B4-BE49-F238E27FC236}">
                <a16:creationId xmlns:a16="http://schemas.microsoft.com/office/drawing/2014/main" id="{6F27139B-A070-4385-9B3A-AF5AFFEE8896}"/>
              </a:ext>
            </a:extLst>
          </p:cNvPr>
          <p:cNvSpPr>
            <a:spLocks xmlns:a="http://schemas.openxmlformats.org/drawingml/2006/main" noGrp="1"/>
          </p:cNvSpPr>
          <p:nvPr/>
        </p:nvSpPr>
        <p:spPr>
          <a:xfrm xmlns:a="http://schemas.openxmlformats.org/drawingml/2006/main">
            <a:off x="619125" y="53054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buNone/>
              <a:defRPr sz="2100" b="1">
                <a:solidFill>
                  <a:srgbClr val="B85D35"/>
                </a:solidFill>
              </a:defRPr>
            </a:lvl1pPr>
            <a:lvl2pPr>
              <a:buNone/>
              <a:defRPr sz="2100" b="1">
                <a:solidFill>
                  <a:srgbClr val="B85D35"/>
                </a:solidFill>
              </a:defRPr>
            </a:lvl2pPr>
            <a:lvl3pPr>
              <a:buNone/>
              <a:defRPr sz="2100" b="1">
                <a:solidFill>
                  <a:srgbClr val="B85D35"/>
                </a:solidFill>
              </a:defRPr>
            </a:lvl3pPr>
            <a:lvl4pPr>
              <a:buNone/>
              <a:defRPr sz="2100" b="1">
                <a:solidFill>
                  <a:srgbClr val="B85D35"/>
                </a:solidFill>
              </a:defRPr>
            </a:lvl4pPr>
            <a:lvl5pPr>
              <a:buNone/>
              <a:defRPr sz="2100" b="1">
                <a:solidFill>
                  <a:srgbClr val="B85D35"/>
                </a:solidFill>
              </a:defRPr>
            </a:lvl5pPr>
            <a:lvl6pPr>
              <a:buNone/>
              <a:defRPr sz="2100" b="1">
                <a:solidFill>
                  <a:srgbClr val="B85D35"/>
                </a:solidFill>
              </a:defRPr>
            </a:lvl6pPr>
            <a:lvl7pPr>
              <a:buNone/>
              <a:defRPr sz="2100" b="1">
                <a:solidFill>
                  <a:srgbClr val="B85D35"/>
                </a:solidFill>
              </a:defRPr>
            </a:lvl7pPr>
            <a:lvl8pPr>
              <a:buNone/>
              <a:defRPr sz="2100" b="1">
                <a:solidFill>
                  <a:srgbClr val="B85D35"/>
                </a:solidFill>
              </a:defRPr>
            </a:lvl8pPr>
            <a:lvl9pPr>
              <a:buNone/>
              <a:defRPr sz="2100" b="1">
                <a:solidFill>
                  <a:srgbClr val="B85D35"/>
                </a:solidFill>
              </a:defRPr>
            </a:lvl9pPr>
          </a:lstStyle>
          <a:p xmlns:a="http://schemas.openxmlformats.org/drawingml/2006/main">
            <a:pPr>
              <a:buNone/>
              <a:defRPr sz="2100" b="1">
                <a:solidFill>
                  <a:srgbClr val="B85D35"/>
                </a:solidFill>
              </a:defRPr>
            </a:pPr>
            <a:r>
              <a:rPr sz="2100" b="1">
                <a:solidFill>
                  <a:srgbClr val="B85D35"/>
                </a:solidFill>
              </a:rPr>
              <a:t>MPO = several photos in one file. Use the first; keep all originals.</a:t>
            </a:r>
          </a:p>
        </p:txBody>
      </p:sp>
      <p:sp>
        <p:nvSpPr>
          <p:cNvPr id="5" name="">
            <a:extLst xmlns:a="http://schemas.openxmlformats.org/drawingml/2006/main">
              <a:ext uri="{FF2B5EF4-FFF2-40B4-BE49-F238E27FC236}">
                <a16:creationId xmlns:a16="http://schemas.microsoft.com/office/drawing/2014/main" id="{949715C3-C6ED-4B60-9420-B136E0EB3D2F}"/>
              </a:ext>
            </a:extLst>
          </p:cNvPr>
          <p:cNvSpPr>
            <a:spLocks xmlns:a="http://schemas.openxmlformats.org/drawingml/2006/main" noGrp="1"/>
          </p:cNvSpPr>
          <p:nvPr/>
        </p:nvSpPr>
        <p:spPr>
          <a:xfrm xmlns:a="http://schemas.openxmlformats.org/drawingml/2006/main">
            <a:off x="619125" y="601980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Trade-offs: JPEG loss, PCM16 precision, text layout. No quality gain is assumed.</a:t>
            </a:r>
          </a:p>
        </p:txBody>
      </p:sp>
    </p:spTree>
    <p:extLst>
      <p:ext uri="{BB962C8B-B14F-4D97-AF65-F5344CB8AC3E}">
        <p14:creationId xmlns:p14="http://schemas.microsoft.com/office/powerpoint/2010/main" val="1783287330"/>
      </p:ext>
    </p:extLst>
  </p:cSld>
</p:sld>
</file>

<file path=ppt/slides/slide10.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D46FF3-873A-4196-A525-3EBC92F1267C}"/>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Trusted: rejection or warning?</a:t>
            </a:r>
          </a:p>
        </p:txBody>
      </p:sp>
      <p:sp>
        <p:nvSpPr>
          <p:cNvPr id="2" name="">
            <a:extLst xmlns:a="http://schemas.openxmlformats.org/drawingml/2006/main">
              <a:ext uri="{FF2B5EF4-FFF2-40B4-BE49-F238E27FC236}">
                <a16:creationId xmlns:a16="http://schemas.microsoft.com/office/drawing/2014/main" id="{8D1FC05C-6EF7-4443-B193-93F2B0247BD8}"/>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10</a:t>
            </a:r>
          </a:p>
        </p:txBody>
      </p:sp>
      <p:graphicFrame>
        <p:nvGraphicFramePr>
          <p:cNvPr id="3" name="">
            <a:extLst xmlns:a="http://schemas.openxmlformats.org/drawingml/2006/main">
              <a:ext uri="{FF2B5EF4-FFF2-40B4-BE49-F238E27FC236}">
                <a16:creationId xmlns:a16="http://schemas.microsoft.com/office/drawing/2014/main" id="{49410860-490A-4A19-B843-A5FE4C3FE3D2}"/>
              </a:ext>
            </a:extLst>
          </p:cNvPr>
          <p:cNvGraphicFramePr/>
          <p:nvPr/>
        </p:nvGraphicFramePr>
        <p:xfrm>
          <a:off xmlns:a="http://schemas.openxmlformats.org/drawingml/2006/main" x="609600" y="1952625"/>
          <a:ext xmlns:a="http://schemas.openxmlformats.org/drawingml/2006/main" cx="10953750" cy="2857500"/>
        </p:xfrm>
        <a:graphic xmlns:a="http://schemas.openxmlformats.org/drawingml/2006/main">
          <a:graphicData uri="http://schemas.openxmlformats.org/drawingml/2006/table">
            <a:tbl>
              <a:tblPr/>
              <a:tblGrid>
                <a:gridCol w="5191125"/>
                <a:gridCol w="5762625"/>
              </a:tblGrid>
              <a:tr h="714375">
                <a:tc>
                  <a:txBody>
                    <a:bodyPr/>
                    <a:lstStyle/>
                    <a:p>
                      <a:r>
                        <a:rPr sz="2025" b="1">
                          <a:solidFill>
                            <a:srgbClr val="F5F1E7"/>
                          </a:solidFill>
                          <a:latin typeface="Arial"/>
                          <a:ea typeface="Arial"/>
                          <a:cs typeface="Arial"/>
                        </a:rPr>
                        <a:t>Observation</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Policy</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714375">
                <a:tc>
                  <a:txBody>
                    <a:bodyPr/>
                    <a:lstStyle/>
                    <a:p>
                      <a:r>
                        <a:rPr sz="2175">
                          <a:solidFill>
                            <a:srgbClr val="123B32"/>
                          </a:solidFill>
                          <a:latin typeface="Arial"/>
                          <a:ea typeface="Arial"/>
                          <a:cs typeface="Arial"/>
                        </a:rPr>
                        <a:t>Invalid decoding</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2175">
                          <a:solidFill>
                            <a:srgbClr val="123B32"/>
                          </a:solidFill>
                          <a:latin typeface="Arial"/>
                          <a:ea typeface="Arial"/>
                          <a:cs typeface="Arial"/>
                        </a:rPr>
                        <a:t>Reject with a reason</a:t>
                      </a:r>
                    </a:p>
                  </a:txBody>
                  <a:tcPr marL="91440" marR="91440" marT="45720" marB="45720">
                    <a:lnR w="6668">
                      <a:solidFill>
                        <a:srgbClr val="A2B5A4"/>
                      </a:solidFill>
                      <a:prstDash val="solid"/>
                    </a:lnR>
                    <a:lnB w="6668">
                      <a:solidFill>
                        <a:srgbClr val="A2B5A4"/>
                      </a:solidFill>
                      <a:prstDash val="solid"/>
                    </a:lnB>
                    <a:solidFill>
                      <a:srgbClr val="F5F1E7"/>
                    </a:solidFill>
                  </a:tcPr>
                </a:tc>
              </a:tr>
              <a:tr h="714375">
                <a:tc>
                  <a:txBody>
                    <a:bodyPr/>
                    <a:lstStyle/>
                    <a:p>
                      <a:r>
                        <a:rPr sz="2175">
                          <a:solidFill>
                            <a:srgbClr val="123B32"/>
                          </a:solidFill>
                          <a:latin typeface="Arial"/>
                          <a:ea typeface="Arial"/>
                          <a:cs typeface="Arial"/>
                        </a:rPr>
                        <a:t>Confirmed image duplicate</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2175">
                          <a:solidFill>
                            <a:srgbClr val="123B32"/>
                          </a:solidFill>
                          <a:latin typeface="Arial"/>
                          <a:ea typeface="Arial"/>
                          <a:cs typeface="Arial"/>
                        </a:rPr>
                        <a:t>Exclude the later matching image</a:t>
                      </a:r>
                    </a:p>
                  </a:txBody>
                  <a:tcPr marL="91440" marR="91440" marT="45720" marB="45720">
                    <a:lnR w="6668">
                      <a:solidFill>
                        <a:srgbClr val="A2B5A4"/>
                      </a:solidFill>
                      <a:prstDash val="solid"/>
                    </a:lnR>
                    <a:lnB w="6668">
                      <a:solidFill>
                        <a:srgbClr val="A2B5A4"/>
                      </a:solidFill>
                      <a:prstDash val="solid"/>
                    </a:lnB>
                    <a:solidFill>
                      <a:srgbClr val="F5F1E7"/>
                    </a:solidFill>
                  </a:tcPr>
                </a:tc>
              </a:tr>
              <a:tr h="714375">
                <a:tc>
                  <a:txBody>
                    <a:bodyPr/>
                    <a:lstStyle/>
                    <a:p>
                      <a:r>
                        <a:rPr sz="2175">
                          <a:solidFill>
                            <a:srgbClr val="123B32"/>
                          </a:solidFill>
                          <a:latin typeface="Arial"/>
                          <a:ea typeface="Arial"/>
                          <a:cs typeface="Arial"/>
                        </a:rPr>
                        <a:t>Watermark / low-energy audio</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2175">
                          <a:solidFill>
                            <a:srgbClr val="123B32"/>
                          </a:solidFill>
                          <a:latin typeface="Arial"/>
                          <a:ea typeface="Arial"/>
                          <a:cs typeface="Arial"/>
                        </a:rPr>
                        <a:t>Retain with a warning</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sp>
        <p:nvSpPr>
          <p:cNvPr id="4" name="">
            <a:extLst xmlns:a="http://schemas.openxmlformats.org/drawingml/2006/main">
              <a:ext uri="{FF2B5EF4-FFF2-40B4-BE49-F238E27FC236}">
                <a16:creationId xmlns:a16="http://schemas.microsoft.com/office/drawing/2014/main" id="{A1AB3496-B262-4302-9F2D-1A36ABB6D71B}"/>
              </a:ext>
            </a:extLst>
          </p:cNvPr>
          <p:cNvSpPr>
            <a:spLocks xmlns:a="http://schemas.openxmlformats.org/drawingml/2006/main" noGrp="1"/>
          </p:cNvSpPr>
          <p:nvPr/>
        </p:nvSpPr>
        <p:spPr>
          <a:xfrm xmlns:a="http://schemas.openxmlformats.org/drawingml/2006/main">
            <a:off x="628650" y="5229225"/>
            <a:ext cx="1090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B85D35"/>
                </a:solidFill>
              </a:defRPr>
            </a:defPPr>
            <a:lvl1pPr>
              <a:buNone/>
              <a:defRPr sz="2325" b="0">
                <a:solidFill>
                  <a:srgbClr val="B85D35"/>
                </a:solidFill>
              </a:defRPr>
            </a:lvl1pPr>
            <a:lvl2pPr>
              <a:buNone/>
              <a:defRPr sz="2325" b="0">
                <a:solidFill>
                  <a:srgbClr val="B85D35"/>
                </a:solidFill>
              </a:defRPr>
            </a:lvl2pPr>
            <a:lvl3pPr>
              <a:buNone/>
              <a:defRPr sz="2325" b="0">
                <a:solidFill>
                  <a:srgbClr val="B85D35"/>
                </a:solidFill>
              </a:defRPr>
            </a:lvl3pPr>
            <a:lvl4pPr>
              <a:buNone/>
              <a:defRPr sz="2325" b="0">
                <a:solidFill>
                  <a:srgbClr val="B85D35"/>
                </a:solidFill>
              </a:defRPr>
            </a:lvl4pPr>
            <a:lvl5pPr>
              <a:buNone/>
              <a:defRPr sz="2325" b="0">
                <a:solidFill>
                  <a:srgbClr val="B85D35"/>
                </a:solidFill>
              </a:defRPr>
            </a:lvl5pPr>
            <a:lvl6pPr>
              <a:buNone/>
              <a:defRPr sz="2325" b="0">
                <a:solidFill>
                  <a:srgbClr val="B85D35"/>
                </a:solidFill>
              </a:defRPr>
            </a:lvl6pPr>
            <a:lvl7pPr>
              <a:buNone/>
              <a:defRPr sz="2325" b="0">
                <a:solidFill>
                  <a:srgbClr val="B85D35"/>
                </a:solidFill>
              </a:defRPr>
            </a:lvl7pPr>
            <a:lvl8pPr>
              <a:buNone/>
              <a:defRPr sz="2325" b="0">
                <a:solidFill>
                  <a:srgbClr val="B85D35"/>
                </a:solidFill>
              </a:defRPr>
            </a:lvl8pPr>
            <a:lvl9pPr>
              <a:buNone/>
              <a:defRPr sz="2325" b="0">
                <a:solidFill>
                  <a:srgbClr val="B85D35"/>
                </a:solidFill>
              </a:defRPr>
            </a:lvl9pPr>
          </a:lstStyle>
          <a:p xmlns:a="http://schemas.openxmlformats.org/drawingml/2006/main">
            <a:pPr>
              <a:buNone/>
              <a:defRPr sz="2325" b="0">
                <a:solidFill>
                  <a:srgbClr val="B85D35"/>
                </a:solidFill>
              </a:defRPr>
            </a:pPr>
            <a:r>
              <a:rPr sz="2325" b="0">
                <a:solidFill>
                  <a:srgbClr val="B85D35"/>
                </a:solidFill>
              </a:rPr>
              <a:t>Image budget: 20 MB / 40 MP / minimum 128 × 128</a:t>
            </a:r>
          </a:p>
        </p:txBody>
      </p:sp>
      <p:sp>
        <p:nvSpPr>
          <p:cNvPr id="5" name="">
            <a:extLst xmlns:a="http://schemas.openxmlformats.org/drawingml/2006/main">
              <a:ext uri="{FF2B5EF4-FFF2-40B4-BE49-F238E27FC236}">
                <a16:creationId xmlns:a16="http://schemas.microsoft.com/office/drawing/2014/main" id="{D2807790-63CE-475D-AD32-E788BB35165E}"/>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Audio: 200 MB / text: 4 MB / preserve previously accepted bytes after later failures</a:t>
            </a:r>
          </a:p>
        </p:txBody>
      </p:sp>
    </p:spTree>
    <p:extLst>
      <p:ext uri="{BB962C8B-B14F-4D97-AF65-F5344CB8AC3E}">
        <p14:creationId xmlns:p14="http://schemas.microsoft.com/office/powerpoint/2010/main" val="1331649015"/>
      </p:ext>
    </p:extLst>
  </p:cSld>
</p:sld>
</file>

<file path=ppt/slides/slide11.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6B40C0B-3AB0-42A9-819A-FE6D6B45C43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Quality decisions leave an audit trail</a:t>
            </a:r>
          </a:p>
        </p:txBody>
      </p:sp>
      <p:sp>
        <p:nvSpPr>
          <p:cNvPr id="2" name="">
            <a:extLst xmlns:a="http://schemas.openxmlformats.org/drawingml/2006/main">
              <a:ext uri="{FF2B5EF4-FFF2-40B4-BE49-F238E27FC236}">
                <a16:creationId xmlns:a16="http://schemas.microsoft.com/office/drawing/2014/main" id="{5E297620-9D45-4E62-B4B4-7C3FC3E41A0F}"/>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11</a:t>
            </a:r>
          </a:p>
        </p:txBody>
      </p:sp>
      <p:sp>
        <p:nvSpPr>
          <p:cNvPr id="3" name="">
            <a:extLst xmlns:a="http://schemas.openxmlformats.org/drawingml/2006/main">
              <a:ext uri="{FF2B5EF4-FFF2-40B4-BE49-F238E27FC236}">
                <a16:creationId xmlns:a16="http://schemas.microsoft.com/office/drawing/2014/main" id="{748CE314-BDF7-4228-B2FE-EFD84619CBBB}"/>
              </a:ext>
            </a:extLst>
          </p:cNvPr>
          <p:cNvSpPr>
            <a:spLocks xmlns:a="http://schemas.openxmlformats.org/drawingml/2006/main" noGrp="1"/>
          </p:cNvSpPr>
          <p:nvPr/>
        </p:nvSpPr>
        <p:spPr>
          <a:xfrm xmlns:a="http://schemas.openxmlformats.org/drawingml/2006/main">
            <a:off x="609600" y="14763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B85D35"/>
                </a:solidFill>
              </a:defRPr>
            </a:defPPr>
            <a:lvl1pPr>
              <a:buNone/>
              <a:defRPr sz="2250" b="1">
                <a:solidFill>
                  <a:srgbClr val="B85D35"/>
                </a:solidFill>
              </a:defRPr>
            </a:lvl1pPr>
            <a:lvl2pPr>
              <a:buNone/>
              <a:defRPr sz="2250" b="1">
                <a:solidFill>
                  <a:srgbClr val="B85D35"/>
                </a:solidFill>
              </a:defRPr>
            </a:lvl2pPr>
            <a:lvl3pPr>
              <a:buNone/>
              <a:defRPr sz="2250" b="1">
                <a:solidFill>
                  <a:srgbClr val="B85D35"/>
                </a:solidFill>
              </a:defRPr>
            </a:lvl3pPr>
            <a:lvl4pPr>
              <a:buNone/>
              <a:defRPr sz="2250" b="1">
                <a:solidFill>
                  <a:srgbClr val="B85D35"/>
                </a:solidFill>
              </a:defRPr>
            </a:lvl4pPr>
            <a:lvl5pPr>
              <a:buNone/>
              <a:defRPr sz="2250" b="1">
                <a:solidFill>
                  <a:srgbClr val="B85D35"/>
                </a:solidFill>
              </a:defRPr>
            </a:lvl5pPr>
            <a:lvl6pPr>
              <a:buNone/>
              <a:defRPr sz="2250" b="1">
                <a:solidFill>
                  <a:srgbClr val="B85D35"/>
                </a:solidFill>
              </a:defRPr>
            </a:lvl6pPr>
            <a:lvl7pPr>
              <a:buNone/>
              <a:defRPr sz="2250" b="1">
                <a:solidFill>
                  <a:srgbClr val="B85D35"/>
                </a:solidFill>
              </a:defRPr>
            </a:lvl7pPr>
            <a:lvl8pPr>
              <a:buNone/>
              <a:defRPr sz="2250" b="1">
                <a:solidFill>
                  <a:srgbClr val="B85D35"/>
                </a:solidFill>
              </a:defRPr>
            </a:lvl8pPr>
            <a:lvl9pPr>
              <a:buNone/>
              <a:defRPr sz="2250" b="1">
                <a:solidFill>
                  <a:srgbClr val="B85D35"/>
                </a:solidFill>
              </a:defRPr>
            </a:lvl9pPr>
          </a:lstStyle>
          <a:p xmlns:a="http://schemas.openxmlformats.org/drawingml/2006/main">
            <a:pPr>
              <a:buNone/>
              <a:defRPr sz="2250" b="1">
                <a:solidFill>
                  <a:srgbClr val="B85D35"/>
                </a:solidFill>
              </a:defRPr>
            </a:pPr>
            <a:r>
              <a:rPr sz="2250" b="1">
                <a:solidFill>
                  <a:srgbClr val="B85D35"/>
                </a:solidFill>
              </a:rPr>
              <a:t>Per-asset manifests / HTML + CSV + JSON + plots</a:t>
            </a:r>
          </a:p>
        </p:txBody>
      </p:sp>
      <p:pic>
        <p:nvPicPr>
          <p:cNvPr id="4" name="">
            <a:extLst xmlns:a="http://schemas.openxmlformats.org/drawingml/2006/main">
              <a:ext uri="{FF2B5EF4-FFF2-40B4-BE49-F238E27FC236}">
                <a16:creationId xmlns:a16="http://schemas.microsoft.com/office/drawing/2014/main" id="{6933D177-9E69-4FCE-98B2-FB569D27C7B9}"/>
              </a:ext>
            </a:extLst>
          </p:cNvPr>
          <p:cNvPicPr>
            <a:picLocks xmlns:a="http://schemas.openxmlformats.org/drawingml/2006/main" noChangeAspect="1"/>
          </p:cNvPicPr>
          <p:nvPr/>
        </p:nvPicPr>
        <p:blipFill>
          <a:blip xmlns:r="http://schemas.openxmlformats.org/officeDocument/2006/relationships" xmlns:a="http://schemas.openxmlformats.org/drawingml/2006/main" r:embed="Rdf3c8482a4a9474d"/>
          <a:stretch xmlns:a="http://schemas.openxmlformats.org/drawingml/2006/main"/>
        </p:blipFill>
        <p:spPr>
          <a:xfrm xmlns:a="http://schemas.openxmlformats.org/drawingml/2006/main">
            <a:off x="836421" y="2333625"/>
            <a:ext cx="6261483" cy="3524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A468FB4-466B-49C7-81CE-0B58018C7FCD}"/>
              </a:ext>
            </a:extLst>
          </p:cNvPr>
          <p:cNvSpPr>
            <a:spLocks xmlns:a="http://schemas.openxmlformats.org/drawingml/2006/main" noGrp="1"/>
          </p:cNvSpPr>
          <p:nvPr/>
        </p:nvSpPr>
        <p:spPr>
          <a:xfrm xmlns:a="http://schemas.openxmlformats.org/drawingml/2006/main">
            <a:off x="7981950" y="21812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23B32"/>
                </a:solidFill>
              </a:defRPr>
            </a:defPPr>
            <a:lvl1pPr>
              <a:buNone/>
              <a:defRPr sz="4875" b="1">
                <a:solidFill>
                  <a:srgbClr val="123B32"/>
                </a:solidFill>
              </a:defRPr>
            </a:lvl1pPr>
            <a:lvl2pPr>
              <a:buNone/>
              <a:defRPr sz="4875" b="1">
                <a:solidFill>
                  <a:srgbClr val="123B32"/>
                </a:solidFill>
              </a:defRPr>
            </a:lvl2pPr>
            <a:lvl3pPr>
              <a:buNone/>
              <a:defRPr sz="4875" b="1">
                <a:solidFill>
                  <a:srgbClr val="123B32"/>
                </a:solidFill>
              </a:defRPr>
            </a:lvl3pPr>
            <a:lvl4pPr>
              <a:buNone/>
              <a:defRPr sz="4875" b="1">
                <a:solidFill>
                  <a:srgbClr val="123B32"/>
                </a:solidFill>
              </a:defRPr>
            </a:lvl4pPr>
            <a:lvl5pPr>
              <a:buNone/>
              <a:defRPr sz="4875" b="1">
                <a:solidFill>
                  <a:srgbClr val="123B32"/>
                </a:solidFill>
              </a:defRPr>
            </a:lvl5pPr>
            <a:lvl6pPr>
              <a:buNone/>
              <a:defRPr sz="4875" b="1">
                <a:solidFill>
                  <a:srgbClr val="123B32"/>
                </a:solidFill>
              </a:defRPr>
            </a:lvl6pPr>
            <a:lvl7pPr>
              <a:buNone/>
              <a:defRPr sz="4875" b="1">
                <a:solidFill>
                  <a:srgbClr val="123B32"/>
                </a:solidFill>
              </a:defRPr>
            </a:lvl7pPr>
            <a:lvl8pPr>
              <a:buNone/>
              <a:defRPr sz="4875" b="1">
                <a:solidFill>
                  <a:srgbClr val="123B32"/>
                </a:solidFill>
              </a:defRPr>
            </a:lvl8pPr>
            <a:lvl9pPr>
              <a:buNone/>
              <a:defRPr sz="4875" b="1">
                <a:solidFill>
                  <a:srgbClr val="123B32"/>
                </a:solidFill>
              </a:defRPr>
            </a:lvl9pPr>
          </a:lstStyle>
          <a:p xmlns:a="http://schemas.openxmlformats.org/drawingml/2006/main">
            <a:pPr>
              <a:buNone/>
              <a:defRPr sz="4875" b="1">
                <a:solidFill>
                  <a:srgbClr val="123B32"/>
                </a:solidFill>
              </a:defRPr>
            </a:pPr>
            <a:r>
              <a:rPr sz="4875" b="1">
                <a:solidFill>
                  <a:srgbClr val="123B32"/>
                </a:solidFill>
              </a:rPr>
              <a:t>100%</a:t>
            </a:r>
          </a:p>
        </p:txBody>
      </p:sp>
      <p:sp>
        <p:nvSpPr>
          <p:cNvPr id="6" name="">
            <a:extLst xmlns:a="http://schemas.openxmlformats.org/drawingml/2006/main">
              <a:ext uri="{FF2B5EF4-FFF2-40B4-BE49-F238E27FC236}">
                <a16:creationId xmlns:a16="http://schemas.microsoft.com/office/drawing/2014/main" id="{4DFC16DF-72FF-4A50-9567-A8962DE687A4}"/>
              </a:ext>
            </a:extLst>
          </p:cNvPr>
          <p:cNvSpPr>
            <a:spLocks xmlns:a="http://schemas.openxmlformats.org/drawingml/2006/main" noGrp="1"/>
          </p:cNvSpPr>
          <p:nvPr/>
        </p:nvSpPr>
        <p:spPr>
          <a:xfrm xmlns:a="http://schemas.openxmlformats.org/drawingml/2006/main">
            <a:off x="7991475" y="307657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buNone/>
              <a:defRPr sz="2100" b="0">
                <a:solidFill>
                  <a:srgbClr val="123B32"/>
                </a:solidFill>
              </a:defRPr>
            </a:lvl1pPr>
            <a:lvl2pPr>
              <a:buNone/>
              <a:defRPr sz="2100" b="0">
                <a:solidFill>
                  <a:srgbClr val="123B32"/>
                </a:solidFill>
              </a:defRPr>
            </a:lvl2pPr>
            <a:lvl3pPr>
              <a:buNone/>
              <a:defRPr sz="2100" b="0">
                <a:solidFill>
                  <a:srgbClr val="123B32"/>
                </a:solidFill>
              </a:defRPr>
            </a:lvl3pPr>
            <a:lvl4pPr>
              <a:buNone/>
              <a:defRPr sz="2100" b="0">
                <a:solidFill>
                  <a:srgbClr val="123B32"/>
                </a:solidFill>
              </a:defRPr>
            </a:lvl4pPr>
            <a:lvl5pPr>
              <a:buNone/>
              <a:defRPr sz="2100" b="0">
                <a:solidFill>
                  <a:srgbClr val="123B32"/>
                </a:solidFill>
              </a:defRPr>
            </a:lvl5pPr>
            <a:lvl6pPr>
              <a:buNone/>
              <a:defRPr sz="2100" b="0">
                <a:solidFill>
                  <a:srgbClr val="123B32"/>
                </a:solidFill>
              </a:defRPr>
            </a:lvl6pPr>
            <a:lvl7pPr>
              <a:buNone/>
              <a:defRPr sz="2100" b="0">
                <a:solidFill>
                  <a:srgbClr val="123B32"/>
                </a:solidFill>
              </a:defRPr>
            </a:lvl7pPr>
            <a:lvl8pPr>
              <a:buNone/>
              <a:defRPr sz="2100" b="0">
                <a:solidFill>
                  <a:srgbClr val="123B32"/>
                </a:solidFill>
              </a:defRPr>
            </a:lvl8pPr>
            <a:lvl9pPr>
              <a:buNone/>
              <a:defRPr sz="2100" b="0">
                <a:solidFill>
                  <a:srgbClr val="123B32"/>
                </a:solidFill>
              </a:defRPr>
            </a:lvl9pPr>
          </a:lstStyle>
          <a:p xmlns:a="http://schemas.openxmlformats.org/drawingml/2006/main">
            <a:pPr>
              <a:buNone/>
              <a:defRPr sz="2100" b="0">
                <a:solidFill>
                  <a:srgbClr val="123B32"/>
                </a:solidFill>
              </a:defRPr>
            </a:pPr>
            <a:r>
              <a:rPr sz="2100" b="0">
                <a:solidFill>
                  <a:srgbClr val="123B32"/>
                </a:solidFill>
              </a:rPr>
              <a:t>Provenance fields complete</a:t>
            </a:r>
          </a:p>
        </p:txBody>
      </p:sp>
      <p:sp>
        <p:nvSpPr>
          <p:cNvPr id="7" name="">
            <a:extLst xmlns:a="http://schemas.openxmlformats.org/drawingml/2006/main">
              <a:ext uri="{FF2B5EF4-FFF2-40B4-BE49-F238E27FC236}">
                <a16:creationId xmlns:a16="http://schemas.microsoft.com/office/drawing/2014/main" id="{D4746685-1AE0-4537-A434-04B5D0550C02}"/>
              </a:ext>
            </a:extLst>
          </p:cNvPr>
          <p:cNvSpPr>
            <a:spLocks xmlns:a="http://schemas.openxmlformats.org/drawingml/2006/main" noGrp="1"/>
          </p:cNvSpPr>
          <p:nvPr/>
        </p:nvSpPr>
        <p:spPr>
          <a:xfrm xmlns:a="http://schemas.openxmlformats.org/drawingml/2006/main">
            <a:off x="7981950" y="3962400"/>
            <a:ext cx="333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123B32"/>
                </a:solidFill>
              </a:defRPr>
            </a:defPPr>
            <a:lvl1pPr>
              <a:buNone/>
              <a:defRPr sz="4350" b="1">
                <a:solidFill>
                  <a:srgbClr val="123B32"/>
                </a:solidFill>
              </a:defRPr>
            </a:lvl1pPr>
            <a:lvl2pPr>
              <a:buNone/>
              <a:defRPr sz="4350" b="1">
                <a:solidFill>
                  <a:srgbClr val="123B32"/>
                </a:solidFill>
              </a:defRPr>
            </a:lvl2pPr>
            <a:lvl3pPr>
              <a:buNone/>
              <a:defRPr sz="4350" b="1">
                <a:solidFill>
                  <a:srgbClr val="123B32"/>
                </a:solidFill>
              </a:defRPr>
            </a:lvl3pPr>
            <a:lvl4pPr>
              <a:buNone/>
              <a:defRPr sz="4350" b="1">
                <a:solidFill>
                  <a:srgbClr val="123B32"/>
                </a:solidFill>
              </a:defRPr>
            </a:lvl4pPr>
            <a:lvl5pPr>
              <a:buNone/>
              <a:defRPr sz="4350" b="1">
                <a:solidFill>
                  <a:srgbClr val="123B32"/>
                </a:solidFill>
              </a:defRPr>
            </a:lvl5pPr>
            <a:lvl6pPr>
              <a:buNone/>
              <a:defRPr sz="4350" b="1">
                <a:solidFill>
                  <a:srgbClr val="123B32"/>
                </a:solidFill>
              </a:defRPr>
            </a:lvl6pPr>
            <a:lvl7pPr>
              <a:buNone/>
              <a:defRPr sz="4350" b="1">
                <a:solidFill>
                  <a:srgbClr val="123B32"/>
                </a:solidFill>
              </a:defRPr>
            </a:lvl7pPr>
            <a:lvl8pPr>
              <a:buNone/>
              <a:defRPr sz="4350" b="1">
                <a:solidFill>
                  <a:srgbClr val="123B32"/>
                </a:solidFill>
              </a:defRPr>
            </a:lvl8pPr>
            <a:lvl9pPr>
              <a:buNone/>
              <a:defRPr sz="4350" b="1">
                <a:solidFill>
                  <a:srgbClr val="123B32"/>
                </a:solidFill>
              </a:defRPr>
            </a:lvl9pPr>
          </a:lstStyle>
          <a:p xmlns:a="http://schemas.openxmlformats.org/drawingml/2006/main">
            <a:pPr>
              <a:buNone/>
              <a:defRPr sz="4350" b="1">
                <a:solidFill>
                  <a:srgbClr val="123B32"/>
                </a:solidFill>
              </a:defRPr>
            </a:pPr>
            <a:r>
              <a:rPr sz="4350" b="1">
                <a:solidFill>
                  <a:srgbClr val="123B32"/>
                </a:solidFill>
              </a:rPr>
              <a:t>0.0 bits</a:t>
            </a:r>
          </a:p>
        </p:txBody>
      </p:sp>
      <p:sp>
        <p:nvSpPr>
          <p:cNvPr id="8" name="">
            <a:extLst xmlns:a="http://schemas.openxmlformats.org/drawingml/2006/main">
              <a:ext uri="{FF2B5EF4-FFF2-40B4-BE49-F238E27FC236}">
                <a16:creationId xmlns:a16="http://schemas.microsoft.com/office/drawing/2014/main" id="{5C8555E4-5F08-41B0-A09B-C0D5B9BA464D}"/>
              </a:ext>
            </a:extLst>
          </p:cNvPr>
          <p:cNvSpPr>
            <a:spLocks xmlns:a="http://schemas.openxmlformats.org/drawingml/2006/main" noGrp="1"/>
          </p:cNvSpPr>
          <p:nvPr/>
        </p:nvSpPr>
        <p:spPr>
          <a:xfrm xmlns:a="http://schemas.openxmlformats.org/drawingml/2006/main">
            <a:off x="7991475" y="481012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buNone/>
              <a:defRPr sz="2100" b="0">
                <a:solidFill>
                  <a:srgbClr val="123B32"/>
                </a:solidFill>
              </a:defRPr>
            </a:lvl1pPr>
            <a:lvl2pPr>
              <a:buNone/>
              <a:defRPr sz="2100" b="0">
                <a:solidFill>
                  <a:srgbClr val="123B32"/>
                </a:solidFill>
              </a:defRPr>
            </a:lvl2pPr>
            <a:lvl3pPr>
              <a:buNone/>
              <a:defRPr sz="2100" b="0">
                <a:solidFill>
                  <a:srgbClr val="123B32"/>
                </a:solidFill>
              </a:defRPr>
            </a:lvl3pPr>
            <a:lvl4pPr>
              <a:buNone/>
              <a:defRPr sz="2100" b="0">
                <a:solidFill>
                  <a:srgbClr val="123B32"/>
                </a:solidFill>
              </a:defRPr>
            </a:lvl4pPr>
            <a:lvl5pPr>
              <a:buNone/>
              <a:defRPr sz="2100" b="0">
                <a:solidFill>
                  <a:srgbClr val="123B32"/>
                </a:solidFill>
              </a:defRPr>
            </a:lvl5pPr>
            <a:lvl6pPr>
              <a:buNone/>
              <a:defRPr sz="2100" b="0">
                <a:solidFill>
                  <a:srgbClr val="123B32"/>
                </a:solidFill>
              </a:defRPr>
            </a:lvl6pPr>
            <a:lvl7pPr>
              <a:buNone/>
              <a:defRPr sz="2100" b="0">
                <a:solidFill>
                  <a:srgbClr val="123B32"/>
                </a:solidFill>
              </a:defRPr>
            </a:lvl7pPr>
            <a:lvl8pPr>
              <a:buNone/>
              <a:defRPr sz="2100" b="0">
                <a:solidFill>
                  <a:srgbClr val="123B32"/>
                </a:solidFill>
              </a:defRPr>
            </a:lvl8pPr>
            <a:lvl9pPr>
              <a:buNone/>
              <a:defRPr sz="2100" b="0">
                <a:solidFill>
                  <a:srgbClr val="123B32"/>
                </a:solidFill>
              </a:defRPr>
            </a:lvl9pPr>
          </a:lstStyle>
          <a:p xmlns:a="http://schemas.openxmlformats.org/drawingml/2006/main">
            <a:pPr>
              <a:buNone/>
              <a:defRPr sz="2100" b="0">
                <a:solidFill>
                  <a:srgbClr val="123B32"/>
                </a:solidFill>
              </a:defRPr>
            </a:pPr>
            <a:r>
              <a:rPr sz="2100" b="0">
                <a:solidFill>
                  <a:srgbClr val="123B32"/>
                </a:solidFill>
              </a:rPr>
              <a:t>Species distribution shift</a:t>
            </a:r>
          </a:p>
        </p:txBody>
      </p:sp>
      <p:sp>
        <p:nvSpPr>
          <p:cNvPr id="9" name="">
            <a:extLst xmlns:a="http://schemas.openxmlformats.org/drawingml/2006/main">
              <a:ext uri="{FF2B5EF4-FFF2-40B4-BE49-F238E27FC236}">
                <a16:creationId xmlns:a16="http://schemas.microsoft.com/office/drawing/2014/main" id="{11522454-4FEE-49AD-B99C-4CDE22D02CE1}"/>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Real image report / 100 retained / 32 possible watermark flags / 19 Oct 2026</a:t>
            </a:r>
          </a:p>
        </p:txBody>
      </p:sp>
    </p:spTree>
    <p:extLst>
      <p:ext uri="{BB962C8B-B14F-4D97-AF65-F5344CB8AC3E}">
        <p14:creationId xmlns:p14="http://schemas.microsoft.com/office/powerpoint/2010/main" val="1745583513"/>
      </p:ext>
    </p:extLst>
  </p:cSld>
</p:sld>
</file>

<file path=ppt/slides/slide12.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B38E70-F35E-446A-A565-DD9B6507CFC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Did filtering change species representation?</a:t>
            </a:r>
          </a:p>
        </p:txBody>
      </p:sp>
      <p:sp>
        <p:nvSpPr>
          <p:cNvPr id="2" name="">
            <a:extLst xmlns:a="http://schemas.openxmlformats.org/drawingml/2006/main">
              <a:ext uri="{FF2B5EF4-FFF2-40B4-BE49-F238E27FC236}">
                <a16:creationId xmlns:a16="http://schemas.microsoft.com/office/drawing/2014/main" id="{8DAAC24D-D648-43C6-8F23-95CC5D8B52CD}"/>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12</a:t>
            </a:r>
          </a:p>
        </p:txBody>
      </p:sp>
      <p:graphicFrame>
        <p:nvGraphicFramePr>
          <p:cNvPr id="3" name="Chart">
            <a:extLst xmlns:a="http://schemas.openxmlformats.org/drawingml/2006/main">
              <a:ext uri="{FF2B5EF4-FFF2-40B4-BE49-F238E27FC236}">
                <a16:creationId xmlns:a16="http://schemas.microsoft.com/office/drawing/2014/main" id="{C81BBD1B-9DAF-47E4-80E7-A49C344C5D96}"/>
              </a:ext>
            </a:extLst>
          </p:cNvPr>
          <p:cNvGraphicFramePr/>
          <p:nvPr/>
        </p:nvGraphicFramePr>
        <p:xfrm>
          <a:off xmlns:a="http://schemas.openxmlformats.org/drawingml/2006/main" x="609600" y="1666875"/>
          <a:ext xmlns:a="http://schemas.openxmlformats.org/drawingml/2006/main" cx="10953750" cy="4000500"/>
        </p:xfrm>
        <a:graphic xmlns:a="http://schemas.openxmlformats.org/drawingml/2006/main">
          <a:graphicData uri="http://schemas.openxmlformats.org/drawingml/2006/chart">
            <c:chart xmlns:r="http://schemas.openxmlformats.org/officeDocument/2006/relationships" xmlns:c="http://schemas.openxmlformats.org/drawingml/2006/chart" r:id="R8e47e2cfb14d424d"/>
          </a:graphicData>
        </a:graphic>
      </p:graphicFrame>
      <p:sp>
        <p:nvSpPr>
          <p:cNvPr id="4" name="">
            <a:extLst xmlns:a="http://schemas.openxmlformats.org/drawingml/2006/main">
              <a:ext uri="{FF2B5EF4-FFF2-40B4-BE49-F238E27FC236}">
                <a16:creationId xmlns:a16="http://schemas.microsoft.com/office/drawing/2014/main" id="{49FFE01B-F833-446A-8528-B33206FD0731}"/>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100 images before / 100 after / Jensen–Shannon divergence: 0.0 bits</a:t>
            </a:r>
          </a:p>
        </p:txBody>
      </p:sp>
    </p:spTree>
    <p:extLst>
      <p:ext uri="{BB962C8B-B14F-4D97-AF65-F5344CB8AC3E}">
        <p14:creationId xmlns:p14="http://schemas.microsoft.com/office/powerpoint/2010/main" val="1248273369"/>
      </p:ext>
    </p:extLst>
  </p:cSld>
</p:sld>
</file>

<file path=ppt/slides/slide13.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A7EEA0-DA8F-4CFF-8E5F-FDD8C55BA9C7}"/>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Quiet intervals remain in the evidence</a:t>
            </a:r>
          </a:p>
        </p:txBody>
      </p:sp>
      <p:sp>
        <p:nvSpPr>
          <p:cNvPr id="2" name="">
            <a:extLst xmlns:a="http://schemas.openxmlformats.org/drawingml/2006/main">
              <a:ext uri="{FF2B5EF4-FFF2-40B4-BE49-F238E27FC236}">
                <a16:creationId xmlns:a16="http://schemas.microsoft.com/office/drawing/2014/main" id="{12E9621E-7DEE-4BD5-A67F-0714F0CCCE10}"/>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13</a:t>
            </a:r>
          </a:p>
        </p:txBody>
      </p:sp>
      <p:sp>
        <p:nvSpPr>
          <p:cNvPr id="3" name="">
            <a:extLst xmlns:a="http://schemas.openxmlformats.org/drawingml/2006/main">
              <a:ext uri="{FF2B5EF4-FFF2-40B4-BE49-F238E27FC236}">
                <a16:creationId xmlns:a16="http://schemas.microsoft.com/office/drawing/2014/main" id="{5C745134-F1E1-4074-ADB9-300D319C4B78}"/>
              </a:ext>
            </a:extLst>
          </p:cNvPr>
          <p:cNvSpPr>
            <a:spLocks xmlns:a="http://schemas.openxmlformats.org/drawingml/2006/main" noGrp="1"/>
          </p:cNvSpPr>
          <p:nvPr/>
        </p:nvSpPr>
        <p:spPr>
          <a:xfrm xmlns:a="http://schemas.openxmlformats.org/drawingml/2006/main">
            <a:off x="609600" y="14287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B85D35"/>
                </a:solidFill>
              </a:defRPr>
            </a:defPPr>
            <a:lvl1pPr>
              <a:buNone/>
              <a:defRPr sz="2175" b="0">
                <a:solidFill>
                  <a:srgbClr val="B85D35"/>
                </a:solidFill>
              </a:defRPr>
            </a:lvl1pPr>
            <a:lvl2pPr>
              <a:buNone/>
              <a:defRPr sz="2175" b="0">
                <a:solidFill>
                  <a:srgbClr val="B85D35"/>
                </a:solidFill>
              </a:defRPr>
            </a:lvl2pPr>
            <a:lvl3pPr>
              <a:buNone/>
              <a:defRPr sz="2175" b="0">
                <a:solidFill>
                  <a:srgbClr val="B85D35"/>
                </a:solidFill>
              </a:defRPr>
            </a:lvl3pPr>
            <a:lvl4pPr>
              <a:buNone/>
              <a:defRPr sz="2175" b="0">
                <a:solidFill>
                  <a:srgbClr val="B85D35"/>
                </a:solidFill>
              </a:defRPr>
            </a:lvl4pPr>
            <a:lvl5pPr>
              <a:buNone/>
              <a:defRPr sz="2175" b="0">
                <a:solidFill>
                  <a:srgbClr val="B85D35"/>
                </a:solidFill>
              </a:defRPr>
            </a:lvl5pPr>
            <a:lvl6pPr>
              <a:buNone/>
              <a:defRPr sz="2175" b="0">
                <a:solidFill>
                  <a:srgbClr val="B85D35"/>
                </a:solidFill>
              </a:defRPr>
            </a:lvl6pPr>
            <a:lvl7pPr>
              <a:buNone/>
              <a:defRPr sz="2175" b="0">
                <a:solidFill>
                  <a:srgbClr val="B85D35"/>
                </a:solidFill>
              </a:defRPr>
            </a:lvl7pPr>
            <a:lvl8pPr>
              <a:buNone/>
              <a:defRPr sz="2175" b="0">
                <a:solidFill>
                  <a:srgbClr val="B85D35"/>
                </a:solidFill>
              </a:defRPr>
            </a:lvl8pPr>
            <a:lvl9pPr>
              <a:buNone/>
              <a:defRPr sz="2175" b="0">
                <a:solidFill>
                  <a:srgbClr val="B85D35"/>
                </a:solidFill>
              </a:defRPr>
            </a:lvl9pPr>
          </a:lstStyle>
          <a:p xmlns:a="http://schemas.openxmlformats.org/drawingml/2006/main">
            <a:pPr>
              <a:buNone/>
              <a:defRPr sz="2175" b="0">
                <a:solidFill>
                  <a:srgbClr val="B85D35"/>
                </a:solidFill>
              </a:defRPr>
            </a:pPr>
            <a:r>
              <a:rPr sz="2175" b="0">
                <a:solidFill>
                  <a:srgbClr val="B85D35"/>
                </a:solidFill>
              </a:rPr>
              <a:t>Recordings grouped by low-energy window percentage</a:t>
            </a:r>
          </a:p>
        </p:txBody>
      </p:sp>
      <p:graphicFrame>
        <p:nvGraphicFramePr>
          <p:cNvPr id="4" name="Chart">
            <a:extLst xmlns:a="http://schemas.openxmlformats.org/drawingml/2006/main">
              <a:ext uri="{FF2B5EF4-FFF2-40B4-BE49-F238E27FC236}">
                <a16:creationId xmlns:a16="http://schemas.microsoft.com/office/drawing/2014/main" id="{48BCC737-729F-44BC-AD59-B3A3D314CCE5}"/>
              </a:ext>
            </a:extLst>
          </p:cNvPr>
          <p:cNvGraphicFramePr/>
          <p:nvPr/>
        </p:nvGraphicFramePr>
        <p:xfrm>
          <a:off xmlns:a="http://schemas.openxmlformats.org/drawingml/2006/main" x="609600" y="2152650"/>
          <a:ext xmlns:a="http://schemas.openxmlformats.org/drawingml/2006/main" cx="7524750" cy="3524250"/>
        </p:xfrm>
        <a:graphic xmlns:a="http://schemas.openxmlformats.org/drawingml/2006/main">
          <a:graphicData uri="http://schemas.openxmlformats.org/drawingml/2006/chart">
            <c:chart xmlns:r="http://schemas.openxmlformats.org/officeDocument/2006/relationships" xmlns:c="http://schemas.openxmlformats.org/drawingml/2006/chart" r:id="Re01665fcee3545a6"/>
          </a:graphicData>
        </a:graphic>
      </p:graphicFrame>
      <p:sp>
        <p:nvSpPr>
          <p:cNvPr id="5" name="">
            <a:extLst xmlns:a="http://schemas.openxmlformats.org/drawingml/2006/main">
              <a:ext uri="{FF2B5EF4-FFF2-40B4-BE49-F238E27FC236}">
                <a16:creationId xmlns:a16="http://schemas.microsoft.com/office/drawing/2014/main" id="{6D89DA39-70BB-4244-AA4C-7B79CFEA1DFA}"/>
              </a:ext>
            </a:extLst>
          </p:cNvPr>
          <p:cNvSpPr>
            <a:spLocks xmlns:a="http://schemas.openxmlformats.org/drawingml/2006/main" noGrp="1"/>
          </p:cNvSpPr>
          <p:nvPr/>
        </p:nvSpPr>
        <p:spPr>
          <a:xfrm xmlns:a="http://schemas.openxmlformats.org/drawingml/2006/main">
            <a:off x="8791575" y="2362200"/>
            <a:ext cx="276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B85D35"/>
                </a:solidFill>
              </a:defRPr>
            </a:defPPr>
            <a:lvl1pPr>
              <a:buNone/>
              <a:defRPr sz="3450" b="1">
                <a:solidFill>
                  <a:srgbClr val="B85D35"/>
                </a:solidFill>
              </a:defRPr>
            </a:lvl1pPr>
            <a:lvl2pPr>
              <a:buNone/>
              <a:defRPr sz="3450" b="1">
                <a:solidFill>
                  <a:srgbClr val="B85D35"/>
                </a:solidFill>
              </a:defRPr>
            </a:lvl2pPr>
            <a:lvl3pPr>
              <a:buNone/>
              <a:defRPr sz="3450" b="1">
                <a:solidFill>
                  <a:srgbClr val="B85D35"/>
                </a:solidFill>
              </a:defRPr>
            </a:lvl3pPr>
            <a:lvl4pPr>
              <a:buNone/>
              <a:defRPr sz="3450" b="1">
                <a:solidFill>
                  <a:srgbClr val="B85D35"/>
                </a:solidFill>
              </a:defRPr>
            </a:lvl4pPr>
            <a:lvl5pPr>
              <a:buNone/>
              <a:defRPr sz="3450" b="1">
                <a:solidFill>
                  <a:srgbClr val="B85D35"/>
                </a:solidFill>
              </a:defRPr>
            </a:lvl5pPr>
            <a:lvl6pPr>
              <a:buNone/>
              <a:defRPr sz="3450" b="1">
                <a:solidFill>
                  <a:srgbClr val="B85D35"/>
                </a:solidFill>
              </a:defRPr>
            </a:lvl6pPr>
            <a:lvl7pPr>
              <a:buNone/>
              <a:defRPr sz="3450" b="1">
                <a:solidFill>
                  <a:srgbClr val="B85D35"/>
                </a:solidFill>
              </a:defRPr>
            </a:lvl7pPr>
            <a:lvl8pPr>
              <a:buNone/>
              <a:defRPr sz="3450" b="1">
                <a:solidFill>
                  <a:srgbClr val="B85D35"/>
                </a:solidFill>
              </a:defRPr>
            </a:lvl8pPr>
            <a:lvl9pPr>
              <a:buNone/>
              <a:defRPr sz="3450" b="1">
                <a:solidFill>
                  <a:srgbClr val="B85D35"/>
                </a:solidFill>
              </a:defRPr>
            </a:lvl9pPr>
          </a:lstStyle>
          <a:p xmlns:a="http://schemas.openxmlformats.org/drawingml/2006/main">
            <a:pPr>
              <a:buNone/>
              <a:defRPr sz="3450" b="1">
                <a:solidFill>
                  <a:srgbClr val="B85D35"/>
                </a:solidFill>
              </a:defRPr>
            </a:pPr>
            <a:r>
              <a:rPr sz="3450" b="1">
                <a:solidFill>
                  <a:srgbClr val="B85D35"/>
                </a:solidFill>
              </a:rPr>
              <a:t>9 warnings</a:t>
            </a:r>
          </a:p>
        </p:txBody>
      </p:sp>
      <p:sp>
        <p:nvSpPr>
          <p:cNvPr id="6" name="">
            <a:extLst xmlns:a="http://schemas.openxmlformats.org/drawingml/2006/main">
              <a:ext uri="{FF2B5EF4-FFF2-40B4-BE49-F238E27FC236}">
                <a16:creationId xmlns:a16="http://schemas.microsoft.com/office/drawing/2014/main" id="{F80FE637-3F7B-440B-ACBC-CA3896071AB5}"/>
              </a:ext>
            </a:extLst>
          </p:cNvPr>
          <p:cNvSpPr>
            <a:spLocks xmlns:a="http://schemas.openxmlformats.org/drawingml/2006/main" noGrp="1"/>
          </p:cNvSpPr>
          <p:nvPr/>
        </p:nvSpPr>
        <p:spPr>
          <a:xfrm xmlns:a="http://schemas.openxmlformats.org/drawingml/2006/main">
            <a:off x="8791575" y="36004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75" b="1">
                <a:solidFill>
                  <a:srgbClr val="123B32"/>
                </a:solidFill>
              </a:defRPr>
            </a:defPPr>
            <a:lvl1pPr>
              <a:buNone/>
              <a:defRPr sz="3075" b="1">
                <a:solidFill>
                  <a:srgbClr val="123B32"/>
                </a:solidFill>
              </a:defRPr>
            </a:lvl1pPr>
            <a:lvl2pPr>
              <a:buNone/>
              <a:defRPr sz="3075" b="1">
                <a:solidFill>
                  <a:srgbClr val="123B32"/>
                </a:solidFill>
              </a:defRPr>
            </a:lvl2pPr>
            <a:lvl3pPr>
              <a:buNone/>
              <a:defRPr sz="3075" b="1">
                <a:solidFill>
                  <a:srgbClr val="123B32"/>
                </a:solidFill>
              </a:defRPr>
            </a:lvl3pPr>
            <a:lvl4pPr>
              <a:buNone/>
              <a:defRPr sz="3075" b="1">
                <a:solidFill>
                  <a:srgbClr val="123B32"/>
                </a:solidFill>
              </a:defRPr>
            </a:lvl4pPr>
            <a:lvl5pPr>
              <a:buNone/>
              <a:defRPr sz="3075" b="1">
                <a:solidFill>
                  <a:srgbClr val="123B32"/>
                </a:solidFill>
              </a:defRPr>
            </a:lvl5pPr>
            <a:lvl6pPr>
              <a:buNone/>
              <a:defRPr sz="3075" b="1">
                <a:solidFill>
                  <a:srgbClr val="123B32"/>
                </a:solidFill>
              </a:defRPr>
            </a:lvl6pPr>
            <a:lvl7pPr>
              <a:buNone/>
              <a:defRPr sz="3075" b="1">
                <a:solidFill>
                  <a:srgbClr val="123B32"/>
                </a:solidFill>
              </a:defRPr>
            </a:lvl7pPr>
            <a:lvl8pPr>
              <a:buNone/>
              <a:defRPr sz="3075" b="1">
                <a:solidFill>
                  <a:srgbClr val="123B32"/>
                </a:solidFill>
              </a:defRPr>
            </a:lvl8pPr>
            <a:lvl9pPr>
              <a:buNone/>
              <a:defRPr sz="3075" b="1">
                <a:solidFill>
                  <a:srgbClr val="123B32"/>
                </a:solidFill>
              </a:defRPr>
            </a:lvl9pPr>
          </a:lstStyle>
          <a:p xmlns:a="http://schemas.openxmlformats.org/drawingml/2006/main">
            <a:pPr>
              <a:buNone/>
              <a:defRPr sz="3075" b="1">
                <a:solidFill>
                  <a:srgbClr val="123B32"/>
                </a:solidFill>
              </a:defRPr>
            </a:pPr>
            <a:r>
              <a:rPr sz="3075" b="1">
                <a:solidFill>
                  <a:srgbClr val="123B32"/>
                </a:solidFill>
              </a:rPr>
              <a:t>34 retained</a:t>
            </a:r>
          </a:p>
        </p:txBody>
      </p:sp>
      <p:sp>
        <p:nvSpPr>
          <p:cNvPr id="7" name="">
            <a:extLst xmlns:a="http://schemas.openxmlformats.org/drawingml/2006/main">
              <a:ext uri="{FF2B5EF4-FFF2-40B4-BE49-F238E27FC236}">
                <a16:creationId xmlns:a16="http://schemas.microsoft.com/office/drawing/2014/main" id="{79489E10-1E2B-4A68-A639-E27A5512F7CB}"/>
              </a:ext>
            </a:extLst>
          </p:cNvPr>
          <p:cNvSpPr>
            <a:spLocks xmlns:a="http://schemas.openxmlformats.org/drawingml/2006/main" noGrp="1"/>
          </p:cNvSpPr>
          <p:nvPr/>
        </p:nvSpPr>
        <p:spPr>
          <a:xfrm xmlns:a="http://schemas.openxmlformats.org/drawingml/2006/main">
            <a:off x="8791575" y="4667250"/>
            <a:ext cx="276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23B32"/>
                </a:solidFill>
              </a:defRPr>
            </a:defPPr>
            <a:lvl1pPr>
              <a:buNone/>
              <a:defRPr sz="2100" b="0">
                <a:solidFill>
                  <a:srgbClr val="123B32"/>
                </a:solidFill>
              </a:defRPr>
            </a:lvl1pPr>
            <a:lvl2pPr>
              <a:buNone/>
              <a:defRPr sz="2100" b="0">
                <a:solidFill>
                  <a:srgbClr val="123B32"/>
                </a:solidFill>
              </a:defRPr>
            </a:lvl2pPr>
            <a:lvl3pPr>
              <a:buNone/>
              <a:defRPr sz="2100" b="0">
                <a:solidFill>
                  <a:srgbClr val="123B32"/>
                </a:solidFill>
              </a:defRPr>
            </a:lvl3pPr>
            <a:lvl4pPr>
              <a:buNone/>
              <a:defRPr sz="2100" b="0">
                <a:solidFill>
                  <a:srgbClr val="123B32"/>
                </a:solidFill>
              </a:defRPr>
            </a:lvl4pPr>
            <a:lvl5pPr>
              <a:buNone/>
              <a:defRPr sz="2100" b="0">
                <a:solidFill>
                  <a:srgbClr val="123B32"/>
                </a:solidFill>
              </a:defRPr>
            </a:lvl5pPr>
            <a:lvl6pPr>
              <a:buNone/>
              <a:defRPr sz="2100" b="0">
                <a:solidFill>
                  <a:srgbClr val="123B32"/>
                </a:solidFill>
              </a:defRPr>
            </a:lvl6pPr>
            <a:lvl7pPr>
              <a:buNone/>
              <a:defRPr sz="2100" b="0">
                <a:solidFill>
                  <a:srgbClr val="123B32"/>
                </a:solidFill>
              </a:defRPr>
            </a:lvl7pPr>
            <a:lvl8pPr>
              <a:buNone/>
              <a:defRPr sz="2100" b="0">
                <a:solidFill>
                  <a:srgbClr val="123B32"/>
                </a:solidFill>
              </a:defRPr>
            </a:lvl8pPr>
            <a:lvl9pPr>
              <a:buNone/>
              <a:defRPr sz="2100" b="0">
                <a:solidFill>
                  <a:srgbClr val="123B32"/>
                </a:solidFill>
              </a:defRPr>
            </a:lvl9pPr>
          </a:lstStyle>
          <a:p xmlns:a="http://schemas.openxmlformats.org/drawingml/2006/main">
            <a:pPr>
              <a:buNone/>
              <a:defRPr sz="2100" b="0">
                <a:solidFill>
                  <a:srgbClr val="123B32"/>
                </a:solidFill>
              </a:defRPr>
            </a:pPr>
            <a:r>
              <a:rPr sz="2100" b="0">
                <a:solidFill>
                  <a:srgbClr val="123B32"/>
                </a:solidFill>
              </a:rPr>
              <a:t>Complete recordings</a:t>
            </a:r>
          </a:p>
          <a:p xmlns:a="http://schemas.openxmlformats.org/drawingml/2006/main">
            <a:pPr>
              <a:buNone/>
              <a:defRPr sz="2100" b="0">
                <a:solidFill>
                  <a:srgbClr val="123B32"/>
                </a:solidFill>
              </a:defRPr>
            </a:pPr>
            <a:r>
              <a:rPr sz="2100" b="0">
                <a:solidFill>
                  <a:srgbClr val="123B32"/>
                </a:solidFill>
              </a:rPr>
              <a:t>remain available</a:t>
            </a:r>
          </a:p>
        </p:txBody>
      </p:sp>
      <p:sp>
        <p:nvSpPr>
          <p:cNvPr id="8" name="">
            <a:extLst xmlns:a="http://schemas.openxmlformats.org/drawingml/2006/main">
              <a:ext uri="{FF2B5EF4-FFF2-40B4-BE49-F238E27FC236}">
                <a16:creationId xmlns:a16="http://schemas.microsoft.com/office/drawing/2014/main" id="{7927EC3F-A20B-4306-8212-3A97C23181D9}"/>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50-ms windows below −50 dBFS / flag at ≥80% / same observed distributions</a:t>
            </a:r>
          </a:p>
        </p:txBody>
      </p:sp>
    </p:spTree>
    <p:extLst>
      <p:ext uri="{BB962C8B-B14F-4D97-AF65-F5344CB8AC3E}">
        <p14:creationId xmlns:p14="http://schemas.microsoft.com/office/powerpoint/2010/main" val="1500839669"/>
      </p:ext>
    </p:extLst>
  </p:cSld>
</p:sld>
</file>

<file path=ppt/slides/slide14.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1D55C88-106B-4662-95A5-53D60DC71DB4}"/>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Five collections, 6,021 embeddings</a:t>
            </a:r>
          </a:p>
        </p:txBody>
      </p:sp>
      <p:sp>
        <p:nvSpPr>
          <p:cNvPr id="2" name="">
            <a:extLst xmlns:a="http://schemas.openxmlformats.org/drawingml/2006/main">
              <a:ext uri="{FF2B5EF4-FFF2-40B4-BE49-F238E27FC236}">
                <a16:creationId xmlns:a16="http://schemas.microsoft.com/office/drawing/2014/main" id="{5E78A28C-AFC5-4B00-AC41-C2FCA27F1BBE}"/>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14</a:t>
            </a:r>
          </a:p>
        </p:txBody>
      </p:sp>
      <p:sp>
        <p:nvSpPr>
          <p:cNvPr id="3" name="">
            <a:extLst xmlns:a="http://schemas.openxmlformats.org/drawingml/2006/main">
              <a:ext uri="{FF2B5EF4-FFF2-40B4-BE49-F238E27FC236}">
                <a16:creationId xmlns:a16="http://schemas.microsoft.com/office/drawing/2014/main" id="{718E531F-8AB2-4CC4-8A7D-6F02B642C44D}"/>
              </a:ext>
            </a:extLst>
          </p:cNvPr>
          <p:cNvSpPr>
            <a:spLocks xmlns:a="http://schemas.openxmlformats.org/drawingml/2006/main" noGrp="1"/>
          </p:cNvSpPr>
          <p:nvPr/>
        </p:nvSpPr>
        <p:spPr>
          <a:xfrm xmlns:a="http://schemas.openxmlformats.org/drawingml/2006/main">
            <a:off x="609600" y="1790700"/>
            <a:ext cx="5048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400" b="1">
                <a:solidFill>
                  <a:srgbClr val="123B32"/>
                </a:solidFill>
              </a:defRPr>
            </a:defPPr>
            <a:lvl1pPr>
              <a:buNone/>
              <a:defRPr sz="8400" b="1">
                <a:solidFill>
                  <a:srgbClr val="123B32"/>
                </a:solidFill>
              </a:defRPr>
            </a:lvl1pPr>
            <a:lvl2pPr>
              <a:buNone/>
              <a:defRPr sz="8400" b="1">
                <a:solidFill>
                  <a:srgbClr val="123B32"/>
                </a:solidFill>
              </a:defRPr>
            </a:lvl2pPr>
            <a:lvl3pPr>
              <a:buNone/>
              <a:defRPr sz="8400" b="1">
                <a:solidFill>
                  <a:srgbClr val="123B32"/>
                </a:solidFill>
              </a:defRPr>
            </a:lvl3pPr>
            <a:lvl4pPr>
              <a:buNone/>
              <a:defRPr sz="8400" b="1">
                <a:solidFill>
                  <a:srgbClr val="123B32"/>
                </a:solidFill>
              </a:defRPr>
            </a:lvl4pPr>
            <a:lvl5pPr>
              <a:buNone/>
              <a:defRPr sz="8400" b="1">
                <a:solidFill>
                  <a:srgbClr val="123B32"/>
                </a:solidFill>
              </a:defRPr>
            </a:lvl5pPr>
            <a:lvl6pPr>
              <a:buNone/>
              <a:defRPr sz="8400" b="1">
                <a:solidFill>
                  <a:srgbClr val="123B32"/>
                </a:solidFill>
              </a:defRPr>
            </a:lvl6pPr>
            <a:lvl7pPr>
              <a:buNone/>
              <a:defRPr sz="8400" b="1">
                <a:solidFill>
                  <a:srgbClr val="123B32"/>
                </a:solidFill>
              </a:defRPr>
            </a:lvl7pPr>
            <a:lvl8pPr>
              <a:buNone/>
              <a:defRPr sz="8400" b="1">
                <a:solidFill>
                  <a:srgbClr val="123B32"/>
                </a:solidFill>
              </a:defRPr>
            </a:lvl8pPr>
            <a:lvl9pPr>
              <a:buNone/>
              <a:defRPr sz="8400" b="1">
                <a:solidFill>
                  <a:srgbClr val="123B32"/>
                </a:solidFill>
              </a:defRPr>
            </a:lvl9pPr>
          </a:lstStyle>
          <a:p xmlns:a="http://schemas.openxmlformats.org/drawingml/2006/main">
            <a:pPr>
              <a:buNone/>
              <a:defRPr sz="8400" b="1">
                <a:solidFill>
                  <a:srgbClr val="123B32"/>
                </a:solidFill>
              </a:defRPr>
            </a:pPr>
            <a:r>
              <a:rPr sz="8400" b="1">
                <a:solidFill>
                  <a:srgbClr val="123B32"/>
                </a:solidFill>
              </a:rPr>
              <a:t>6,021</a:t>
            </a:r>
          </a:p>
        </p:txBody>
      </p:sp>
      <p:sp>
        <p:nvSpPr>
          <p:cNvPr id="4" name="">
            <a:extLst xmlns:a="http://schemas.openxmlformats.org/drawingml/2006/main">
              <a:ext uri="{FF2B5EF4-FFF2-40B4-BE49-F238E27FC236}">
                <a16:creationId xmlns:a16="http://schemas.microsoft.com/office/drawing/2014/main" id="{F1482BC0-3F60-44A0-90DD-6406124EB2CE}"/>
              </a:ext>
            </a:extLst>
          </p:cNvPr>
          <p:cNvSpPr>
            <a:spLocks xmlns:a="http://schemas.openxmlformats.org/drawingml/2006/main" noGrp="1"/>
          </p:cNvSpPr>
          <p:nvPr/>
        </p:nvSpPr>
        <p:spPr>
          <a:xfrm xmlns:a="http://schemas.openxmlformats.org/drawingml/2006/main">
            <a:off x="685800" y="341947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123B32"/>
                </a:solidFill>
              </a:defRPr>
            </a:defPPr>
            <a:lvl1pPr>
              <a:buNone/>
              <a:defRPr sz="2700" b="0">
                <a:solidFill>
                  <a:srgbClr val="123B32"/>
                </a:solidFill>
              </a:defRPr>
            </a:lvl1pPr>
            <a:lvl2pPr>
              <a:buNone/>
              <a:defRPr sz="2700" b="0">
                <a:solidFill>
                  <a:srgbClr val="123B32"/>
                </a:solidFill>
              </a:defRPr>
            </a:lvl2pPr>
            <a:lvl3pPr>
              <a:buNone/>
              <a:defRPr sz="2700" b="0">
                <a:solidFill>
                  <a:srgbClr val="123B32"/>
                </a:solidFill>
              </a:defRPr>
            </a:lvl3pPr>
            <a:lvl4pPr>
              <a:buNone/>
              <a:defRPr sz="2700" b="0">
                <a:solidFill>
                  <a:srgbClr val="123B32"/>
                </a:solidFill>
              </a:defRPr>
            </a:lvl4pPr>
            <a:lvl5pPr>
              <a:buNone/>
              <a:defRPr sz="2700" b="0">
                <a:solidFill>
                  <a:srgbClr val="123B32"/>
                </a:solidFill>
              </a:defRPr>
            </a:lvl5pPr>
            <a:lvl6pPr>
              <a:buNone/>
              <a:defRPr sz="2700" b="0">
                <a:solidFill>
                  <a:srgbClr val="123B32"/>
                </a:solidFill>
              </a:defRPr>
            </a:lvl6pPr>
            <a:lvl7pPr>
              <a:buNone/>
              <a:defRPr sz="2700" b="0">
                <a:solidFill>
                  <a:srgbClr val="123B32"/>
                </a:solidFill>
              </a:defRPr>
            </a:lvl7pPr>
            <a:lvl8pPr>
              <a:buNone/>
              <a:defRPr sz="2700" b="0">
                <a:solidFill>
                  <a:srgbClr val="123B32"/>
                </a:solidFill>
              </a:defRPr>
            </a:lvl8pPr>
            <a:lvl9pPr>
              <a:buNone/>
              <a:defRPr sz="2700" b="0">
                <a:solidFill>
                  <a:srgbClr val="123B32"/>
                </a:solidFill>
              </a:defRPr>
            </a:lvl9pPr>
          </a:lstStyle>
          <a:p xmlns:a="http://schemas.openxmlformats.org/drawingml/2006/main">
            <a:pPr>
              <a:buNone/>
              <a:defRPr sz="2700" b="0">
                <a:solidFill>
                  <a:srgbClr val="123B32"/>
                </a:solidFill>
              </a:defRPr>
            </a:pPr>
            <a:r>
              <a:rPr sz="2700" b="0">
                <a:solidFill>
                  <a:srgbClr val="123B32"/>
                </a:solidFill>
              </a:rPr>
              <a:t>embeddings</a:t>
            </a:r>
          </a:p>
          <a:p xmlns:a="http://schemas.openxmlformats.org/drawingml/2006/main">
            <a:pPr>
              <a:buNone/>
              <a:defRPr sz="2700" b="0">
                <a:solidFill>
                  <a:srgbClr val="123B32"/>
                </a:solidFill>
              </a:defRPr>
            </a:pPr>
            <a:r>
              <a:rPr sz="2700" b="0">
                <a:solidFill>
                  <a:srgbClr val="123B32"/>
                </a:solidFill>
              </a:rPr>
              <a:t>from 198 assets</a:t>
            </a:r>
          </a:p>
        </p:txBody>
      </p:sp>
      <p:sp>
        <p:nvSpPr>
          <p:cNvPr id="5" name="">
            <a:extLst xmlns:a="http://schemas.openxmlformats.org/drawingml/2006/main">
              <a:ext uri="{FF2B5EF4-FFF2-40B4-BE49-F238E27FC236}">
                <a16:creationId xmlns:a16="http://schemas.microsoft.com/office/drawing/2014/main" id="{CBFE928E-574A-4EFB-850B-AD643481FB21}"/>
              </a:ext>
            </a:extLst>
          </p:cNvPr>
          <p:cNvSpPr>
            <a:spLocks xmlns:a="http://schemas.openxmlformats.org/drawingml/2006/main" noGrp="1"/>
          </p:cNvSpPr>
          <p:nvPr/>
        </p:nvSpPr>
        <p:spPr>
          <a:xfrm xmlns:a="http://schemas.openxmlformats.org/drawingml/2006/main">
            <a:off x="5905500" y="1828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buNone/>
              <a:defRPr sz="2175" b="0">
                <a:solidFill>
                  <a:srgbClr val="123B32"/>
                </a:solidFill>
              </a:defRPr>
            </a:lvl1pPr>
            <a:lvl2pPr>
              <a:buNone/>
              <a:defRPr sz="2175" b="0">
                <a:solidFill>
                  <a:srgbClr val="123B32"/>
                </a:solidFill>
              </a:defRPr>
            </a:lvl2pPr>
            <a:lvl3pPr>
              <a:buNone/>
              <a:defRPr sz="2175" b="0">
                <a:solidFill>
                  <a:srgbClr val="123B32"/>
                </a:solidFill>
              </a:defRPr>
            </a:lvl3pPr>
            <a:lvl4pPr>
              <a:buNone/>
              <a:defRPr sz="2175" b="0">
                <a:solidFill>
                  <a:srgbClr val="123B32"/>
                </a:solidFill>
              </a:defRPr>
            </a:lvl4pPr>
            <a:lvl5pPr>
              <a:buNone/>
              <a:defRPr sz="2175" b="0">
                <a:solidFill>
                  <a:srgbClr val="123B32"/>
                </a:solidFill>
              </a:defRPr>
            </a:lvl5pPr>
            <a:lvl6pPr>
              <a:buNone/>
              <a:defRPr sz="2175" b="0">
                <a:solidFill>
                  <a:srgbClr val="123B32"/>
                </a:solidFill>
              </a:defRPr>
            </a:lvl6pPr>
            <a:lvl7pPr>
              <a:buNone/>
              <a:defRPr sz="2175" b="0">
                <a:solidFill>
                  <a:srgbClr val="123B32"/>
                </a:solidFill>
              </a:defRPr>
            </a:lvl7pPr>
            <a:lvl8pPr>
              <a:buNone/>
              <a:defRPr sz="2175" b="0">
                <a:solidFill>
                  <a:srgbClr val="123B32"/>
                </a:solidFill>
              </a:defRPr>
            </a:lvl8pPr>
            <a:lvl9pPr>
              <a:buNone/>
              <a:defRPr sz="2175" b="0">
                <a:solidFill>
                  <a:srgbClr val="123B32"/>
                </a:solidFill>
              </a:defRPr>
            </a:lvl9pPr>
          </a:lstStyle>
          <a:p xmlns:a="http://schemas.openxmlformats.org/drawingml/2006/main">
            <a:pPr>
              <a:buNone/>
              <a:defRPr sz="2175" b="0">
                <a:solidFill>
                  <a:srgbClr val="123B32"/>
                </a:solidFill>
              </a:defRPr>
            </a:pPr>
            <a:r>
              <a:rPr sz="2175" b="0">
                <a:solidFill>
                  <a:srgbClr val="123B32"/>
                </a:solidFill>
              </a:rPr>
              <a:t>Image / CLIP</a:t>
            </a:r>
          </a:p>
        </p:txBody>
      </p:sp>
      <p:sp>
        <p:nvSpPr>
          <p:cNvPr id="6" name="">
            <a:extLst xmlns:a="http://schemas.openxmlformats.org/drawingml/2006/main">
              <a:ext uri="{FF2B5EF4-FFF2-40B4-BE49-F238E27FC236}">
                <a16:creationId xmlns:a16="http://schemas.microsoft.com/office/drawing/2014/main" id="{A7774D76-F118-4DBE-9D87-F4FA3292167E}"/>
              </a:ext>
            </a:extLst>
          </p:cNvPr>
          <p:cNvSpPr>
            <a:spLocks xmlns:a="http://schemas.openxmlformats.org/drawingml/2006/main" noGrp="1"/>
          </p:cNvSpPr>
          <p:nvPr/>
        </p:nvSpPr>
        <p:spPr>
          <a:xfrm xmlns:a="http://schemas.openxmlformats.org/drawingml/2006/main">
            <a:off x="10096500" y="1828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buNone/>
              <a:defRPr sz="2550" b="1">
                <a:solidFill>
                  <a:srgbClr val="123B32"/>
                </a:solidFill>
              </a:defRPr>
            </a:lvl1pPr>
            <a:lvl2pPr>
              <a:buNone/>
              <a:defRPr sz="2550" b="1">
                <a:solidFill>
                  <a:srgbClr val="123B32"/>
                </a:solidFill>
              </a:defRPr>
            </a:lvl2pPr>
            <a:lvl3pPr>
              <a:buNone/>
              <a:defRPr sz="2550" b="1">
                <a:solidFill>
                  <a:srgbClr val="123B32"/>
                </a:solidFill>
              </a:defRPr>
            </a:lvl3pPr>
            <a:lvl4pPr>
              <a:buNone/>
              <a:defRPr sz="2550" b="1">
                <a:solidFill>
                  <a:srgbClr val="123B32"/>
                </a:solidFill>
              </a:defRPr>
            </a:lvl4pPr>
            <a:lvl5pPr>
              <a:buNone/>
              <a:defRPr sz="2550" b="1">
                <a:solidFill>
                  <a:srgbClr val="123B32"/>
                </a:solidFill>
              </a:defRPr>
            </a:lvl5pPr>
            <a:lvl6pPr>
              <a:buNone/>
              <a:defRPr sz="2550" b="1">
                <a:solidFill>
                  <a:srgbClr val="123B32"/>
                </a:solidFill>
              </a:defRPr>
            </a:lvl6pPr>
            <a:lvl7pPr>
              <a:buNone/>
              <a:defRPr sz="2550" b="1">
                <a:solidFill>
                  <a:srgbClr val="123B32"/>
                </a:solidFill>
              </a:defRPr>
            </a:lvl7pPr>
            <a:lvl8pPr>
              <a:buNone/>
              <a:defRPr sz="2550" b="1">
                <a:solidFill>
                  <a:srgbClr val="123B32"/>
                </a:solidFill>
              </a:defRPr>
            </a:lvl8pPr>
            <a:lvl9pPr>
              <a:buNone/>
              <a:defRPr sz="2550" b="1">
                <a:solidFill>
                  <a:srgbClr val="123B32"/>
                </a:solidFill>
              </a:defRPr>
            </a:lvl9pPr>
          </a:lstStyle>
          <a:p xmlns:a="http://schemas.openxmlformats.org/drawingml/2006/main">
            <a:pPr>
              <a:buNone/>
              <a:defRPr sz="2550" b="1">
                <a:solidFill>
                  <a:srgbClr val="123B32"/>
                </a:solidFill>
              </a:defRPr>
            </a:pPr>
            <a:r>
              <a:rPr sz="2550" b="1">
                <a:solidFill>
                  <a:srgbClr val="123B32"/>
                </a:solidFill>
              </a:rPr>
              <a:t>100</a:t>
            </a:r>
          </a:p>
        </p:txBody>
      </p:sp>
      <p:sp>
        <p:nvSpPr>
          <p:cNvPr id="7" name="">
            <a:extLst xmlns:a="http://schemas.openxmlformats.org/drawingml/2006/main">
              <a:ext uri="{FF2B5EF4-FFF2-40B4-BE49-F238E27FC236}">
                <a16:creationId xmlns:a16="http://schemas.microsoft.com/office/drawing/2014/main" id="{6F26D6B0-A7F7-4F3F-8F2D-6FDC037B1ABA}"/>
              </a:ext>
            </a:extLst>
          </p:cNvPr>
          <p:cNvSpPr>
            <a:spLocks xmlns:a="http://schemas.openxmlformats.org/drawingml/2006/main" noGrp="1"/>
          </p:cNvSpPr>
          <p:nvPr/>
        </p:nvSpPr>
        <p:spPr>
          <a:xfrm xmlns:a="http://schemas.openxmlformats.org/drawingml/2006/main">
            <a:off x="5905500" y="2590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buNone/>
              <a:defRPr sz="2175" b="0">
                <a:solidFill>
                  <a:srgbClr val="123B32"/>
                </a:solidFill>
              </a:defRPr>
            </a:lvl1pPr>
            <a:lvl2pPr>
              <a:buNone/>
              <a:defRPr sz="2175" b="0">
                <a:solidFill>
                  <a:srgbClr val="123B32"/>
                </a:solidFill>
              </a:defRPr>
            </a:lvl2pPr>
            <a:lvl3pPr>
              <a:buNone/>
              <a:defRPr sz="2175" b="0">
                <a:solidFill>
                  <a:srgbClr val="123B32"/>
                </a:solidFill>
              </a:defRPr>
            </a:lvl3pPr>
            <a:lvl4pPr>
              <a:buNone/>
              <a:defRPr sz="2175" b="0">
                <a:solidFill>
                  <a:srgbClr val="123B32"/>
                </a:solidFill>
              </a:defRPr>
            </a:lvl4pPr>
            <a:lvl5pPr>
              <a:buNone/>
              <a:defRPr sz="2175" b="0">
                <a:solidFill>
                  <a:srgbClr val="123B32"/>
                </a:solidFill>
              </a:defRPr>
            </a:lvl5pPr>
            <a:lvl6pPr>
              <a:buNone/>
              <a:defRPr sz="2175" b="0">
                <a:solidFill>
                  <a:srgbClr val="123B32"/>
                </a:solidFill>
              </a:defRPr>
            </a:lvl6pPr>
            <a:lvl7pPr>
              <a:buNone/>
              <a:defRPr sz="2175" b="0">
                <a:solidFill>
                  <a:srgbClr val="123B32"/>
                </a:solidFill>
              </a:defRPr>
            </a:lvl7pPr>
            <a:lvl8pPr>
              <a:buNone/>
              <a:defRPr sz="2175" b="0">
                <a:solidFill>
                  <a:srgbClr val="123B32"/>
                </a:solidFill>
              </a:defRPr>
            </a:lvl8pPr>
            <a:lvl9pPr>
              <a:buNone/>
              <a:defRPr sz="2175" b="0">
                <a:solidFill>
                  <a:srgbClr val="123B32"/>
                </a:solidFill>
              </a:defRPr>
            </a:lvl9pPr>
          </a:lstStyle>
          <a:p xmlns:a="http://schemas.openxmlformats.org/drawingml/2006/main">
            <a:pPr>
              <a:buNone/>
              <a:defRPr sz="2175" b="0">
                <a:solidFill>
                  <a:srgbClr val="123B32"/>
                </a:solidFill>
              </a:defRPr>
            </a:pPr>
            <a:r>
              <a:rPr sz="2175" b="0">
                <a:solidFill>
                  <a:srgbClr val="123B32"/>
                </a:solidFill>
              </a:rPr>
              <a:t>Audio / CLAP</a:t>
            </a:r>
          </a:p>
        </p:txBody>
      </p:sp>
      <p:sp>
        <p:nvSpPr>
          <p:cNvPr id="8" name="">
            <a:extLst xmlns:a="http://schemas.openxmlformats.org/drawingml/2006/main">
              <a:ext uri="{FF2B5EF4-FFF2-40B4-BE49-F238E27FC236}">
                <a16:creationId xmlns:a16="http://schemas.microsoft.com/office/drawing/2014/main" id="{1B2DB0D4-D417-4BE4-A6B9-B9E2F377D15A}"/>
              </a:ext>
            </a:extLst>
          </p:cNvPr>
          <p:cNvSpPr>
            <a:spLocks xmlns:a="http://schemas.openxmlformats.org/drawingml/2006/main" noGrp="1"/>
          </p:cNvSpPr>
          <p:nvPr/>
        </p:nvSpPr>
        <p:spPr>
          <a:xfrm xmlns:a="http://schemas.openxmlformats.org/drawingml/2006/main">
            <a:off x="10096500" y="2590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buNone/>
              <a:defRPr sz="2550" b="1">
                <a:solidFill>
                  <a:srgbClr val="123B32"/>
                </a:solidFill>
              </a:defRPr>
            </a:lvl1pPr>
            <a:lvl2pPr>
              <a:buNone/>
              <a:defRPr sz="2550" b="1">
                <a:solidFill>
                  <a:srgbClr val="123B32"/>
                </a:solidFill>
              </a:defRPr>
            </a:lvl2pPr>
            <a:lvl3pPr>
              <a:buNone/>
              <a:defRPr sz="2550" b="1">
                <a:solidFill>
                  <a:srgbClr val="123B32"/>
                </a:solidFill>
              </a:defRPr>
            </a:lvl3pPr>
            <a:lvl4pPr>
              <a:buNone/>
              <a:defRPr sz="2550" b="1">
                <a:solidFill>
                  <a:srgbClr val="123B32"/>
                </a:solidFill>
              </a:defRPr>
            </a:lvl4pPr>
            <a:lvl5pPr>
              <a:buNone/>
              <a:defRPr sz="2550" b="1">
                <a:solidFill>
                  <a:srgbClr val="123B32"/>
                </a:solidFill>
              </a:defRPr>
            </a:lvl5pPr>
            <a:lvl6pPr>
              <a:buNone/>
              <a:defRPr sz="2550" b="1">
                <a:solidFill>
                  <a:srgbClr val="123B32"/>
                </a:solidFill>
              </a:defRPr>
            </a:lvl6pPr>
            <a:lvl7pPr>
              <a:buNone/>
              <a:defRPr sz="2550" b="1">
                <a:solidFill>
                  <a:srgbClr val="123B32"/>
                </a:solidFill>
              </a:defRPr>
            </a:lvl7pPr>
            <a:lvl8pPr>
              <a:buNone/>
              <a:defRPr sz="2550" b="1">
                <a:solidFill>
                  <a:srgbClr val="123B32"/>
                </a:solidFill>
              </a:defRPr>
            </a:lvl8pPr>
            <a:lvl9pPr>
              <a:buNone/>
              <a:defRPr sz="2550" b="1">
                <a:solidFill>
                  <a:srgbClr val="123B32"/>
                </a:solidFill>
              </a:defRPr>
            </a:lvl9pPr>
          </a:lstStyle>
          <a:p xmlns:a="http://schemas.openxmlformats.org/drawingml/2006/main">
            <a:pPr>
              <a:buNone/>
              <a:defRPr sz="2550" b="1">
                <a:solidFill>
                  <a:srgbClr val="123B32"/>
                </a:solidFill>
              </a:defRPr>
            </a:pPr>
            <a:r>
              <a:rPr sz="2550" b="1">
                <a:solidFill>
                  <a:srgbClr val="123B32"/>
                </a:solidFill>
              </a:rPr>
              <a:t>357</a:t>
            </a:r>
          </a:p>
        </p:txBody>
      </p:sp>
      <p:sp>
        <p:nvSpPr>
          <p:cNvPr id="9" name="">
            <a:extLst xmlns:a="http://schemas.openxmlformats.org/drawingml/2006/main">
              <a:ext uri="{FF2B5EF4-FFF2-40B4-BE49-F238E27FC236}">
                <a16:creationId xmlns:a16="http://schemas.microsoft.com/office/drawing/2014/main" id="{EAA632C6-57E8-4518-814A-AA3FF7DB7CCE}"/>
              </a:ext>
            </a:extLst>
          </p:cNvPr>
          <p:cNvSpPr>
            <a:spLocks xmlns:a="http://schemas.openxmlformats.org/drawingml/2006/main" noGrp="1"/>
          </p:cNvSpPr>
          <p:nvPr/>
        </p:nvSpPr>
        <p:spPr>
          <a:xfrm xmlns:a="http://schemas.openxmlformats.org/drawingml/2006/main">
            <a:off x="5905500" y="3352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23B32"/>
                </a:solidFill>
              </a:defRPr>
            </a:defPPr>
            <a:lvl1pPr>
              <a:buNone/>
              <a:defRPr sz="2175" b="0">
                <a:solidFill>
                  <a:srgbClr val="123B32"/>
                </a:solidFill>
              </a:defRPr>
            </a:lvl1pPr>
            <a:lvl2pPr>
              <a:buNone/>
              <a:defRPr sz="2175" b="0">
                <a:solidFill>
                  <a:srgbClr val="123B32"/>
                </a:solidFill>
              </a:defRPr>
            </a:lvl2pPr>
            <a:lvl3pPr>
              <a:buNone/>
              <a:defRPr sz="2175" b="0">
                <a:solidFill>
                  <a:srgbClr val="123B32"/>
                </a:solidFill>
              </a:defRPr>
            </a:lvl3pPr>
            <a:lvl4pPr>
              <a:buNone/>
              <a:defRPr sz="2175" b="0">
                <a:solidFill>
                  <a:srgbClr val="123B32"/>
                </a:solidFill>
              </a:defRPr>
            </a:lvl4pPr>
            <a:lvl5pPr>
              <a:buNone/>
              <a:defRPr sz="2175" b="0">
                <a:solidFill>
                  <a:srgbClr val="123B32"/>
                </a:solidFill>
              </a:defRPr>
            </a:lvl5pPr>
            <a:lvl6pPr>
              <a:buNone/>
              <a:defRPr sz="2175" b="0">
                <a:solidFill>
                  <a:srgbClr val="123B32"/>
                </a:solidFill>
              </a:defRPr>
            </a:lvl6pPr>
            <a:lvl7pPr>
              <a:buNone/>
              <a:defRPr sz="2175" b="0">
                <a:solidFill>
                  <a:srgbClr val="123B32"/>
                </a:solidFill>
              </a:defRPr>
            </a:lvl7pPr>
            <a:lvl8pPr>
              <a:buNone/>
              <a:defRPr sz="2175" b="0">
                <a:solidFill>
                  <a:srgbClr val="123B32"/>
                </a:solidFill>
              </a:defRPr>
            </a:lvl8pPr>
            <a:lvl9pPr>
              <a:buNone/>
              <a:defRPr sz="2175" b="0">
                <a:solidFill>
                  <a:srgbClr val="123B32"/>
                </a:solidFill>
              </a:defRPr>
            </a:lvl9pPr>
          </a:lstStyle>
          <a:p xmlns:a="http://schemas.openxmlformats.org/drawingml/2006/main">
            <a:pPr>
              <a:buNone/>
              <a:defRPr sz="2175" b="0">
                <a:solidFill>
                  <a:srgbClr val="123B32"/>
                </a:solidFill>
              </a:defRPr>
            </a:pPr>
            <a:r>
              <a:rPr sz="2175" b="0">
                <a:solidFill>
                  <a:srgbClr val="123B32"/>
                </a:solidFill>
              </a:rPr>
              <a:t>Text / E5</a:t>
            </a:r>
          </a:p>
        </p:txBody>
      </p:sp>
      <p:sp>
        <p:nvSpPr>
          <p:cNvPr id="10" name="">
            <a:extLst xmlns:a="http://schemas.openxmlformats.org/drawingml/2006/main">
              <a:ext uri="{FF2B5EF4-FFF2-40B4-BE49-F238E27FC236}">
                <a16:creationId xmlns:a16="http://schemas.microsoft.com/office/drawing/2014/main" id="{99BFC510-FFAD-4C2F-A328-043BE9AFF514}"/>
              </a:ext>
            </a:extLst>
          </p:cNvPr>
          <p:cNvSpPr>
            <a:spLocks xmlns:a="http://schemas.openxmlformats.org/drawingml/2006/main" noGrp="1"/>
          </p:cNvSpPr>
          <p:nvPr/>
        </p:nvSpPr>
        <p:spPr>
          <a:xfrm xmlns:a="http://schemas.openxmlformats.org/drawingml/2006/main">
            <a:off x="10096500" y="3352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buNone/>
              <a:defRPr sz="2550" b="1">
                <a:solidFill>
                  <a:srgbClr val="123B32"/>
                </a:solidFill>
              </a:defRPr>
            </a:lvl1pPr>
            <a:lvl2pPr>
              <a:buNone/>
              <a:defRPr sz="2550" b="1">
                <a:solidFill>
                  <a:srgbClr val="123B32"/>
                </a:solidFill>
              </a:defRPr>
            </a:lvl2pPr>
            <a:lvl3pPr>
              <a:buNone/>
              <a:defRPr sz="2550" b="1">
                <a:solidFill>
                  <a:srgbClr val="123B32"/>
                </a:solidFill>
              </a:defRPr>
            </a:lvl3pPr>
            <a:lvl4pPr>
              <a:buNone/>
              <a:defRPr sz="2550" b="1">
                <a:solidFill>
                  <a:srgbClr val="123B32"/>
                </a:solidFill>
              </a:defRPr>
            </a:lvl4pPr>
            <a:lvl5pPr>
              <a:buNone/>
              <a:defRPr sz="2550" b="1">
                <a:solidFill>
                  <a:srgbClr val="123B32"/>
                </a:solidFill>
              </a:defRPr>
            </a:lvl5pPr>
            <a:lvl6pPr>
              <a:buNone/>
              <a:defRPr sz="2550" b="1">
                <a:solidFill>
                  <a:srgbClr val="123B32"/>
                </a:solidFill>
              </a:defRPr>
            </a:lvl6pPr>
            <a:lvl7pPr>
              <a:buNone/>
              <a:defRPr sz="2550" b="1">
                <a:solidFill>
                  <a:srgbClr val="123B32"/>
                </a:solidFill>
              </a:defRPr>
            </a:lvl7pPr>
            <a:lvl8pPr>
              <a:buNone/>
              <a:defRPr sz="2550" b="1">
                <a:solidFill>
                  <a:srgbClr val="123B32"/>
                </a:solidFill>
              </a:defRPr>
            </a:lvl8pPr>
            <a:lvl9pPr>
              <a:buNone/>
              <a:defRPr sz="2550" b="1">
                <a:solidFill>
                  <a:srgbClr val="123B32"/>
                </a:solidFill>
              </a:defRPr>
            </a:lvl9pPr>
          </a:lstStyle>
          <a:p xmlns:a="http://schemas.openxmlformats.org/drawingml/2006/main">
            <a:pPr>
              <a:buNone/>
              <a:defRPr sz="2550" b="1">
                <a:solidFill>
                  <a:srgbClr val="123B32"/>
                </a:solidFill>
              </a:defRPr>
            </a:pPr>
            <a:r>
              <a:rPr sz="2550" b="1">
                <a:solidFill>
                  <a:srgbClr val="123B32"/>
                </a:solidFill>
              </a:rPr>
              <a:t>547</a:t>
            </a:r>
          </a:p>
        </p:txBody>
      </p:sp>
      <p:sp>
        <p:nvSpPr>
          <p:cNvPr id="11" name="">
            <a:extLst xmlns:a="http://schemas.openxmlformats.org/drawingml/2006/main">
              <a:ext uri="{FF2B5EF4-FFF2-40B4-BE49-F238E27FC236}">
                <a16:creationId xmlns:a16="http://schemas.microsoft.com/office/drawing/2014/main" id="{4DD39F00-A582-46C3-B470-5E7CCA1F5245}"/>
              </a:ext>
            </a:extLst>
          </p:cNvPr>
          <p:cNvSpPr>
            <a:spLocks xmlns:a="http://schemas.openxmlformats.org/drawingml/2006/main" noGrp="1"/>
          </p:cNvSpPr>
          <p:nvPr/>
        </p:nvSpPr>
        <p:spPr>
          <a:xfrm xmlns:a="http://schemas.openxmlformats.org/drawingml/2006/main">
            <a:off x="5905500" y="4114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Image + text / CLIP</a:t>
            </a:r>
          </a:p>
        </p:txBody>
      </p:sp>
      <p:sp>
        <p:nvSpPr>
          <p:cNvPr id="12" name="">
            <a:extLst xmlns:a="http://schemas.openxmlformats.org/drawingml/2006/main">
              <a:ext uri="{FF2B5EF4-FFF2-40B4-BE49-F238E27FC236}">
                <a16:creationId xmlns:a16="http://schemas.microsoft.com/office/drawing/2014/main" id="{10C4777E-735D-46E2-909C-2B8D1BB5D13E}"/>
              </a:ext>
            </a:extLst>
          </p:cNvPr>
          <p:cNvSpPr>
            <a:spLocks xmlns:a="http://schemas.openxmlformats.org/drawingml/2006/main" noGrp="1"/>
          </p:cNvSpPr>
          <p:nvPr/>
        </p:nvSpPr>
        <p:spPr>
          <a:xfrm xmlns:a="http://schemas.openxmlformats.org/drawingml/2006/main">
            <a:off x="10096500" y="4114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B85D35"/>
                </a:solidFill>
              </a:defRPr>
            </a:defPPr>
            <a:lvl1pPr>
              <a:buNone/>
              <a:defRPr sz="2550" b="1">
                <a:solidFill>
                  <a:srgbClr val="B85D35"/>
                </a:solidFill>
              </a:defRPr>
            </a:lvl1pPr>
            <a:lvl2pPr>
              <a:buNone/>
              <a:defRPr sz="2550" b="1">
                <a:solidFill>
                  <a:srgbClr val="B85D35"/>
                </a:solidFill>
              </a:defRPr>
            </a:lvl2pPr>
            <a:lvl3pPr>
              <a:buNone/>
              <a:defRPr sz="2550" b="1">
                <a:solidFill>
                  <a:srgbClr val="B85D35"/>
                </a:solidFill>
              </a:defRPr>
            </a:lvl3pPr>
            <a:lvl4pPr>
              <a:buNone/>
              <a:defRPr sz="2550" b="1">
                <a:solidFill>
                  <a:srgbClr val="B85D35"/>
                </a:solidFill>
              </a:defRPr>
            </a:lvl4pPr>
            <a:lvl5pPr>
              <a:buNone/>
              <a:defRPr sz="2550" b="1">
                <a:solidFill>
                  <a:srgbClr val="B85D35"/>
                </a:solidFill>
              </a:defRPr>
            </a:lvl5pPr>
            <a:lvl6pPr>
              <a:buNone/>
              <a:defRPr sz="2550" b="1">
                <a:solidFill>
                  <a:srgbClr val="B85D35"/>
                </a:solidFill>
              </a:defRPr>
            </a:lvl6pPr>
            <a:lvl7pPr>
              <a:buNone/>
              <a:defRPr sz="2550" b="1">
                <a:solidFill>
                  <a:srgbClr val="B85D35"/>
                </a:solidFill>
              </a:defRPr>
            </a:lvl7pPr>
            <a:lvl8pPr>
              <a:buNone/>
              <a:defRPr sz="2550" b="1">
                <a:solidFill>
                  <a:srgbClr val="B85D35"/>
                </a:solidFill>
              </a:defRPr>
            </a:lvl8pPr>
            <a:lvl9pPr>
              <a:buNone/>
              <a:defRPr sz="2550" b="1">
                <a:solidFill>
                  <a:srgbClr val="B85D35"/>
                </a:solidFill>
              </a:defRPr>
            </a:lvl9pPr>
          </a:lstStyle>
          <a:p xmlns:a="http://schemas.openxmlformats.org/drawingml/2006/main">
            <a:pPr>
              <a:buNone/>
              <a:defRPr sz="2550" b="1">
                <a:solidFill>
                  <a:srgbClr val="B85D35"/>
                </a:solidFill>
              </a:defRPr>
            </a:pPr>
            <a:r>
              <a:rPr sz="2550" b="1">
                <a:solidFill>
                  <a:srgbClr val="B85D35"/>
                </a:solidFill>
              </a:rPr>
              <a:t>1,763</a:t>
            </a:r>
          </a:p>
        </p:txBody>
      </p:sp>
      <p:sp>
        <p:nvSpPr>
          <p:cNvPr id="13" name="">
            <a:extLst xmlns:a="http://schemas.openxmlformats.org/drawingml/2006/main">
              <a:ext uri="{FF2B5EF4-FFF2-40B4-BE49-F238E27FC236}">
                <a16:creationId xmlns:a16="http://schemas.microsoft.com/office/drawing/2014/main" id="{CAB766D8-D31A-467C-8CB0-423D31B73994}"/>
              </a:ext>
            </a:extLst>
          </p:cNvPr>
          <p:cNvSpPr>
            <a:spLocks xmlns:a="http://schemas.openxmlformats.org/drawingml/2006/main" noGrp="1"/>
          </p:cNvSpPr>
          <p:nvPr/>
        </p:nvSpPr>
        <p:spPr>
          <a:xfrm xmlns:a="http://schemas.openxmlformats.org/drawingml/2006/main">
            <a:off x="5905500" y="4876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Audio + text / CLAP</a:t>
            </a:r>
          </a:p>
        </p:txBody>
      </p:sp>
      <p:sp>
        <p:nvSpPr>
          <p:cNvPr id="14" name="">
            <a:extLst xmlns:a="http://schemas.openxmlformats.org/drawingml/2006/main">
              <a:ext uri="{FF2B5EF4-FFF2-40B4-BE49-F238E27FC236}">
                <a16:creationId xmlns:a16="http://schemas.microsoft.com/office/drawing/2014/main" id="{05E8A19D-8916-4AAC-9470-9A8859603E31}"/>
              </a:ext>
            </a:extLst>
          </p:cNvPr>
          <p:cNvSpPr>
            <a:spLocks xmlns:a="http://schemas.openxmlformats.org/drawingml/2006/main" noGrp="1"/>
          </p:cNvSpPr>
          <p:nvPr/>
        </p:nvSpPr>
        <p:spPr>
          <a:xfrm xmlns:a="http://schemas.openxmlformats.org/drawingml/2006/main">
            <a:off x="10096500" y="487680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B85D35"/>
                </a:solidFill>
              </a:defRPr>
            </a:defPPr>
            <a:lvl1pPr>
              <a:buNone/>
              <a:defRPr sz="2550" b="1">
                <a:solidFill>
                  <a:srgbClr val="B85D35"/>
                </a:solidFill>
              </a:defRPr>
            </a:lvl1pPr>
            <a:lvl2pPr>
              <a:buNone/>
              <a:defRPr sz="2550" b="1">
                <a:solidFill>
                  <a:srgbClr val="B85D35"/>
                </a:solidFill>
              </a:defRPr>
            </a:lvl2pPr>
            <a:lvl3pPr>
              <a:buNone/>
              <a:defRPr sz="2550" b="1">
                <a:solidFill>
                  <a:srgbClr val="B85D35"/>
                </a:solidFill>
              </a:defRPr>
            </a:lvl3pPr>
            <a:lvl4pPr>
              <a:buNone/>
              <a:defRPr sz="2550" b="1">
                <a:solidFill>
                  <a:srgbClr val="B85D35"/>
                </a:solidFill>
              </a:defRPr>
            </a:lvl4pPr>
            <a:lvl5pPr>
              <a:buNone/>
              <a:defRPr sz="2550" b="1">
                <a:solidFill>
                  <a:srgbClr val="B85D35"/>
                </a:solidFill>
              </a:defRPr>
            </a:lvl5pPr>
            <a:lvl6pPr>
              <a:buNone/>
              <a:defRPr sz="2550" b="1">
                <a:solidFill>
                  <a:srgbClr val="B85D35"/>
                </a:solidFill>
              </a:defRPr>
            </a:lvl6pPr>
            <a:lvl7pPr>
              <a:buNone/>
              <a:defRPr sz="2550" b="1">
                <a:solidFill>
                  <a:srgbClr val="B85D35"/>
                </a:solidFill>
              </a:defRPr>
            </a:lvl7pPr>
            <a:lvl8pPr>
              <a:buNone/>
              <a:defRPr sz="2550" b="1">
                <a:solidFill>
                  <a:srgbClr val="B85D35"/>
                </a:solidFill>
              </a:defRPr>
            </a:lvl8pPr>
            <a:lvl9pPr>
              <a:buNone/>
              <a:defRPr sz="2550" b="1">
                <a:solidFill>
                  <a:srgbClr val="B85D35"/>
                </a:solidFill>
              </a:defRPr>
            </a:lvl9pPr>
          </a:lstStyle>
          <a:p xmlns:a="http://schemas.openxmlformats.org/drawingml/2006/main">
            <a:pPr>
              <a:buNone/>
              <a:defRPr sz="2550" b="1">
                <a:solidFill>
                  <a:srgbClr val="B85D35"/>
                </a:solidFill>
              </a:defRPr>
            </a:pPr>
            <a:r>
              <a:rPr sz="2550" b="1">
                <a:solidFill>
                  <a:srgbClr val="B85D35"/>
                </a:solidFill>
              </a:rPr>
              <a:t>3,254</a:t>
            </a:r>
          </a:p>
        </p:txBody>
      </p:sp>
      <p:sp>
        <p:nvSpPr>
          <p:cNvPr id="15" name="">
            <a:extLst xmlns:a="http://schemas.openxmlformats.org/drawingml/2006/main">
              <a:ext uri="{FF2B5EF4-FFF2-40B4-BE49-F238E27FC236}">
                <a16:creationId xmlns:a16="http://schemas.microsoft.com/office/drawing/2014/main" id="{E366B535-1264-4995-BF4B-2435015D94CB}"/>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Reuse requires source/model compatibility and exact segment coverage</a:t>
            </a:r>
          </a:p>
        </p:txBody>
      </p:sp>
    </p:spTree>
    <p:extLst>
      <p:ext uri="{BB962C8B-B14F-4D97-AF65-F5344CB8AC3E}">
        <p14:creationId xmlns:p14="http://schemas.microsoft.com/office/powerpoint/2010/main" val="320324095"/>
      </p:ext>
    </p:extLst>
  </p:cSld>
</p:sld>
</file>

<file path=ppt/slides/slide15.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8585ED91-1D6E-462F-8027-D0F6EADF8FE9}"/>
              </a:ext>
            </a:extLst>
          </p:cNvPr>
          <p:cNvCxnSpPr>
            <a:stCxn xmlns:a="http://schemas.openxmlformats.org/drawingml/2006/main" id="21" idx="3"/>
            <a:endCxn xmlns:a="http://schemas.openxmlformats.org/drawingml/2006/main" id="23" idx="1"/>
          </p:cNvCxnSpPr>
          <p:nvPr/>
        </p:nvCxnSpPr>
        <p:spPr>
          <a:xfrm xmlns:a="http://schemas.openxmlformats.org/drawingml/2006/main">
            <a:off x="6953250" y="4652963"/>
            <a:ext cx="8572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25" name="">
            <a:extLst xmlns:a="http://schemas.openxmlformats.org/drawingml/2006/main">
              <a:ext uri="{FF2B5EF4-FFF2-40B4-BE49-F238E27FC236}">
                <a16:creationId xmlns:a16="http://schemas.microsoft.com/office/drawing/2014/main" id="{2C253632-243B-4560-956F-71AE900FC97C}"/>
              </a:ext>
            </a:extLst>
          </p:cNvPr>
          <p:cNvCxnSpPr>
            <a:stCxn xmlns:a="http://schemas.openxmlformats.org/drawingml/2006/main" id="19" idx="3"/>
            <a:endCxn xmlns:a="http://schemas.openxmlformats.org/drawingml/2006/main" id="21" idx="1"/>
          </p:cNvCxnSpPr>
          <p:nvPr/>
        </p:nvCxnSpPr>
        <p:spPr>
          <a:xfrm xmlns:a="http://schemas.openxmlformats.org/drawingml/2006/main">
            <a:off x="3752850" y="4652963"/>
            <a:ext cx="8191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8" name="">
            <a:extLst xmlns:a="http://schemas.openxmlformats.org/drawingml/2006/main">
              <a:ext uri="{FF2B5EF4-FFF2-40B4-BE49-F238E27FC236}">
                <a16:creationId xmlns:a16="http://schemas.microsoft.com/office/drawing/2014/main" id="{8D277056-AEB5-4848-8F14-1E267518B1F4}"/>
              </a:ext>
            </a:extLst>
          </p:cNvPr>
          <p:cNvCxnSpPr>
            <a:stCxn xmlns:a="http://schemas.openxmlformats.org/drawingml/2006/main" id="13" idx="3"/>
            <a:endCxn xmlns:a="http://schemas.openxmlformats.org/drawingml/2006/main" id="15" idx="1"/>
          </p:cNvCxnSpPr>
          <p:nvPr/>
        </p:nvCxnSpPr>
        <p:spPr>
          <a:xfrm xmlns:a="http://schemas.openxmlformats.org/drawingml/2006/main">
            <a:off x="6953250" y="3481388"/>
            <a:ext cx="8572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1C319CC3-AE6D-46EF-BF59-C37AF9FFBC0A}"/>
              </a:ext>
            </a:extLst>
          </p:cNvPr>
          <p:cNvCxnSpPr>
            <a:stCxn xmlns:a="http://schemas.openxmlformats.org/drawingml/2006/main" id="11" idx="3"/>
            <a:endCxn xmlns:a="http://schemas.openxmlformats.org/drawingml/2006/main" id="13" idx="1"/>
          </p:cNvCxnSpPr>
          <p:nvPr/>
        </p:nvCxnSpPr>
        <p:spPr>
          <a:xfrm xmlns:a="http://schemas.openxmlformats.org/drawingml/2006/main">
            <a:off x="3752850" y="3481388"/>
            <a:ext cx="8191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C9384A39-B7D1-4811-9AC9-1F6FD1C54EE2}"/>
              </a:ext>
            </a:extLst>
          </p:cNvPr>
          <p:cNvCxnSpPr>
            <a:stCxn xmlns:a="http://schemas.openxmlformats.org/drawingml/2006/main" id="5" idx="3"/>
            <a:endCxn xmlns:a="http://schemas.openxmlformats.org/drawingml/2006/main" id="7" idx="1"/>
          </p:cNvCxnSpPr>
          <p:nvPr/>
        </p:nvCxnSpPr>
        <p:spPr>
          <a:xfrm xmlns:a="http://schemas.openxmlformats.org/drawingml/2006/main">
            <a:off x="6953250" y="2309813"/>
            <a:ext cx="8572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E6A27772-23AE-4E55-AD2A-DA11538BBAFD}"/>
              </a:ext>
            </a:extLst>
          </p:cNvPr>
          <p:cNvCxnSpPr>
            <a:stCxn xmlns:a="http://schemas.openxmlformats.org/drawingml/2006/main" id="3" idx="3"/>
            <a:endCxn xmlns:a="http://schemas.openxmlformats.org/drawingml/2006/main" id="5" idx="1"/>
          </p:cNvCxnSpPr>
          <p:nvPr/>
        </p:nvCxnSpPr>
        <p:spPr>
          <a:xfrm xmlns:a="http://schemas.openxmlformats.org/drawingml/2006/main">
            <a:off x="3752850" y="2309813"/>
            <a:ext cx="819150"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28" name="">
            <a:extLst xmlns:a="http://schemas.openxmlformats.org/drawingml/2006/main">
              <a:ext uri="{FF2B5EF4-FFF2-40B4-BE49-F238E27FC236}">
                <a16:creationId xmlns:a16="http://schemas.microsoft.com/office/drawing/2014/main" id="{11C294B8-4CE7-4A4F-A0CD-D52A5E04FBD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Three encoders, three relationships</a:t>
            </a:r>
          </a:p>
        </p:txBody>
      </p:sp>
      <p:sp>
        <p:nvSpPr>
          <p:cNvPr id="2" name="">
            <a:extLst xmlns:a="http://schemas.openxmlformats.org/drawingml/2006/main">
              <a:ext uri="{FF2B5EF4-FFF2-40B4-BE49-F238E27FC236}">
                <a16:creationId xmlns:a16="http://schemas.microsoft.com/office/drawing/2014/main" id="{A537E89F-A194-4F51-8F88-1E5BB9F38B04}"/>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15</a:t>
            </a:r>
          </a:p>
        </p:txBody>
      </p:sp>
      <p:sp>
        <p:nvSpPr>
          <p:cNvPr id="3" name="">
            <a:extLst xmlns:a="http://schemas.openxmlformats.org/drawingml/2006/main">
              <a:ext uri="{FF2B5EF4-FFF2-40B4-BE49-F238E27FC236}">
                <a16:creationId xmlns:a16="http://schemas.microsoft.com/office/drawing/2014/main" id="{297698DF-B02D-4B27-A57F-B20B452688C1}"/>
              </a:ext>
            </a:extLst>
          </p:cNvPr>
          <p:cNvSpPr>
            <a:spLocks xmlns:a="http://schemas.openxmlformats.org/drawingml/2006/main" noGrp="1"/>
          </p:cNvSpPr>
          <p:nvPr/>
        </p:nvSpPr>
        <p:spPr>
          <a:xfrm xmlns:a="http://schemas.openxmlformats.org/drawingml/2006/main">
            <a:off x="609600" y="1952625"/>
            <a:ext cx="31432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4" name="">
            <a:extLst xmlns:a="http://schemas.openxmlformats.org/drawingml/2006/main">
              <a:ext uri="{FF2B5EF4-FFF2-40B4-BE49-F238E27FC236}">
                <a16:creationId xmlns:a16="http://schemas.microsoft.com/office/drawing/2014/main" id="{20A8B570-EC82-4BED-94B5-B1D9B566D007}"/>
              </a:ext>
            </a:extLst>
          </p:cNvPr>
          <p:cNvSpPr>
            <a:spLocks xmlns:a="http://schemas.openxmlformats.org/drawingml/2006/main" noGrp="1"/>
          </p:cNvSpPr>
          <p:nvPr/>
        </p:nvSpPr>
        <p:spPr>
          <a:xfrm xmlns:a="http://schemas.openxmlformats.org/drawingml/2006/main">
            <a:off x="771525" y="2105025"/>
            <a:ext cx="281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Image + text</a:t>
            </a:r>
          </a:p>
        </p:txBody>
      </p:sp>
      <p:sp>
        <p:nvSpPr>
          <p:cNvPr id="5" name="">
            <a:extLst xmlns:a="http://schemas.openxmlformats.org/drawingml/2006/main">
              <a:ext uri="{FF2B5EF4-FFF2-40B4-BE49-F238E27FC236}">
                <a16:creationId xmlns:a16="http://schemas.microsoft.com/office/drawing/2014/main" id="{279CD065-32F0-4C42-8ED2-C50607664233}"/>
              </a:ext>
            </a:extLst>
          </p:cNvPr>
          <p:cNvSpPr>
            <a:spLocks xmlns:a="http://schemas.openxmlformats.org/drawingml/2006/main" noGrp="1"/>
          </p:cNvSpPr>
          <p:nvPr/>
        </p:nvSpPr>
        <p:spPr>
          <a:xfrm xmlns:a="http://schemas.openxmlformats.org/drawingml/2006/main">
            <a:off x="4572000" y="1952625"/>
            <a:ext cx="2381250" cy="71437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4218EDC9-D6B0-431C-83E9-439F6DDF04C6}"/>
              </a:ext>
            </a:extLst>
          </p:cNvPr>
          <p:cNvSpPr>
            <a:spLocks xmlns:a="http://schemas.openxmlformats.org/drawingml/2006/main" noGrp="1"/>
          </p:cNvSpPr>
          <p:nvPr/>
        </p:nvSpPr>
        <p:spPr>
          <a:xfrm xmlns:a="http://schemas.openxmlformats.org/drawingml/2006/main">
            <a:off x="4733925" y="2105025"/>
            <a:ext cx="2057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CLIP</a:t>
            </a:r>
          </a:p>
        </p:txBody>
      </p:sp>
      <p:sp>
        <p:nvSpPr>
          <p:cNvPr id="7" name="">
            <a:extLst xmlns:a="http://schemas.openxmlformats.org/drawingml/2006/main">
              <a:ext uri="{FF2B5EF4-FFF2-40B4-BE49-F238E27FC236}">
                <a16:creationId xmlns:a16="http://schemas.microsoft.com/office/drawing/2014/main" id="{53E3B1B4-1778-49C4-B78D-703F3EA8782D}"/>
              </a:ext>
            </a:extLst>
          </p:cNvPr>
          <p:cNvSpPr>
            <a:spLocks xmlns:a="http://schemas.openxmlformats.org/drawingml/2006/main" noGrp="1"/>
          </p:cNvSpPr>
          <p:nvPr/>
        </p:nvSpPr>
        <p:spPr>
          <a:xfrm xmlns:a="http://schemas.openxmlformats.org/drawingml/2006/main">
            <a:off x="7810500" y="1952625"/>
            <a:ext cx="37147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8" name="">
            <a:extLst xmlns:a="http://schemas.openxmlformats.org/drawingml/2006/main">
              <a:ext uri="{FF2B5EF4-FFF2-40B4-BE49-F238E27FC236}">
                <a16:creationId xmlns:a16="http://schemas.microsoft.com/office/drawing/2014/main" id="{B9A74D8E-AA1D-4569-87E6-7910282F3426}"/>
              </a:ext>
            </a:extLst>
          </p:cNvPr>
          <p:cNvSpPr>
            <a:spLocks xmlns:a="http://schemas.openxmlformats.org/drawingml/2006/main" noGrp="1"/>
          </p:cNvSpPr>
          <p:nvPr/>
        </p:nvSpPr>
        <p:spPr>
          <a:xfrm xmlns:a="http://schemas.openxmlformats.org/drawingml/2006/main">
            <a:off x="7972425" y="2105025"/>
            <a:ext cx="3390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Visual concepts</a:t>
            </a:r>
          </a:p>
        </p:txBody>
      </p:sp>
      <p:sp>
        <p:nvSpPr>
          <p:cNvPr id="11" name="">
            <a:extLst xmlns:a="http://schemas.openxmlformats.org/drawingml/2006/main">
              <a:ext uri="{FF2B5EF4-FFF2-40B4-BE49-F238E27FC236}">
                <a16:creationId xmlns:a16="http://schemas.microsoft.com/office/drawing/2014/main" id="{5378B854-2E0D-486F-9782-2C615956B2CD}"/>
              </a:ext>
            </a:extLst>
          </p:cNvPr>
          <p:cNvSpPr>
            <a:spLocks xmlns:a="http://schemas.openxmlformats.org/drawingml/2006/main" noGrp="1"/>
          </p:cNvSpPr>
          <p:nvPr/>
        </p:nvSpPr>
        <p:spPr>
          <a:xfrm xmlns:a="http://schemas.openxmlformats.org/drawingml/2006/main">
            <a:off x="609600" y="3124200"/>
            <a:ext cx="31432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2" name="">
            <a:extLst xmlns:a="http://schemas.openxmlformats.org/drawingml/2006/main">
              <a:ext uri="{FF2B5EF4-FFF2-40B4-BE49-F238E27FC236}">
                <a16:creationId xmlns:a16="http://schemas.microsoft.com/office/drawing/2014/main" id="{7364A2BB-47C2-47AD-B0BF-9F70299993C3}"/>
              </a:ext>
            </a:extLst>
          </p:cNvPr>
          <p:cNvSpPr>
            <a:spLocks xmlns:a="http://schemas.openxmlformats.org/drawingml/2006/main" noGrp="1"/>
          </p:cNvSpPr>
          <p:nvPr/>
        </p:nvSpPr>
        <p:spPr>
          <a:xfrm xmlns:a="http://schemas.openxmlformats.org/drawingml/2006/main">
            <a:off x="771525" y="3276600"/>
            <a:ext cx="281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Audio + text</a:t>
            </a:r>
          </a:p>
        </p:txBody>
      </p:sp>
      <p:sp>
        <p:nvSpPr>
          <p:cNvPr id="13" name="">
            <a:extLst xmlns:a="http://schemas.openxmlformats.org/drawingml/2006/main">
              <a:ext uri="{FF2B5EF4-FFF2-40B4-BE49-F238E27FC236}">
                <a16:creationId xmlns:a16="http://schemas.microsoft.com/office/drawing/2014/main" id="{B366FB8A-E4CE-4F0B-8A0D-6540D6915C4A}"/>
              </a:ext>
            </a:extLst>
          </p:cNvPr>
          <p:cNvSpPr>
            <a:spLocks xmlns:a="http://schemas.openxmlformats.org/drawingml/2006/main" noGrp="1"/>
          </p:cNvSpPr>
          <p:nvPr/>
        </p:nvSpPr>
        <p:spPr>
          <a:xfrm xmlns:a="http://schemas.openxmlformats.org/drawingml/2006/main">
            <a:off x="4572000" y="3124200"/>
            <a:ext cx="2381250" cy="71437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4" name="">
            <a:extLst xmlns:a="http://schemas.openxmlformats.org/drawingml/2006/main">
              <a:ext uri="{FF2B5EF4-FFF2-40B4-BE49-F238E27FC236}">
                <a16:creationId xmlns:a16="http://schemas.microsoft.com/office/drawing/2014/main" id="{85731691-B028-45D5-A75A-98C248C9D0B8}"/>
              </a:ext>
            </a:extLst>
          </p:cNvPr>
          <p:cNvSpPr>
            <a:spLocks xmlns:a="http://schemas.openxmlformats.org/drawingml/2006/main" noGrp="1"/>
          </p:cNvSpPr>
          <p:nvPr/>
        </p:nvSpPr>
        <p:spPr>
          <a:xfrm xmlns:a="http://schemas.openxmlformats.org/drawingml/2006/main">
            <a:off x="4733925" y="3276600"/>
            <a:ext cx="2057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CLAP</a:t>
            </a:r>
          </a:p>
        </p:txBody>
      </p:sp>
      <p:sp>
        <p:nvSpPr>
          <p:cNvPr id="15" name="">
            <a:extLst xmlns:a="http://schemas.openxmlformats.org/drawingml/2006/main">
              <a:ext uri="{FF2B5EF4-FFF2-40B4-BE49-F238E27FC236}">
                <a16:creationId xmlns:a16="http://schemas.microsoft.com/office/drawing/2014/main" id="{53F309A1-8272-403A-BC9B-FCB0043E2158}"/>
              </a:ext>
            </a:extLst>
          </p:cNvPr>
          <p:cNvSpPr>
            <a:spLocks xmlns:a="http://schemas.openxmlformats.org/drawingml/2006/main" noGrp="1"/>
          </p:cNvSpPr>
          <p:nvPr/>
        </p:nvSpPr>
        <p:spPr>
          <a:xfrm xmlns:a="http://schemas.openxmlformats.org/drawingml/2006/main">
            <a:off x="7810500" y="3124200"/>
            <a:ext cx="37147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6" name="">
            <a:extLst xmlns:a="http://schemas.openxmlformats.org/drawingml/2006/main">
              <a:ext uri="{FF2B5EF4-FFF2-40B4-BE49-F238E27FC236}">
                <a16:creationId xmlns:a16="http://schemas.microsoft.com/office/drawing/2014/main" id="{397686A5-3292-460A-9244-0727D06CB0E8}"/>
              </a:ext>
            </a:extLst>
          </p:cNvPr>
          <p:cNvSpPr>
            <a:spLocks xmlns:a="http://schemas.openxmlformats.org/drawingml/2006/main" noGrp="1"/>
          </p:cNvSpPr>
          <p:nvPr/>
        </p:nvSpPr>
        <p:spPr>
          <a:xfrm xmlns:a="http://schemas.openxmlformats.org/drawingml/2006/main">
            <a:off x="7972425" y="3276600"/>
            <a:ext cx="3390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Sound descriptions</a:t>
            </a:r>
          </a:p>
        </p:txBody>
      </p:sp>
      <p:sp>
        <p:nvSpPr>
          <p:cNvPr id="19" name="">
            <a:extLst xmlns:a="http://schemas.openxmlformats.org/drawingml/2006/main">
              <a:ext uri="{FF2B5EF4-FFF2-40B4-BE49-F238E27FC236}">
                <a16:creationId xmlns:a16="http://schemas.microsoft.com/office/drawing/2014/main" id="{BFC50404-C678-4302-A3E9-0BF50F2AC1B1}"/>
              </a:ext>
            </a:extLst>
          </p:cNvPr>
          <p:cNvSpPr>
            <a:spLocks xmlns:a="http://schemas.openxmlformats.org/drawingml/2006/main" noGrp="1"/>
          </p:cNvSpPr>
          <p:nvPr/>
        </p:nvSpPr>
        <p:spPr>
          <a:xfrm xmlns:a="http://schemas.openxmlformats.org/drawingml/2006/main">
            <a:off x="609600" y="4295775"/>
            <a:ext cx="31432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20" name="">
            <a:extLst xmlns:a="http://schemas.openxmlformats.org/drawingml/2006/main">
              <a:ext uri="{FF2B5EF4-FFF2-40B4-BE49-F238E27FC236}">
                <a16:creationId xmlns:a16="http://schemas.microsoft.com/office/drawing/2014/main" id="{13D4E562-2785-4C84-94FB-A75FAF77A94E}"/>
              </a:ext>
            </a:extLst>
          </p:cNvPr>
          <p:cNvSpPr>
            <a:spLocks xmlns:a="http://schemas.openxmlformats.org/drawingml/2006/main" noGrp="1"/>
          </p:cNvSpPr>
          <p:nvPr/>
        </p:nvSpPr>
        <p:spPr>
          <a:xfrm xmlns:a="http://schemas.openxmlformats.org/drawingml/2006/main">
            <a:off x="771525" y="4448175"/>
            <a:ext cx="281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Multilingual text</a:t>
            </a:r>
          </a:p>
        </p:txBody>
      </p:sp>
      <p:sp>
        <p:nvSpPr>
          <p:cNvPr id="21" name="">
            <a:extLst xmlns:a="http://schemas.openxmlformats.org/drawingml/2006/main">
              <a:ext uri="{FF2B5EF4-FFF2-40B4-BE49-F238E27FC236}">
                <a16:creationId xmlns:a16="http://schemas.microsoft.com/office/drawing/2014/main" id="{AF9783D8-8DC9-4474-8770-B74A8E68078D}"/>
              </a:ext>
            </a:extLst>
          </p:cNvPr>
          <p:cNvSpPr>
            <a:spLocks xmlns:a="http://schemas.openxmlformats.org/drawingml/2006/main" noGrp="1"/>
          </p:cNvSpPr>
          <p:nvPr/>
        </p:nvSpPr>
        <p:spPr>
          <a:xfrm xmlns:a="http://schemas.openxmlformats.org/drawingml/2006/main">
            <a:off x="4572000" y="4295775"/>
            <a:ext cx="2381250" cy="714375"/>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22" name="">
            <a:extLst xmlns:a="http://schemas.openxmlformats.org/drawingml/2006/main">
              <a:ext uri="{FF2B5EF4-FFF2-40B4-BE49-F238E27FC236}">
                <a16:creationId xmlns:a16="http://schemas.microsoft.com/office/drawing/2014/main" id="{63D6143F-1130-4EC4-93F8-CBB7840B5DC0}"/>
              </a:ext>
            </a:extLst>
          </p:cNvPr>
          <p:cNvSpPr>
            <a:spLocks xmlns:a="http://schemas.openxmlformats.org/drawingml/2006/main" noGrp="1"/>
          </p:cNvSpPr>
          <p:nvPr/>
        </p:nvSpPr>
        <p:spPr>
          <a:xfrm xmlns:a="http://schemas.openxmlformats.org/drawingml/2006/main">
            <a:off x="4733925" y="4448175"/>
            <a:ext cx="2057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E5 small</a:t>
            </a:r>
          </a:p>
        </p:txBody>
      </p:sp>
      <p:sp>
        <p:nvSpPr>
          <p:cNvPr id="23" name="">
            <a:extLst xmlns:a="http://schemas.openxmlformats.org/drawingml/2006/main">
              <a:ext uri="{FF2B5EF4-FFF2-40B4-BE49-F238E27FC236}">
                <a16:creationId xmlns:a16="http://schemas.microsoft.com/office/drawing/2014/main" id="{2E2A8B51-F839-4AFD-882A-C0ACCFF390DD}"/>
              </a:ext>
            </a:extLst>
          </p:cNvPr>
          <p:cNvSpPr>
            <a:spLocks xmlns:a="http://schemas.openxmlformats.org/drawingml/2006/main" noGrp="1"/>
          </p:cNvSpPr>
          <p:nvPr/>
        </p:nvSpPr>
        <p:spPr>
          <a:xfrm xmlns:a="http://schemas.openxmlformats.org/drawingml/2006/main">
            <a:off x="7810500" y="4295775"/>
            <a:ext cx="3714750" cy="7143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24" name="">
            <a:extLst xmlns:a="http://schemas.openxmlformats.org/drawingml/2006/main">
              <a:ext uri="{FF2B5EF4-FFF2-40B4-BE49-F238E27FC236}">
                <a16:creationId xmlns:a16="http://schemas.microsoft.com/office/drawing/2014/main" id="{8462C8C3-1E12-4779-A704-F1D763081A4E}"/>
              </a:ext>
            </a:extLst>
          </p:cNvPr>
          <p:cNvSpPr>
            <a:spLocks xmlns:a="http://schemas.openxmlformats.org/drawingml/2006/main" noGrp="1"/>
          </p:cNvSpPr>
          <p:nvPr/>
        </p:nvSpPr>
        <p:spPr>
          <a:xfrm xmlns:a="http://schemas.openxmlformats.org/drawingml/2006/main">
            <a:off x="7972425" y="4448175"/>
            <a:ext cx="33909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Compact retrieval</a:t>
            </a:r>
          </a:p>
        </p:txBody>
      </p:sp>
      <p:sp>
        <p:nvSpPr>
          <p:cNvPr id="27" name="">
            <a:extLst xmlns:a="http://schemas.openxmlformats.org/drawingml/2006/main">
              <a:ext uri="{FF2B5EF4-FFF2-40B4-BE49-F238E27FC236}">
                <a16:creationId xmlns:a16="http://schemas.microsoft.com/office/drawing/2014/main" id="{71E1418C-5533-483D-B62C-D755A904AE3F}"/>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Aligned space: cosine / across models: combine ranks (RRF)</a:t>
            </a:r>
          </a:p>
        </p:txBody>
      </p:sp>
    </p:spTree>
    <p:extLst>
      <p:ext uri="{BB962C8B-B14F-4D97-AF65-F5344CB8AC3E}">
        <p14:creationId xmlns:p14="http://schemas.microsoft.com/office/powerpoint/2010/main" val="1968060029"/>
      </p:ext>
    </p:extLst>
  </p:cSld>
</p:sld>
</file>

<file path=ppt/slides/slide16.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66F8A3-F987-42E1-837D-9F759B49E1FA}"/>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Similarity is an angle, not a probability</a:t>
            </a:r>
          </a:p>
        </p:txBody>
      </p:sp>
      <p:sp>
        <p:nvSpPr>
          <p:cNvPr id="2" name="">
            <a:extLst xmlns:a="http://schemas.openxmlformats.org/drawingml/2006/main">
              <a:ext uri="{FF2B5EF4-FFF2-40B4-BE49-F238E27FC236}">
                <a16:creationId xmlns:a16="http://schemas.microsoft.com/office/drawing/2014/main" id="{C48171F3-4E64-4B67-AA52-4A4BF4B942B9}"/>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16</a:t>
            </a:r>
          </a:p>
        </p:txBody>
      </p:sp>
      <p:sp>
        <p:nvSpPr>
          <p:cNvPr id="3" name="">
            <a:extLst xmlns:a="http://schemas.openxmlformats.org/drawingml/2006/main">
              <a:ext uri="{FF2B5EF4-FFF2-40B4-BE49-F238E27FC236}">
                <a16:creationId xmlns:a16="http://schemas.microsoft.com/office/drawing/2014/main" id="{D63A95B1-6A54-459F-87BC-654B651DFF9B}"/>
              </a:ext>
            </a:extLst>
          </p:cNvPr>
          <p:cNvSpPr>
            <a:spLocks xmlns:a="http://schemas.openxmlformats.org/drawingml/2006/main" noGrp="1"/>
          </p:cNvSpPr>
          <p:nvPr/>
        </p:nvSpPr>
        <p:spPr>
          <a:xfrm xmlns:a="http://schemas.openxmlformats.org/drawingml/2006/main">
            <a:off x="619125" y="14573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B85D35"/>
                </a:solidFill>
              </a:defRPr>
            </a:defPPr>
            <a:lvl1pPr>
              <a:buNone/>
              <a:defRPr sz="2850" b="1">
                <a:solidFill>
                  <a:srgbClr val="B85D35"/>
                </a:solidFill>
              </a:defRPr>
            </a:lvl1pPr>
            <a:lvl2pPr>
              <a:buNone/>
              <a:defRPr sz="2850" b="1">
                <a:solidFill>
                  <a:srgbClr val="B85D35"/>
                </a:solidFill>
              </a:defRPr>
            </a:lvl2pPr>
            <a:lvl3pPr>
              <a:buNone/>
              <a:defRPr sz="2850" b="1">
                <a:solidFill>
                  <a:srgbClr val="B85D35"/>
                </a:solidFill>
              </a:defRPr>
            </a:lvl3pPr>
            <a:lvl4pPr>
              <a:buNone/>
              <a:defRPr sz="2850" b="1">
                <a:solidFill>
                  <a:srgbClr val="B85D35"/>
                </a:solidFill>
              </a:defRPr>
            </a:lvl4pPr>
            <a:lvl5pPr>
              <a:buNone/>
              <a:defRPr sz="2850" b="1">
                <a:solidFill>
                  <a:srgbClr val="B85D35"/>
                </a:solidFill>
              </a:defRPr>
            </a:lvl5pPr>
            <a:lvl6pPr>
              <a:buNone/>
              <a:defRPr sz="2850" b="1">
                <a:solidFill>
                  <a:srgbClr val="B85D35"/>
                </a:solidFill>
              </a:defRPr>
            </a:lvl6pPr>
            <a:lvl7pPr>
              <a:buNone/>
              <a:defRPr sz="2850" b="1">
                <a:solidFill>
                  <a:srgbClr val="B85D35"/>
                </a:solidFill>
              </a:defRPr>
            </a:lvl7pPr>
            <a:lvl8pPr>
              <a:buNone/>
              <a:defRPr sz="2850" b="1">
                <a:solidFill>
                  <a:srgbClr val="B85D35"/>
                </a:solidFill>
              </a:defRPr>
            </a:lvl8pPr>
            <a:lvl9pPr>
              <a:buNone/>
              <a:defRPr sz="2850" b="1">
                <a:solidFill>
                  <a:srgbClr val="B85D35"/>
                </a:solidFill>
              </a:defRPr>
            </a:lvl9pPr>
          </a:lstStyle>
          <a:p xmlns:a="http://schemas.openxmlformats.org/drawingml/2006/main">
            <a:pPr>
              <a:buNone/>
              <a:defRPr sz="2850" b="1">
                <a:solidFill>
                  <a:srgbClr val="B85D35"/>
                </a:solidFill>
              </a:defRPr>
            </a:pPr>
            <a:r>
              <a:rPr sz="2850" b="1">
                <a:solidFill>
                  <a:srgbClr val="B85D35"/>
                </a:solidFill>
              </a:rPr>
              <a:t>cos(q, x) = (q · x) / (||q|| ||x||)</a:t>
            </a:r>
          </a:p>
        </p:txBody>
      </p:sp>
      <p:sp>
        <p:nvSpPr>
          <p:cNvPr id="4" name="">
            <a:extLst xmlns:a="http://schemas.openxmlformats.org/drawingml/2006/main">
              <a:ext uri="{FF2B5EF4-FFF2-40B4-BE49-F238E27FC236}">
                <a16:creationId xmlns:a16="http://schemas.microsoft.com/office/drawing/2014/main" id="{E639FB4A-1115-42BC-9DC4-F3793CAC13A3}"/>
              </a:ext>
            </a:extLst>
          </p:cNvPr>
          <p:cNvSpPr>
            <a:spLocks xmlns:a="http://schemas.openxmlformats.org/drawingml/2006/main" noGrp="1"/>
          </p:cNvSpPr>
          <p:nvPr/>
        </p:nvSpPr>
        <p:spPr>
          <a:xfrm xmlns:a="http://schemas.openxmlformats.org/drawingml/2006/main">
            <a:off x="619125" y="216217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2675C"/>
                </a:solidFill>
              </a:defRPr>
            </a:defPPr>
            <a:lvl1pPr>
              <a:buNone/>
              <a:defRPr sz="2100" b="0">
                <a:solidFill>
                  <a:srgbClr val="52675C"/>
                </a:solidFill>
              </a:defRPr>
            </a:lvl1pPr>
            <a:lvl2pPr>
              <a:buNone/>
              <a:defRPr sz="2100" b="0">
                <a:solidFill>
                  <a:srgbClr val="52675C"/>
                </a:solidFill>
              </a:defRPr>
            </a:lvl2pPr>
            <a:lvl3pPr>
              <a:buNone/>
              <a:defRPr sz="2100" b="0">
                <a:solidFill>
                  <a:srgbClr val="52675C"/>
                </a:solidFill>
              </a:defRPr>
            </a:lvl3pPr>
            <a:lvl4pPr>
              <a:buNone/>
              <a:defRPr sz="2100" b="0">
                <a:solidFill>
                  <a:srgbClr val="52675C"/>
                </a:solidFill>
              </a:defRPr>
            </a:lvl4pPr>
            <a:lvl5pPr>
              <a:buNone/>
              <a:defRPr sz="2100" b="0">
                <a:solidFill>
                  <a:srgbClr val="52675C"/>
                </a:solidFill>
              </a:defRPr>
            </a:lvl5pPr>
            <a:lvl6pPr>
              <a:buNone/>
              <a:defRPr sz="2100" b="0">
                <a:solidFill>
                  <a:srgbClr val="52675C"/>
                </a:solidFill>
              </a:defRPr>
            </a:lvl6pPr>
            <a:lvl7pPr>
              <a:buNone/>
              <a:defRPr sz="2100" b="0">
                <a:solidFill>
                  <a:srgbClr val="52675C"/>
                </a:solidFill>
              </a:defRPr>
            </a:lvl7pPr>
            <a:lvl8pPr>
              <a:buNone/>
              <a:defRPr sz="2100" b="0">
                <a:solidFill>
                  <a:srgbClr val="52675C"/>
                </a:solidFill>
              </a:defRPr>
            </a:lvl8pPr>
            <a:lvl9pPr>
              <a:buNone/>
              <a:defRPr sz="2100" b="0">
                <a:solidFill>
                  <a:srgbClr val="52675C"/>
                </a:solidFill>
              </a:defRPr>
            </a:lvl9pPr>
          </a:lstStyle>
          <a:p xmlns:a="http://schemas.openxmlformats.org/drawingml/2006/main">
            <a:pPr>
              <a:buNone/>
              <a:defRPr sz="2100" b="0">
                <a:solidFill>
                  <a:srgbClr val="52675C"/>
                </a:solidFill>
              </a:defRPr>
            </a:pPr>
            <a:r>
              <a:rPr sz="2100" b="0">
                <a:solidFill>
                  <a:srgbClr val="52675C"/>
                </a:solidFill>
              </a:rPr>
              <a:t>Illustrative 2D unit vectors: q = (1, 0)  /  cosine = dot product</a:t>
            </a:r>
          </a:p>
        </p:txBody>
      </p:sp>
      <p:graphicFrame>
        <p:nvGraphicFramePr>
          <p:cNvPr id="5" name="">
            <a:extLst xmlns:a="http://schemas.openxmlformats.org/drawingml/2006/main">
              <a:ext uri="{FF2B5EF4-FFF2-40B4-BE49-F238E27FC236}">
                <a16:creationId xmlns:a16="http://schemas.microsoft.com/office/drawing/2014/main" id="{CC3BEE11-7F2A-430F-9636-62967B791781}"/>
              </a:ext>
            </a:extLst>
          </p:cNvPr>
          <p:cNvGraphicFramePr/>
          <p:nvPr/>
        </p:nvGraphicFramePr>
        <p:xfrm>
          <a:off xmlns:a="http://schemas.openxmlformats.org/drawingml/2006/main" x="609600" y="2838450"/>
          <a:ext xmlns:a="http://schemas.openxmlformats.org/drawingml/2006/main" cx="10953750" cy="2476500"/>
        </p:xfrm>
        <a:graphic xmlns:a="http://schemas.openxmlformats.org/drawingml/2006/main">
          <a:graphicData uri="http://schemas.openxmlformats.org/drawingml/2006/table">
            <a:tbl>
              <a:tblPr/>
              <a:tblGrid>
                <a:gridCol w="4476750"/>
                <a:gridCol w="2190750"/>
                <a:gridCol w="4286250"/>
              </a:tblGrid>
              <a:tr h="619125">
                <a:tc>
                  <a:txBody>
                    <a:bodyPr/>
                    <a:lstStyle/>
                    <a:p>
                      <a:r>
                        <a:rPr sz="2025" b="1">
                          <a:solidFill>
                            <a:srgbClr val="F5F1E7"/>
                          </a:solidFill>
                          <a:latin typeface="Arial"/>
                          <a:ea typeface="Arial"/>
                          <a:cs typeface="Arial"/>
                        </a:rPr>
                        <a:t>Candidate vector x</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Cosine</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Relative alignment</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619125">
                <a:tc>
                  <a:txBody>
                    <a:bodyPr/>
                    <a:lstStyle/>
                    <a:p>
                      <a:r>
                        <a:rPr sz="1950">
                          <a:solidFill>
                            <a:srgbClr val="123B32"/>
                          </a:solidFill>
                          <a:latin typeface="Arial"/>
                          <a:ea typeface="Arial"/>
                          <a:cs typeface="Arial"/>
                        </a:rPr>
                        <a:t>(0.96, 0.28)</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0.96</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Closest of these three</a:t>
                      </a:r>
                    </a:p>
                  </a:txBody>
                  <a:tcPr marL="91440" marR="91440" marT="45720" marB="45720">
                    <a:lnR w="6668">
                      <a:solidFill>
                        <a:srgbClr val="A2B5A4"/>
                      </a:solidFill>
                      <a:prstDash val="solid"/>
                    </a:lnR>
                    <a:lnB w="6668">
                      <a:solidFill>
                        <a:srgbClr val="A2B5A4"/>
                      </a:solidFill>
                      <a:prstDash val="solid"/>
                    </a:lnB>
                    <a:solidFill>
                      <a:srgbClr val="F5F1E7"/>
                    </a:solidFill>
                  </a:tcPr>
                </a:tc>
              </a:tr>
              <a:tr h="619125">
                <a:tc>
                  <a:txBody>
                    <a:bodyPr/>
                    <a:lstStyle/>
                    <a:p>
                      <a:r>
                        <a:rPr sz="1950">
                          <a:solidFill>
                            <a:srgbClr val="123B32"/>
                          </a:solidFill>
                          <a:latin typeface="Arial"/>
                          <a:ea typeface="Arial"/>
                          <a:cs typeface="Arial"/>
                        </a:rPr>
                        <a:t>(0.60, 0.80)</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0.60</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Less aligned</a:t>
                      </a:r>
                    </a:p>
                  </a:txBody>
                  <a:tcPr marL="91440" marR="91440" marT="45720" marB="45720">
                    <a:lnR w="6668">
                      <a:solidFill>
                        <a:srgbClr val="A2B5A4"/>
                      </a:solidFill>
                      <a:prstDash val="solid"/>
                    </a:lnR>
                    <a:lnB w="6668">
                      <a:solidFill>
                        <a:srgbClr val="A2B5A4"/>
                      </a:solidFill>
                      <a:prstDash val="solid"/>
                    </a:lnB>
                    <a:solidFill>
                      <a:srgbClr val="F5F1E7"/>
                    </a:solidFill>
                  </a:tcPr>
                </a:tc>
              </a:tr>
              <a:tr h="619125">
                <a:tc>
                  <a:txBody>
                    <a:bodyPr/>
                    <a:lstStyle/>
                    <a:p>
                      <a:r>
                        <a:rPr sz="1950">
                          <a:solidFill>
                            <a:srgbClr val="123B32"/>
                          </a:solidFill>
                          <a:latin typeface="Arial"/>
                          <a:ea typeface="Arial"/>
                          <a:cs typeface="Arial"/>
                        </a:rPr>
                        <a:t>(0.00, 1.00)</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0.00</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Perpendicular to q</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sp>
        <p:nvSpPr>
          <p:cNvPr id="6" name="">
            <a:extLst xmlns:a="http://schemas.openxmlformats.org/drawingml/2006/main">
              <a:ext uri="{FF2B5EF4-FFF2-40B4-BE49-F238E27FC236}">
                <a16:creationId xmlns:a16="http://schemas.microsoft.com/office/drawing/2014/main" id="{2601AC29-120C-4B9A-A01E-88A61C3CFD34}"/>
              </a:ext>
            </a:extLst>
          </p:cNvPr>
          <p:cNvSpPr>
            <a:spLocks xmlns:a="http://schemas.openxmlformats.org/drawingml/2006/main" noGrp="1"/>
          </p:cNvSpPr>
          <p:nvPr/>
        </p:nvSpPr>
        <p:spPr>
          <a:xfrm xmlns:a="http://schemas.openxmlformats.org/drawingml/2006/main">
            <a:off x="619125" y="55530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Higher = closer in this space. No universal relevance threshold.</a:t>
            </a:r>
          </a:p>
        </p:txBody>
      </p:sp>
      <p:sp>
        <p:nvSpPr>
          <p:cNvPr id="7" name="">
            <a:extLst xmlns:a="http://schemas.openxmlformats.org/drawingml/2006/main">
              <a:ext uri="{FF2B5EF4-FFF2-40B4-BE49-F238E27FC236}">
                <a16:creationId xmlns:a16="http://schemas.microsoft.com/office/drawing/2014/main" id="{C04CC71A-1078-4195-934E-A8D7E2ACEDCE}"/>
              </a:ext>
            </a:extLst>
          </p:cNvPr>
          <p:cNvSpPr>
            <a:spLocks xmlns:a="http://schemas.openxmlformats.org/drawingml/2006/main" noGrp="1"/>
          </p:cNvSpPr>
          <p:nvPr/>
        </p:nvSpPr>
        <p:spPr>
          <a:xfrm xmlns:a="http://schemas.openxmlformats.org/drawingml/2006/main">
            <a:off x="619125" y="609600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Production: 384 / 512 dimensions. A score of 0.96 is not 96% confidence.</a:t>
            </a:r>
          </a:p>
        </p:txBody>
      </p:sp>
    </p:spTree>
    <p:extLst>
      <p:ext uri="{BB962C8B-B14F-4D97-AF65-F5344CB8AC3E}">
        <p14:creationId xmlns:p14="http://schemas.microsoft.com/office/powerpoint/2010/main" val="1669279188"/>
      </p:ext>
    </p:extLst>
  </p:cSld>
</p:sld>
</file>

<file path=ppt/slides/slide17.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54314ACF-D8E1-4BCF-A8B6-B973E93C0540}"/>
              </a:ext>
            </a:extLst>
          </p:cNvPr>
          <p:cNvCxnSpPr>
            <a:stCxn xmlns:a="http://schemas.openxmlformats.org/drawingml/2006/main" id="17" idx="2"/>
            <a:endCxn xmlns:a="http://schemas.openxmlformats.org/drawingml/2006/main" id="16" idx="6"/>
          </p:cNvCxnSpPr>
          <p:nvPr/>
        </p:nvCxnSpPr>
        <p:spPr>
          <a:xfrm xmlns:a="http://schemas.openxmlformats.org/drawingml/2006/main" flipH="1">
            <a:off x="4371975" y="4624388"/>
            <a:ext cx="533400" cy="0"/>
          </a:xfrm>
          <a:prstGeom xmlns:a="http://schemas.openxmlformats.org/drawingml/2006/main" prst="straightConnector1">
            <a:avLst/>
          </a:prstGeom>
          <a:ln xmlns:a="http://schemas.openxmlformats.org/drawingml/2006/main" w="28575">
            <a:solidFill>
              <a:srgbClr val="B85D35"/>
            </a:solidFill>
            <a:tailEnd type="arrow" w="med" len="med"/>
          </a:ln>
        </p:spPr>
      </p:cxnSp>
      <p:cxnSp>
        <p:nvCxnSpPr>
          <p:cNvPr id="34" name="">
            <a:extLst xmlns:a="http://schemas.openxmlformats.org/drawingml/2006/main">
              <a:ext uri="{FF2B5EF4-FFF2-40B4-BE49-F238E27FC236}">
                <a16:creationId xmlns:a16="http://schemas.microsoft.com/office/drawing/2014/main" id="{E0152760-20A9-4100-8DCC-8F165BF9EDB3}"/>
              </a:ext>
            </a:extLst>
          </p:cNvPr>
          <p:cNvCxnSpPr>
            <a:stCxn xmlns:a="http://schemas.openxmlformats.org/drawingml/2006/main" id="9" idx="4"/>
            <a:endCxn xmlns:a="http://schemas.openxmlformats.org/drawingml/2006/main" id="17" idx="0"/>
          </p:cNvCxnSpPr>
          <p:nvPr/>
        </p:nvCxnSpPr>
        <p:spPr>
          <a:xfrm xmlns:a="http://schemas.openxmlformats.org/drawingml/2006/main">
            <a:off x="5043488" y="3733800"/>
            <a:ext cx="0" cy="752475"/>
          </a:xfrm>
          <a:prstGeom xmlns:a="http://schemas.openxmlformats.org/drawingml/2006/main" prst="straightConnector1">
            <a:avLst/>
          </a:prstGeom>
          <a:ln xmlns:a="http://schemas.openxmlformats.org/drawingml/2006/main" w="28575">
            <a:solidFill>
              <a:srgbClr val="B85D35"/>
            </a:solidFill>
            <a:tailEnd type="arrow" w="med" len="med"/>
          </a:ln>
        </p:spPr>
      </p:cxnSp>
      <p:cxnSp>
        <p:nvCxnSpPr>
          <p:cNvPr id="33" name="">
            <a:extLst xmlns:a="http://schemas.openxmlformats.org/drawingml/2006/main">
              <a:ext uri="{FF2B5EF4-FFF2-40B4-BE49-F238E27FC236}">
                <a16:creationId xmlns:a16="http://schemas.microsoft.com/office/drawing/2014/main" id="{EE56ACE9-0D3F-41BA-8247-E7A3306EF2EB}"/>
              </a:ext>
            </a:extLst>
          </p:cNvPr>
          <p:cNvCxnSpPr>
            <a:stCxn xmlns:a="http://schemas.openxmlformats.org/drawingml/2006/main" id="5" idx="4"/>
            <a:endCxn xmlns:a="http://schemas.openxmlformats.org/drawingml/2006/main" id="9" idx="0"/>
          </p:cNvCxnSpPr>
          <p:nvPr/>
        </p:nvCxnSpPr>
        <p:spPr>
          <a:xfrm xmlns:a="http://schemas.openxmlformats.org/drawingml/2006/main">
            <a:off x="5043488" y="2705100"/>
            <a:ext cx="0" cy="752475"/>
          </a:xfrm>
          <a:prstGeom xmlns:a="http://schemas.openxmlformats.org/drawingml/2006/main" prst="straightConnector1">
            <a:avLst/>
          </a:prstGeom>
          <a:ln xmlns:a="http://schemas.openxmlformats.org/drawingml/2006/main" w="28575">
            <a:solidFill>
              <a:srgbClr val="B85D35"/>
            </a:solidFill>
            <a:tailEnd type="arrow" w="med" len="med"/>
          </a:ln>
        </p:spPr>
      </p:cxnSp>
      <p:cxnSp>
        <p:nvCxnSpPr>
          <p:cNvPr id="32" name="">
            <a:extLst xmlns:a="http://schemas.openxmlformats.org/drawingml/2006/main">
              <a:ext uri="{FF2B5EF4-FFF2-40B4-BE49-F238E27FC236}">
                <a16:creationId xmlns:a16="http://schemas.microsoft.com/office/drawing/2014/main" id="{94E1DAAC-C158-47DB-AB09-1ED50A596DA1}"/>
              </a:ext>
            </a:extLst>
          </p:cNvPr>
          <p:cNvCxnSpPr>
            <a:stCxn xmlns:a="http://schemas.openxmlformats.org/drawingml/2006/main" id="18" idx="6"/>
            <a:endCxn xmlns:a="http://schemas.openxmlformats.org/drawingml/2006/main" id="19" idx="2"/>
          </p:cNvCxnSpPr>
          <p:nvPr/>
        </p:nvCxnSpPr>
        <p:spPr>
          <a:xfrm xmlns:a="http://schemas.openxmlformats.org/drawingml/2006/main">
            <a:off x="6181725" y="4624388"/>
            <a:ext cx="819150" cy="0"/>
          </a:xfrm>
          <a:prstGeom xmlns:a="http://schemas.openxmlformats.org/drawingml/2006/main" prst="straightConnector1">
            <a:avLst/>
          </a:prstGeom>
          <a:ln xmlns:a="http://schemas.openxmlformats.org/drawingml/2006/main" w="17145">
            <a:solidFill>
              <a:srgbClr val="A2B5A4"/>
            </a:solidFill>
          </a:ln>
        </p:spPr>
      </p:cxnSp>
      <p:cxnSp>
        <p:nvCxnSpPr>
          <p:cNvPr id="31" name="">
            <a:extLst xmlns:a="http://schemas.openxmlformats.org/drawingml/2006/main">
              <a:ext uri="{FF2B5EF4-FFF2-40B4-BE49-F238E27FC236}">
                <a16:creationId xmlns:a16="http://schemas.microsoft.com/office/drawing/2014/main" id="{121618D2-869C-4BA1-A52A-26C5A91BF13D}"/>
              </a:ext>
            </a:extLst>
          </p:cNvPr>
          <p:cNvCxnSpPr>
            <a:stCxn xmlns:a="http://schemas.openxmlformats.org/drawingml/2006/main" id="17" idx="6"/>
            <a:endCxn xmlns:a="http://schemas.openxmlformats.org/drawingml/2006/main" id="18" idx="2"/>
          </p:cNvCxnSpPr>
          <p:nvPr/>
        </p:nvCxnSpPr>
        <p:spPr>
          <a:xfrm xmlns:a="http://schemas.openxmlformats.org/drawingml/2006/main">
            <a:off x="5181600" y="4624388"/>
            <a:ext cx="723900" cy="0"/>
          </a:xfrm>
          <a:prstGeom xmlns:a="http://schemas.openxmlformats.org/drawingml/2006/main" prst="straightConnector1">
            <a:avLst/>
          </a:prstGeom>
          <a:ln xmlns:a="http://schemas.openxmlformats.org/drawingml/2006/main" w="17145">
            <a:solidFill>
              <a:srgbClr val="A2B5A4"/>
            </a:solidFill>
          </a:ln>
        </p:spPr>
      </p:cxnSp>
      <p:cxnSp>
        <p:nvCxnSpPr>
          <p:cNvPr id="30" name="">
            <a:extLst xmlns:a="http://schemas.openxmlformats.org/drawingml/2006/main">
              <a:ext uri="{FF2B5EF4-FFF2-40B4-BE49-F238E27FC236}">
                <a16:creationId xmlns:a16="http://schemas.microsoft.com/office/drawing/2014/main" id="{DF5258AD-B04C-4218-B663-29EC5578F033}"/>
              </a:ext>
            </a:extLst>
          </p:cNvPr>
          <p:cNvCxnSpPr>
            <a:stCxn xmlns:a="http://schemas.openxmlformats.org/drawingml/2006/main" id="16" idx="6"/>
            <a:endCxn xmlns:a="http://schemas.openxmlformats.org/drawingml/2006/main" id="17" idx="2"/>
          </p:cNvCxnSpPr>
          <p:nvPr/>
        </p:nvCxnSpPr>
        <p:spPr>
          <a:xfrm xmlns:a="http://schemas.openxmlformats.org/drawingml/2006/main">
            <a:off x="4371975" y="4624388"/>
            <a:ext cx="533400" cy="0"/>
          </a:xfrm>
          <a:prstGeom xmlns:a="http://schemas.openxmlformats.org/drawingml/2006/main" prst="straightConnector1">
            <a:avLst/>
          </a:prstGeom>
          <a:ln xmlns:a="http://schemas.openxmlformats.org/drawingml/2006/main" w="17145">
            <a:solidFill>
              <a:srgbClr val="A2B5A4"/>
            </a:solidFill>
          </a:ln>
        </p:spPr>
      </p:cxnSp>
      <p:cxnSp>
        <p:nvCxnSpPr>
          <p:cNvPr id="29" name="">
            <a:extLst xmlns:a="http://schemas.openxmlformats.org/drawingml/2006/main">
              <a:ext uri="{FF2B5EF4-FFF2-40B4-BE49-F238E27FC236}">
                <a16:creationId xmlns:a16="http://schemas.microsoft.com/office/drawing/2014/main" id="{2E835BCB-6B39-4E81-B95C-F2E48ADADFE5}"/>
              </a:ext>
            </a:extLst>
          </p:cNvPr>
          <p:cNvCxnSpPr>
            <a:stCxn xmlns:a="http://schemas.openxmlformats.org/drawingml/2006/main" id="15" idx="6"/>
            <a:endCxn xmlns:a="http://schemas.openxmlformats.org/drawingml/2006/main" id="16" idx="2"/>
          </p:cNvCxnSpPr>
          <p:nvPr/>
        </p:nvCxnSpPr>
        <p:spPr>
          <a:xfrm xmlns:a="http://schemas.openxmlformats.org/drawingml/2006/main">
            <a:off x="3609975" y="4624388"/>
            <a:ext cx="485775" cy="0"/>
          </a:xfrm>
          <a:prstGeom xmlns:a="http://schemas.openxmlformats.org/drawingml/2006/main" prst="straightConnector1">
            <a:avLst/>
          </a:prstGeom>
          <a:ln xmlns:a="http://schemas.openxmlformats.org/drawingml/2006/main" w="17145">
            <a:solidFill>
              <a:srgbClr val="A2B5A4"/>
            </a:solidFill>
          </a:ln>
        </p:spPr>
      </p:cxnSp>
      <p:cxnSp>
        <p:nvCxnSpPr>
          <p:cNvPr id="28" name="">
            <a:extLst xmlns:a="http://schemas.openxmlformats.org/drawingml/2006/main">
              <a:ext uri="{FF2B5EF4-FFF2-40B4-BE49-F238E27FC236}">
                <a16:creationId xmlns:a16="http://schemas.microsoft.com/office/drawing/2014/main" id="{92F2EF5B-1AFF-4DC2-A275-E9D3891F8BEE}"/>
              </a:ext>
            </a:extLst>
          </p:cNvPr>
          <p:cNvCxnSpPr>
            <a:stCxn xmlns:a="http://schemas.openxmlformats.org/drawingml/2006/main" id="14" idx="6"/>
            <a:endCxn xmlns:a="http://schemas.openxmlformats.org/drawingml/2006/main" id="15" idx="2"/>
          </p:cNvCxnSpPr>
          <p:nvPr/>
        </p:nvCxnSpPr>
        <p:spPr>
          <a:xfrm xmlns:a="http://schemas.openxmlformats.org/drawingml/2006/main">
            <a:off x="2800350" y="4624388"/>
            <a:ext cx="533400" cy="0"/>
          </a:xfrm>
          <a:prstGeom xmlns:a="http://schemas.openxmlformats.org/drawingml/2006/main" prst="straightConnector1">
            <a:avLst/>
          </a:prstGeom>
          <a:ln xmlns:a="http://schemas.openxmlformats.org/drawingml/2006/main" w="17145">
            <a:solidFill>
              <a:srgbClr val="A2B5A4"/>
            </a:solidFill>
          </a:ln>
        </p:spPr>
      </p:cxnSp>
      <p:cxnSp>
        <p:nvCxnSpPr>
          <p:cNvPr id="27" name="">
            <a:extLst xmlns:a="http://schemas.openxmlformats.org/drawingml/2006/main">
              <a:ext uri="{FF2B5EF4-FFF2-40B4-BE49-F238E27FC236}">
                <a16:creationId xmlns:a16="http://schemas.microsoft.com/office/drawing/2014/main" id="{15D473A1-A7AA-48A0-8A8A-DD43DEAF5FED}"/>
              </a:ext>
            </a:extLst>
          </p:cNvPr>
          <p:cNvCxnSpPr>
            <a:stCxn xmlns:a="http://schemas.openxmlformats.org/drawingml/2006/main" id="13" idx="6"/>
            <a:endCxn xmlns:a="http://schemas.openxmlformats.org/drawingml/2006/main" id="14" idx="2"/>
          </p:cNvCxnSpPr>
          <p:nvPr/>
        </p:nvCxnSpPr>
        <p:spPr>
          <a:xfrm xmlns:a="http://schemas.openxmlformats.org/drawingml/2006/main">
            <a:off x="1990725" y="4624388"/>
            <a:ext cx="533400" cy="0"/>
          </a:xfrm>
          <a:prstGeom xmlns:a="http://schemas.openxmlformats.org/drawingml/2006/main" prst="straightConnector1">
            <a:avLst/>
          </a:prstGeom>
          <a:ln xmlns:a="http://schemas.openxmlformats.org/drawingml/2006/main" w="17145">
            <a:solidFill>
              <a:srgbClr val="A2B5A4"/>
            </a:solidFill>
          </a:ln>
        </p:spPr>
      </p:cxnSp>
      <p:cxnSp>
        <p:nvCxnSpPr>
          <p:cNvPr id="26" name="">
            <a:extLst xmlns:a="http://schemas.openxmlformats.org/drawingml/2006/main">
              <a:ext uri="{FF2B5EF4-FFF2-40B4-BE49-F238E27FC236}">
                <a16:creationId xmlns:a16="http://schemas.microsoft.com/office/drawing/2014/main" id="{D2114B71-BE8A-49CF-BBA4-DA80AC18FDD4}"/>
              </a:ext>
            </a:extLst>
          </p:cNvPr>
          <p:cNvCxnSpPr>
            <a:stCxn xmlns:a="http://schemas.openxmlformats.org/drawingml/2006/main" id="12" idx="6"/>
            <a:endCxn xmlns:a="http://schemas.openxmlformats.org/drawingml/2006/main" id="13" idx="2"/>
          </p:cNvCxnSpPr>
          <p:nvPr/>
        </p:nvCxnSpPr>
        <p:spPr>
          <a:xfrm xmlns:a="http://schemas.openxmlformats.org/drawingml/2006/main">
            <a:off x="1228725" y="4624388"/>
            <a:ext cx="485775" cy="0"/>
          </a:xfrm>
          <a:prstGeom xmlns:a="http://schemas.openxmlformats.org/drawingml/2006/main" prst="straightConnector1">
            <a:avLst/>
          </a:prstGeom>
          <a:ln xmlns:a="http://schemas.openxmlformats.org/drawingml/2006/main" w="17145">
            <a:solidFill>
              <a:srgbClr val="A2B5A4"/>
            </a:solidFill>
          </a:ln>
        </p:spPr>
      </p:cxnSp>
      <p:cxnSp>
        <p:nvCxnSpPr>
          <p:cNvPr id="25" name="">
            <a:extLst xmlns:a="http://schemas.openxmlformats.org/drawingml/2006/main">
              <a:ext uri="{FF2B5EF4-FFF2-40B4-BE49-F238E27FC236}">
                <a16:creationId xmlns:a16="http://schemas.microsoft.com/office/drawing/2014/main" id="{9103DCA8-66C5-497C-AADD-68C15E4808E0}"/>
              </a:ext>
            </a:extLst>
          </p:cNvPr>
          <p:cNvCxnSpPr>
            <a:stCxn xmlns:a="http://schemas.openxmlformats.org/drawingml/2006/main" id="10" idx="6"/>
            <a:endCxn xmlns:a="http://schemas.openxmlformats.org/drawingml/2006/main" id="11" idx="2"/>
          </p:cNvCxnSpPr>
          <p:nvPr/>
        </p:nvCxnSpPr>
        <p:spPr>
          <a:xfrm xmlns:a="http://schemas.openxmlformats.org/drawingml/2006/main">
            <a:off x="6181725" y="3595688"/>
            <a:ext cx="819150" cy="0"/>
          </a:xfrm>
          <a:prstGeom xmlns:a="http://schemas.openxmlformats.org/drawingml/2006/main" prst="straightConnector1">
            <a:avLst/>
          </a:prstGeom>
          <a:ln xmlns:a="http://schemas.openxmlformats.org/drawingml/2006/main" w="17145">
            <a:solidFill>
              <a:srgbClr val="A2B5A4"/>
            </a:solidFill>
          </a:ln>
        </p:spPr>
      </p:cxnSp>
      <p:cxnSp>
        <p:nvCxnSpPr>
          <p:cNvPr id="24" name="">
            <a:extLst xmlns:a="http://schemas.openxmlformats.org/drawingml/2006/main">
              <a:ext uri="{FF2B5EF4-FFF2-40B4-BE49-F238E27FC236}">
                <a16:creationId xmlns:a16="http://schemas.microsoft.com/office/drawing/2014/main" id="{87C73C3E-6DD9-43AB-B8B9-72475FC9D72D}"/>
              </a:ext>
            </a:extLst>
          </p:cNvPr>
          <p:cNvCxnSpPr>
            <a:stCxn xmlns:a="http://schemas.openxmlformats.org/drawingml/2006/main" id="9" idx="6"/>
            <a:endCxn xmlns:a="http://schemas.openxmlformats.org/drawingml/2006/main" id="10" idx="2"/>
          </p:cNvCxnSpPr>
          <p:nvPr/>
        </p:nvCxnSpPr>
        <p:spPr>
          <a:xfrm xmlns:a="http://schemas.openxmlformats.org/drawingml/2006/main">
            <a:off x="5181600" y="3595688"/>
            <a:ext cx="723900" cy="0"/>
          </a:xfrm>
          <a:prstGeom xmlns:a="http://schemas.openxmlformats.org/drawingml/2006/main" prst="straightConnector1">
            <a:avLst/>
          </a:prstGeom>
          <a:ln xmlns:a="http://schemas.openxmlformats.org/drawingml/2006/main" w="17145">
            <a:solidFill>
              <a:srgbClr val="A2B5A4"/>
            </a:solidFill>
          </a:ln>
        </p:spPr>
      </p:cxnSp>
      <p:cxnSp>
        <p:nvCxnSpPr>
          <p:cNvPr id="23" name="">
            <a:extLst xmlns:a="http://schemas.openxmlformats.org/drawingml/2006/main">
              <a:ext uri="{FF2B5EF4-FFF2-40B4-BE49-F238E27FC236}">
                <a16:creationId xmlns:a16="http://schemas.microsoft.com/office/drawing/2014/main" id="{E4B3655A-1BD3-4609-B889-AA11067CFB58}"/>
              </a:ext>
            </a:extLst>
          </p:cNvPr>
          <p:cNvCxnSpPr>
            <a:stCxn xmlns:a="http://schemas.openxmlformats.org/drawingml/2006/main" id="8" idx="6"/>
            <a:endCxn xmlns:a="http://schemas.openxmlformats.org/drawingml/2006/main" id="9" idx="2"/>
          </p:cNvCxnSpPr>
          <p:nvPr/>
        </p:nvCxnSpPr>
        <p:spPr>
          <a:xfrm xmlns:a="http://schemas.openxmlformats.org/drawingml/2006/main">
            <a:off x="3609975" y="3595688"/>
            <a:ext cx="1295400" cy="0"/>
          </a:xfrm>
          <a:prstGeom xmlns:a="http://schemas.openxmlformats.org/drawingml/2006/main" prst="straightConnector1">
            <a:avLst/>
          </a:prstGeom>
          <a:ln xmlns:a="http://schemas.openxmlformats.org/drawingml/2006/main" w="17145">
            <a:solidFill>
              <a:srgbClr val="A2B5A4"/>
            </a:solidFill>
          </a:ln>
        </p:spPr>
      </p:cxnSp>
      <p:cxnSp>
        <p:nvCxnSpPr>
          <p:cNvPr id="22" name="">
            <a:extLst xmlns:a="http://schemas.openxmlformats.org/drawingml/2006/main">
              <a:ext uri="{FF2B5EF4-FFF2-40B4-BE49-F238E27FC236}">
                <a16:creationId xmlns:a16="http://schemas.microsoft.com/office/drawing/2014/main" id="{F25166AC-193D-4DD9-B7FD-AAEDE898323B}"/>
              </a:ext>
            </a:extLst>
          </p:cNvPr>
          <p:cNvCxnSpPr>
            <a:stCxn xmlns:a="http://schemas.openxmlformats.org/drawingml/2006/main" id="7" idx="6"/>
            <a:endCxn xmlns:a="http://schemas.openxmlformats.org/drawingml/2006/main" id="8" idx="2"/>
          </p:cNvCxnSpPr>
          <p:nvPr/>
        </p:nvCxnSpPr>
        <p:spPr>
          <a:xfrm xmlns:a="http://schemas.openxmlformats.org/drawingml/2006/main">
            <a:off x="1990725" y="3595688"/>
            <a:ext cx="1343025" cy="0"/>
          </a:xfrm>
          <a:prstGeom xmlns:a="http://schemas.openxmlformats.org/drawingml/2006/main" prst="straightConnector1">
            <a:avLst/>
          </a:prstGeom>
          <a:ln xmlns:a="http://schemas.openxmlformats.org/drawingml/2006/main" w="17145">
            <a:solidFill>
              <a:srgbClr val="A2B5A4"/>
            </a:solidFill>
          </a:ln>
        </p:spPr>
      </p:cxnSp>
      <p:cxnSp>
        <p:nvCxnSpPr>
          <p:cNvPr id="21" name="">
            <a:extLst xmlns:a="http://schemas.openxmlformats.org/drawingml/2006/main">
              <a:ext uri="{FF2B5EF4-FFF2-40B4-BE49-F238E27FC236}">
                <a16:creationId xmlns:a16="http://schemas.microsoft.com/office/drawing/2014/main" id="{37ADBB2A-10F4-4527-ADD6-E7B6C40600D8}"/>
              </a:ext>
            </a:extLst>
          </p:cNvPr>
          <p:cNvCxnSpPr>
            <a:stCxn xmlns:a="http://schemas.openxmlformats.org/drawingml/2006/main" id="5" idx="6"/>
            <a:endCxn xmlns:a="http://schemas.openxmlformats.org/drawingml/2006/main" id="6" idx="2"/>
          </p:cNvCxnSpPr>
          <p:nvPr/>
        </p:nvCxnSpPr>
        <p:spPr>
          <a:xfrm xmlns:a="http://schemas.openxmlformats.org/drawingml/2006/main">
            <a:off x="5181600" y="2566988"/>
            <a:ext cx="1819275" cy="0"/>
          </a:xfrm>
          <a:prstGeom xmlns:a="http://schemas.openxmlformats.org/drawingml/2006/main" prst="straightConnector1">
            <a:avLst/>
          </a:prstGeom>
          <a:ln xmlns:a="http://schemas.openxmlformats.org/drawingml/2006/main" w="17145">
            <a:solidFill>
              <a:srgbClr val="A2B5A4"/>
            </a:solidFill>
          </a:ln>
        </p:spPr>
      </p:cxnSp>
      <p:cxnSp>
        <p:nvCxnSpPr>
          <p:cNvPr id="20" name="">
            <a:extLst xmlns:a="http://schemas.openxmlformats.org/drawingml/2006/main">
              <a:ext uri="{FF2B5EF4-FFF2-40B4-BE49-F238E27FC236}">
                <a16:creationId xmlns:a16="http://schemas.microsoft.com/office/drawing/2014/main" id="{CEFD2B28-E324-4FF1-9DF0-7B4FFA7B9449}"/>
              </a:ext>
            </a:extLst>
          </p:cNvPr>
          <p:cNvCxnSpPr>
            <a:stCxn xmlns:a="http://schemas.openxmlformats.org/drawingml/2006/main" id="4" idx="6"/>
            <a:endCxn xmlns:a="http://schemas.openxmlformats.org/drawingml/2006/main" id="5" idx="2"/>
          </p:cNvCxnSpPr>
          <p:nvPr/>
        </p:nvCxnSpPr>
        <p:spPr>
          <a:xfrm xmlns:a="http://schemas.openxmlformats.org/drawingml/2006/main">
            <a:off x="1990725" y="2566988"/>
            <a:ext cx="2914650" cy="0"/>
          </a:xfrm>
          <a:prstGeom xmlns:a="http://schemas.openxmlformats.org/drawingml/2006/main" prst="straightConnector1">
            <a:avLst/>
          </a:prstGeom>
          <a:ln xmlns:a="http://schemas.openxmlformats.org/drawingml/2006/main" w="28575">
            <a:solidFill>
              <a:srgbClr val="B85D35"/>
            </a:solidFill>
            <a:tailEnd type="arrow" w="med" len="med"/>
          </a:ln>
        </p:spPr>
      </p:cxnSp>
      <p:sp>
        <p:nvSpPr>
          <p:cNvPr id="43" name="">
            <a:extLst xmlns:a="http://schemas.openxmlformats.org/drawingml/2006/main">
              <a:ext uri="{FF2B5EF4-FFF2-40B4-BE49-F238E27FC236}">
                <a16:creationId xmlns:a16="http://schemas.microsoft.com/office/drawing/2014/main" id="{D0B10C89-0500-4563-B22B-ECE26A042B6E}"/>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Finding neighbours: HNSW in Chroma</a:t>
            </a:r>
          </a:p>
        </p:txBody>
      </p:sp>
      <p:sp>
        <p:nvSpPr>
          <p:cNvPr id="2" name="">
            <a:extLst xmlns:a="http://schemas.openxmlformats.org/drawingml/2006/main">
              <a:ext uri="{FF2B5EF4-FFF2-40B4-BE49-F238E27FC236}">
                <a16:creationId xmlns:a16="http://schemas.microsoft.com/office/drawing/2014/main" id="{6C752970-B657-467C-B888-400D6AF7C6A9}"/>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17</a:t>
            </a:r>
          </a:p>
        </p:txBody>
      </p:sp>
      <p:sp>
        <p:nvSpPr>
          <p:cNvPr id="3" name="">
            <a:extLst xmlns:a="http://schemas.openxmlformats.org/drawingml/2006/main">
              <a:ext uri="{FF2B5EF4-FFF2-40B4-BE49-F238E27FC236}">
                <a16:creationId xmlns:a16="http://schemas.microsoft.com/office/drawing/2014/main" id="{D5B7B22E-04C9-4E64-87E8-06FCBEAE8E68}"/>
              </a:ext>
            </a:extLst>
          </p:cNvPr>
          <p:cNvSpPr>
            <a:spLocks xmlns:a="http://schemas.openxmlformats.org/drawingml/2006/main" noGrp="1"/>
          </p:cNvSpPr>
          <p:nvPr/>
        </p:nvSpPr>
        <p:spPr>
          <a:xfrm xmlns:a="http://schemas.openxmlformats.org/drawingml/2006/main">
            <a:off x="619125" y="14382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85D35"/>
                </a:solidFill>
              </a:defRPr>
            </a:defPPr>
            <a:lvl1pPr>
              <a:buNone/>
              <a:defRPr sz="2175" b="1">
                <a:solidFill>
                  <a:srgbClr val="B85D35"/>
                </a:solidFill>
              </a:defRPr>
            </a:lvl1pPr>
            <a:lvl2pPr>
              <a:buNone/>
              <a:defRPr sz="2175" b="1">
                <a:solidFill>
                  <a:srgbClr val="B85D35"/>
                </a:solidFill>
              </a:defRPr>
            </a:lvl2pPr>
            <a:lvl3pPr>
              <a:buNone/>
              <a:defRPr sz="2175" b="1">
                <a:solidFill>
                  <a:srgbClr val="B85D35"/>
                </a:solidFill>
              </a:defRPr>
            </a:lvl3pPr>
            <a:lvl4pPr>
              <a:buNone/>
              <a:defRPr sz="2175" b="1">
                <a:solidFill>
                  <a:srgbClr val="B85D35"/>
                </a:solidFill>
              </a:defRPr>
            </a:lvl4pPr>
            <a:lvl5pPr>
              <a:buNone/>
              <a:defRPr sz="2175" b="1">
                <a:solidFill>
                  <a:srgbClr val="B85D35"/>
                </a:solidFill>
              </a:defRPr>
            </a:lvl5pPr>
            <a:lvl6pPr>
              <a:buNone/>
              <a:defRPr sz="2175" b="1">
                <a:solidFill>
                  <a:srgbClr val="B85D35"/>
                </a:solidFill>
              </a:defRPr>
            </a:lvl6pPr>
            <a:lvl7pPr>
              <a:buNone/>
              <a:defRPr sz="2175" b="1">
                <a:solidFill>
                  <a:srgbClr val="B85D35"/>
                </a:solidFill>
              </a:defRPr>
            </a:lvl7pPr>
            <a:lvl8pPr>
              <a:buNone/>
              <a:defRPr sz="2175" b="1">
                <a:solidFill>
                  <a:srgbClr val="B85D35"/>
                </a:solidFill>
              </a:defRPr>
            </a:lvl8pPr>
            <a:lvl9pPr>
              <a:buNone/>
              <a:defRPr sz="2175" b="1">
                <a:solidFill>
                  <a:srgbClr val="B85D35"/>
                </a:solidFill>
              </a:defRPr>
            </a:lvl9pPr>
          </a:lstStyle>
          <a:p xmlns:a="http://schemas.openxmlformats.org/drawingml/2006/main">
            <a:pPr>
              <a:buNone/>
              <a:defRPr sz="2175" b="1">
                <a:solidFill>
                  <a:srgbClr val="B85D35"/>
                </a:solidFill>
              </a:defRPr>
            </a:pPr>
            <a:r>
              <a:rPr sz="2175" b="1">
                <a:solidFill>
                  <a:srgbClr val="B85D35"/>
                </a:solidFill>
              </a:rPr>
              <a:t>Hierarchical Navigable Small World / approximate nearest neighbours</a:t>
            </a:r>
          </a:p>
        </p:txBody>
      </p:sp>
      <p:sp>
        <p:nvSpPr>
          <p:cNvPr id="4" name="">
            <a:extLst xmlns:a="http://schemas.openxmlformats.org/drawingml/2006/main">
              <a:ext uri="{FF2B5EF4-FFF2-40B4-BE49-F238E27FC236}">
                <a16:creationId xmlns:a16="http://schemas.microsoft.com/office/drawing/2014/main" id="{E29BC8FD-8508-4379-8018-1BB020A653C1}"/>
              </a:ext>
            </a:extLst>
          </p:cNvPr>
          <p:cNvSpPr>
            <a:spLocks xmlns:a="http://schemas.openxmlformats.org/drawingml/2006/main" noGrp="1"/>
          </p:cNvSpPr>
          <p:nvPr/>
        </p:nvSpPr>
        <p:spPr>
          <a:xfrm xmlns:a="http://schemas.openxmlformats.org/drawingml/2006/main">
            <a:off x="1714500" y="24288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5" name="">
            <a:extLst xmlns:a="http://schemas.openxmlformats.org/drawingml/2006/main">
              <a:ext uri="{FF2B5EF4-FFF2-40B4-BE49-F238E27FC236}">
                <a16:creationId xmlns:a16="http://schemas.microsoft.com/office/drawing/2014/main" id="{1B3AC08D-E202-4A2C-81B5-EFC15AC5CFB4}"/>
              </a:ext>
            </a:extLst>
          </p:cNvPr>
          <p:cNvSpPr>
            <a:spLocks xmlns:a="http://schemas.openxmlformats.org/drawingml/2006/main" noGrp="1"/>
          </p:cNvSpPr>
          <p:nvPr/>
        </p:nvSpPr>
        <p:spPr>
          <a:xfrm xmlns:a="http://schemas.openxmlformats.org/drawingml/2006/main">
            <a:off x="4905375" y="2428875"/>
            <a:ext cx="276225" cy="276225"/>
          </a:xfrm>
          <a:prstGeom xmlns:a="http://schemas.openxmlformats.org/drawingml/2006/main" prst="ellipse">
            <a:avLst/>
          </a:prstGeom>
          <a:solidFill xmlns:a="http://schemas.openxmlformats.org/drawingml/2006/main">
            <a:srgbClr val="B85D35"/>
          </a:solidFill>
          <a:ln xmlns:a="http://schemas.openxmlformats.org/drawingml/2006/main" w="17145">
            <a:solidFill>
              <a:srgbClr val="B85D35"/>
            </a:solidFill>
          </a:ln>
        </p:spPr>
      </p:sp>
      <p:sp>
        <p:nvSpPr>
          <p:cNvPr id="6" name="">
            <a:extLst xmlns:a="http://schemas.openxmlformats.org/drawingml/2006/main">
              <a:ext uri="{FF2B5EF4-FFF2-40B4-BE49-F238E27FC236}">
                <a16:creationId xmlns:a16="http://schemas.microsoft.com/office/drawing/2014/main" id="{E296A496-0FD1-4CF2-8F0B-28363924D55C}"/>
              </a:ext>
            </a:extLst>
          </p:cNvPr>
          <p:cNvSpPr>
            <a:spLocks xmlns:a="http://schemas.openxmlformats.org/drawingml/2006/main" noGrp="1"/>
          </p:cNvSpPr>
          <p:nvPr/>
        </p:nvSpPr>
        <p:spPr>
          <a:xfrm xmlns:a="http://schemas.openxmlformats.org/drawingml/2006/main">
            <a:off x="7000875" y="24288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7" name="">
            <a:extLst xmlns:a="http://schemas.openxmlformats.org/drawingml/2006/main">
              <a:ext uri="{FF2B5EF4-FFF2-40B4-BE49-F238E27FC236}">
                <a16:creationId xmlns:a16="http://schemas.microsoft.com/office/drawing/2014/main" id="{6ECEB87E-0A7D-44C2-B9C8-6AB1729CCF67}"/>
              </a:ext>
            </a:extLst>
          </p:cNvPr>
          <p:cNvSpPr>
            <a:spLocks xmlns:a="http://schemas.openxmlformats.org/drawingml/2006/main" noGrp="1"/>
          </p:cNvSpPr>
          <p:nvPr/>
        </p:nvSpPr>
        <p:spPr>
          <a:xfrm xmlns:a="http://schemas.openxmlformats.org/drawingml/2006/main">
            <a:off x="1714500" y="34575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8" name="">
            <a:extLst xmlns:a="http://schemas.openxmlformats.org/drawingml/2006/main">
              <a:ext uri="{FF2B5EF4-FFF2-40B4-BE49-F238E27FC236}">
                <a16:creationId xmlns:a16="http://schemas.microsoft.com/office/drawing/2014/main" id="{3AC82F4B-EEFF-40C6-8904-6AB875FF458D}"/>
              </a:ext>
            </a:extLst>
          </p:cNvPr>
          <p:cNvSpPr>
            <a:spLocks xmlns:a="http://schemas.openxmlformats.org/drawingml/2006/main" noGrp="1"/>
          </p:cNvSpPr>
          <p:nvPr/>
        </p:nvSpPr>
        <p:spPr>
          <a:xfrm xmlns:a="http://schemas.openxmlformats.org/drawingml/2006/main">
            <a:off x="3333750" y="34575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9" name="">
            <a:extLst xmlns:a="http://schemas.openxmlformats.org/drawingml/2006/main">
              <a:ext uri="{FF2B5EF4-FFF2-40B4-BE49-F238E27FC236}">
                <a16:creationId xmlns:a16="http://schemas.microsoft.com/office/drawing/2014/main" id="{BA7A9AD7-2B22-4D0F-ACF3-2B252BB9A1CA}"/>
              </a:ext>
            </a:extLst>
          </p:cNvPr>
          <p:cNvSpPr>
            <a:spLocks xmlns:a="http://schemas.openxmlformats.org/drawingml/2006/main" noGrp="1"/>
          </p:cNvSpPr>
          <p:nvPr/>
        </p:nvSpPr>
        <p:spPr>
          <a:xfrm xmlns:a="http://schemas.openxmlformats.org/drawingml/2006/main">
            <a:off x="4905375" y="3457575"/>
            <a:ext cx="276225" cy="276225"/>
          </a:xfrm>
          <a:prstGeom xmlns:a="http://schemas.openxmlformats.org/drawingml/2006/main" prst="ellipse">
            <a:avLst/>
          </a:prstGeom>
          <a:solidFill xmlns:a="http://schemas.openxmlformats.org/drawingml/2006/main">
            <a:srgbClr val="B85D35"/>
          </a:solidFill>
          <a:ln xmlns:a="http://schemas.openxmlformats.org/drawingml/2006/main" w="17145">
            <a:solidFill>
              <a:srgbClr val="B85D35"/>
            </a:solidFill>
          </a:ln>
        </p:spPr>
      </p:sp>
      <p:sp>
        <p:nvSpPr>
          <p:cNvPr id="10" name="">
            <a:extLst xmlns:a="http://schemas.openxmlformats.org/drawingml/2006/main">
              <a:ext uri="{FF2B5EF4-FFF2-40B4-BE49-F238E27FC236}">
                <a16:creationId xmlns:a16="http://schemas.microsoft.com/office/drawing/2014/main" id="{120479DD-0AAD-4385-A8B7-1D1370F01142}"/>
              </a:ext>
            </a:extLst>
          </p:cNvPr>
          <p:cNvSpPr>
            <a:spLocks xmlns:a="http://schemas.openxmlformats.org/drawingml/2006/main" noGrp="1"/>
          </p:cNvSpPr>
          <p:nvPr/>
        </p:nvSpPr>
        <p:spPr>
          <a:xfrm xmlns:a="http://schemas.openxmlformats.org/drawingml/2006/main">
            <a:off x="5905500" y="34575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1" name="">
            <a:extLst xmlns:a="http://schemas.openxmlformats.org/drawingml/2006/main">
              <a:ext uri="{FF2B5EF4-FFF2-40B4-BE49-F238E27FC236}">
                <a16:creationId xmlns:a16="http://schemas.microsoft.com/office/drawing/2014/main" id="{243EC712-5DC1-4A3F-AC86-E38744CF9A3A}"/>
              </a:ext>
            </a:extLst>
          </p:cNvPr>
          <p:cNvSpPr>
            <a:spLocks xmlns:a="http://schemas.openxmlformats.org/drawingml/2006/main" noGrp="1"/>
          </p:cNvSpPr>
          <p:nvPr/>
        </p:nvSpPr>
        <p:spPr>
          <a:xfrm xmlns:a="http://schemas.openxmlformats.org/drawingml/2006/main">
            <a:off x="7000875" y="34575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2" name="">
            <a:extLst xmlns:a="http://schemas.openxmlformats.org/drawingml/2006/main">
              <a:ext uri="{FF2B5EF4-FFF2-40B4-BE49-F238E27FC236}">
                <a16:creationId xmlns:a16="http://schemas.microsoft.com/office/drawing/2014/main" id="{71735258-4AB8-4389-9D52-4A7E88F61A53}"/>
              </a:ext>
            </a:extLst>
          </p:cNvPr>
          <p:cNvSpPr>
            <a:spLocks xmlns:a="http://schemas.openxmlformats.org/drawingml/2006/main" noGrp="1"/>
          </p:cNvSpPr>
          <p:nvPr/>
        </p:nvSpPr>
        <p:spPr>
          <a:xfrm xmlns:a="http://schemas.openxmlformats.org/drawingml/2006/main">
            <a:off x="952500"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3" name="">
            <a:extLst xmlns:a="http://schemas.openxmlformats.org/drawingml/2006/main">
              <a:ext uri="{FF2B5EF4-FFF2-40B4-BE49-F238E27FC236}">
                <a16:creationId xmlns:a16="http://schemas.microsoft.com/office/drawing/2014/main" id="{0428EED6-D329-4FE1-A300-FBCE73C6AF80}"/>
              </a:ext>
            </a:extLst>
          </p:cNvPr>
          <p:cNvSpPr>
            <a:spLocks xmlns:a="http://schemas.openxmlformats.org/drawingml/2006/main" noGrp="1"/>
          </p:cNvSpPr>
          <p:nvPr/>
        </p:nvSpPr>
        <p:spPr>
          <a:xfrm xmlns:a="http://schemas.openxmlformats.org/drawingml/2006/main">
            <a:off x="1714500"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4" name="">
            <a:extLst xmlns:a="http://schemas.openxmlformats.org/drawingml/2006/main">
              <a:ext uri="{FF2B5EF4-FFF2-40B4-BE49-F238E27FC236}">
                <a16:creationId xmlns:a16="http://schemas.microsoft.com/office/drawing/2014/main" id="{BC5F217C-6415-4F13-A657-ADFBAEB54058}"/>
              </a:ext>
            </a:extLst>
          </p:cNvPr>
          <p:cNvSpPr>
            <a:spLocks xmlns:a="http://schemas.openxmlformats.org/drawingml/2006/main" noGrp="1"/>
          </p:cNvSpPr>
          <p:nvPr/>
        </p:nvSpPr>
        <p:spPr>
          <a:xfrm xmlns:a="http://schemas.openxmlformats.org/drawingml/2006/main">
            <a:off x="2524125"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5" name="">
            <a:extLst xmlns:a="http://schemas.openxmlformats.org/drawingml/2006/main">
              <a:ext uri="{FF2B5EF4-FFF2-40B4-BE49-F238E27FC236}">
                <a16:creationId xmlns:a16="http://schemas.microsoft.com/office/drawing/2014/main" id="{A928BF6D-68E9-4410-8127-C2BF9363EBF1}"/>
              </a:ext>
            </a:extLst>
          </p:cNvPr>
          <p:cNvSpPr>
            <a:spLocks xmlns:a="http://schemas.openxmlformats.org/drawingml/2006/main" noGrp="1"/>
          </p:cNvSpPr>
          <p:nvPr/>
        </p:nvSpPr>
        <p:spPr>
          <a:xfrm xmlns:a="http://schemas.openxmlformats.org/drawingml/2006/main">
            <a:off x="3333750"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6" name="">
            <a:extLst xmlns:a="http://schemas.openxmlformats.org/drawingml/2006/main">
              <a:ext uri="{FF2B5EF4-FFF2-40B4-BE49-F238E27FC236}">
                <a16:creationId xmlns:a16="http://schemas.microsoft.com/office/drawing/2014/main" id="{4B737264-79C9-42BC-BE2F-516259C98C21}"/>
              </a:ext>
            </a:extLst>
          </p:cNvPr>
          <p:cNvSpPr>
            <a:spLocks xmlns:a="http://schemas.openxmlformats.org/drawingml/2006/main" noGrp="1"/>
          </p:cNvSpPr>
          <p:nvPr/>
        </p:nvSpPr>
        <p:spPr>
          <a:xfrm xmlns:a="http://schemas.openxmlformats.org/drawingml/2006/main">
            <a:off x="4095750" y="4486275"/>
            <a:ext cx="276225" cy="276225"/>
          </a:xfrm>
          <a:prstGeom xmlns:a="http://schemas.openxmlformats.org/drawingml/2006/main" prst="ellipse">
            <a:avLst/>
          </a:prstGeom>
          <a:solidFill xmlns:a="http://schemas.openxmlformats.org/drawingml/2006/main">
            <a:srgbClr val="B85D35"/>
          </a:solidFill>
          <a:ln xmlns:a="http://schemas.openxmlformats.org/drawingml/2006/main" w="17145">
            <a:solidFill>
              <a:srgbClr val="B85D35"/>
            </a:solidFill>
          </a:ln>
        </p:spPr>
      </p:sp>
      <p:sp>
        <p:nvSpPr>
          <p:cNvPr id="17" name="">
            <a:extLst xmlns:a="http://schemas.openxmlformats.org/drawingml/2006/main">
              <a:ext uri="{FF2B5EF4-FFF2-40B4-BE49-F238E27FC236}">
                <a16:creationId xmlns:a16="http://schemas.microsoft.com/office/drawing/2014/main" id="{23E19AD1-653A-428F-B859-0811AE7CB254}"/>
              </a:ext>
            </a:extLst>
          </p:cNvPr>
          <p:cNvSpPr>
            <a:spLocks xmlns:a="http://schemas.openxmlformats.org/drawingml/2006/main" noGrp="1"/>
          </p:cNvSpPr>
          <p:nvPr/>
        </p:nvSpPr>
        <p:spPr>
          <a:xfrm xmlns:a="http://schemas.openxmlformats.org/drawingml/2006/main">
            <a:off x="4905375"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8" name="">
            <a:extLst xmlns:a="http://schemas.openxmlformats.org/drawingml/2006/main">
              <a:ext uri="{FF2B5EF4-FFF2-40B4-BE49-F238E27FC236}">
                <a16:creationId xmlns:a16="http://schemas.microsoft.com/office/drawing/2014/main" id="{658322C8-ADD2-45AA-93CA-76E2A95E13B6}"/>
              </a:ext>
            </a:extLst>
          </p:cNvPr>
          <p:cNvSpPr>
            <a:spLocks xmlns:a="http://schemas.openxmlformats.org/drawingml/2006/main" noGrp="1"/>
          </p:cNvSpPr>
          <p:nvPr/>
        </p:nvSpPr>
        <p:spPr>
          <a:xfrm xmlns:a="http://schemas.openxmlformats.org/drawingml/2006/main">
            <a:off x="5905500"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19" name="">
            <a:extLst xmlns:a="http://schemas.openxmlformats.org/drawingml/2006/main">
              <a:ext uri="{FF2B5EF4-FFF2-40B4-BE49-F238E27FC236}">
                <a16:creationId xmlns:a16="http://schemas.microsoft.com/office/drawing/2014/main" id="{22F81776-D54A-405B-B08C-3264A39B4543}"/>
              </a:ext>
            </a:extLst>
          </p:cNvPr>
          <p:cNvSpPr>
            <a:spLocks xmlns:a="http://schemas.openxmlformats.org/drawingml/2006/main" noGrp="1"/>
          </p:cNvSpPr>
          <p:nvPr/>
        </p:nvSpPr>
        <p:spPr>
          <a:xfrm xmlns:a="http://schemas.openxmlformats.org/drawingml/2006/main">
            <a:off x="7000875" y="4486275"/>
            <a:ext cx="276225" cy="276225"/>
          </a:xfrm>
          <a:prstGeom xmlns:a="http://schemas.openxmlformats.org/drawingml/2006/main" prst="ellipse">
            <a:avLst/>
          </a:prstGeom>
          <a:solidFill xmlns:a="http://schemas.openxmlformats.org/drawingml/2006/main">
            <a:srgbClr val="DCE5D2"/>
          </a:solidFill>
          <a:ln xmlns:a="http://schemas.openxmlformats.org/drawingml/2006/main" w="17145">
            <a:solidFill>
              <a:srgbClr val="123B32"/>
            </a:solidFill>
          </a:ln>
        </p:spPr>
      </p:sp>
      <p:sp>
        <p:nvSpPr>
          <p:cNvPr id="36" name="">
            <a:extLst xmlns:a="http://schemas.openxmlformats.org/drawingml/2006/main">
              <a:ext uri="{FF2B5EF4-FFF2-40B4-BE49-F238E27FC236}">
                <a16:creationId xmlns:a16="http://schemas.microsoft.com/office/drawing/2014/main" id="{50F23650-8D68-45B9-A23A-F58C584F976B}"/>
              </a:ext>
            </a:extLst>
          </p:cNvPr>
          <p:cNvSpPr>
            <a:spLocks xmlns:a="http://schemas.openxmlformats.org/drawingml/2006/main" noGrp="1"/>
          </p:cNvSpPr>
          <p:nvPr/>
        </p:nvSpPr>
        <p:spPr>
          <a:xfrm xmlns:a="http://schemas.openxmlformats.org/drawingml/2006/main">
            <a:off x="619125" y="204787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5C"/>
                </a:solidFill>
              </a:defRPr>
            </a:defPPr>
            <a:lvl1pPr>
              <a:buNone/>
              <a:defRPr sz="1725" b="0">
                <a:solidFill>
                  <a:srgbClr val="52675C"/>
                </a:solidFill>
              </a:defRPr>
            </a:lvl1pPr>
            <a:lvl2pPr>
              <a:buNone/>
              <a:defRPr sz="1725" b="0">
                <a:solidFill>
                  <a:srgbClr val="52675C"/>
                </a:solidFill>
              </a:defRPr>
            </a:lvl2pPr>
            <a:lvl3pPr>
              <a:buNone/>
              <a:defRPr sz="1725" b="0">
                <a:solidFill>
                  <a:srgbClr val="52675C"/>
                </a:solidFill>
              </a:defRPr>
            </a:lvl3pPr>
            <a:lvl4pPr>
              <a:buNone/>
              <a:defRPr sz="1725" b="0">
                <a:solidFill>
                  <a:srgbClr val="52675C"/>
                </a:solidFill>
              </a:defRPr>
            </a:lvl4pPr>
            <a:lvl5pPr>
              <a:buNone/>
              <a:defRPr sz="1725" b="0">
                <a:solidFill>
                  <a:srgbClr val="52675C"/>
                </a:solidFill>
              </a:defRPr>
            </a:lvl5pPr>
            <a:lvl6pPr>
              <a:buNone/>
              <a:defRPr sz="1725" b="0">
                <a:solidFill>
                  <a:srgbClr val="52675C"/>
                </a:solidFill>
              </a:defRPr>
            </a:lvl6pPr>
            <a:lvl7pPr>
              <a:buNone/>
              <a:defRPr sz="1725" b="0">
                <a:solidFill>
                  <a:srgbClr val="52675C"/>
                </a:solidFill>
              </a:defRPr>
            </a:lvl7pPr>
            <a:lvl8pPr>
              <a:buNone/>
              <a:defRPr sz="1725" b="0">
                <a:solidFill>
                  <a:srgbClr val="52675C"/>
                </a:solidFill>
              </a:defRPr>
            </a:lvl8pPr>
            <a:lvl9pPr>
              <a:buNone/>
              <a:defRPr sz="1725" b="0">
                <a:solidFill>
                  <a:srgbClr val="52675C"/>
                </a:solidFill>
              </a:defRPr>
            </a:lvl9pPr>
          </a:lstStyle>
          <a:p xmlns:a="http://schemas.openxmlformats.org/drawingml/2006/main">
            <a:pPr>
              <a:buNone/>
              <a:defRPr sz="1725" b="0">
                <a:solidFill>
                  <a:srgbClr val="52675C"/>
                </a:solidFill>
              </a:defRPr>
            </a:pPr>
            <a:r>
              <a:rPr sz="1725" b="0">
                <a:solidFill>
                  <a:srgbClr val="52675C"/>
                </a:solidFill>
              </a:rPr>
              <a:t>Sparse</a:t>
            </a:r>
          </a:p>
        </p:txBody>
      </p:sp>
      <p:sp>
        <p:nvSpPr>
          <p:cNvPr id="37" name="">
            <a:extLst xmlns:a="http://schemas.openxmlformats.org/drawingml/2006/main">
              <a:ext uri="{FF2B5EF4-FFF2-40B4-BE49-F238E27FC236}">
                <a16:creationId xmlns:a16="http://schemas.microsoft.com/office/drawing/2014/main" id="{46C59F9E-81C9-4108-8819-08FB79BB9B03}"/>
              </a:ext>
            </a:extLst>
          </p:cNvPr>
          <p:cNvSpPr>
            <a:spLocks xmlns:a="http://schemas.openxmlformats.org/drawingml/2006/main" noGrp="1"/>
          </p:cNvSpPr>
          <p:nvPr/>
        </p:nvSpPr>
        <p:spPr>
          <a:xfrm xmlns:a="http://schemas.openxmlformats.org/drawingml/2006/main">
            <a:off x="619125" y="4981575"/>
            <a:ext cx="219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5C"/>
                </a:solidFill>
              </a:defRPr>
            </a:defPPr>
            <a:lvl1pPr>
              <a:buNone/>
              <a:defRPr sz="1725" b="0">
                <a:solidFill>
                  <a:srgbClr val="52675C"/>
                </a:solidFill>
              </a:defRPr>
            </a:lvl1pPr>
            <a:lvl2pPr>
              <a:buNone/>
              <a:defRPr sz="1725" b="0">
                <a:solidFill>
                  <a:srgbClr val="52675C"/>
                </a:solidFill>
              </a:defRPr>
            </a:lvl2pPr>
            <a:lvl3pPr>
              <a:buNone/>
              <a:defRPr sz="1725" b="0">
                <a:solidFill>
                  <a:srgbClr val="52675C"/>
                </a:solidFill>
              </a:defRPr>
            </a:lvl3pPr>
            <a:lvl4pPr>
              <a:buNone/>
              <a:defRPr sz="1725" b="0">
                <a:solidFill>
                  <a:srgbClr val="52675C"/>
                </a:solidFill>
              </a:defRPr>
            </a:lvl4pPr>
            <a:lvl5pPr>
              <a:buNone/>
              <a:defRPr sz="1725" b="0">
                <a:solidFill>
                  <a:srgbClr val="52675C"/>
                </a:solidFill>
              </a:defRPr>
            </a:lvl5pPr>
            <a:lvl6pPr>
              <a:buNone/>
              <a:defRPr sz="1725" b="0">
                <a:solidFill>
                  <a:srgbClr val="52675C"/>
                </a:solidFill>
              </a:defRPr>
            </a:lvl6pPr>
            <a:lvl7pPr>
              <a:buNone/>
              <a:defRPr sz="1725" b="0">
                <a:solidFill>
                  <a:srgbClr val="52675C"/>
                </a:solidFill>
              </a:defRPr>
            </a:lvl7pPr>
            <a:lvl8pPr>
              <a:buNone/>
              <a:defRPr sz="1725" b="0">
                <a:solidFill>
                  <a:srgbClr val="52675C"/>
                </a:solidFill>
              </a:defRPr>
            </a:lvl8pPr>
            <a:lvl9pPr>
              <a:buNone/>
              <a:defRPr sz="1725" b="0">
                <a:solidFill>
                  <a:srgbClr val="52675C"/>
                </a:solidFill>
              </a:defRPr>
            </a:lvl9pPr>
          </a:lstStyle>
          <a:p xmlns:a="http://schemas.openxmlformats.org/drawingml/2006/main">
            <a:pPr>
              <a:buNone/>
              <a:defRPr sz="1725" b="0">
                <a:solidFill>
                  <a:srgbClr val="52675C"/>
                </a:solidFill>
              </a:defRPr>
            </a:pPr>
            <a:r>
              <a:rPr sz="1725" b="0">
                <a:solidFill>
                  <a:srgbClr val="52675C"/>
                </a:solidFill>
              </a:rPr>
              <a:t>Denser</a:t>
            </a:r>
          </a:p>
        </p:txBody>
      </p:sp>
      <p:sp>
        <p:nvSpPr>
          <p:cNvPr id="38" name="">
            <a:extLst xmlns:a="http://schemas.openxmlformats.org/drawingml/2006/main">
              <a:ext uri="{FF2B5EF4-FFF2-40B4-BE49-F238E27FC236}">
                <a16:creationId xmlns:a16="http://schemas.microsoft.com/office/drawing/2014/main" id="{5AD54EEC-39C0-4233-8244-4B38F378F2AA}"/>
              </a:ext>
            </a:extLst>
          </p:cNvPr>
          <p:cNvSpPr>
            <a:spLocks xmlns:a="http://schemas.openxmlformats.org/drawingml/2006/main" noGrp="1"/>
          </p:cNvSpPr>
          <p:nvPr/>
        </p:nvSpPr>
        <p:spPr>
          <a:xfrm xmlns:a="http://schemas.openxmlformats.org/drawingml/2006/main">
            <a:off x="8010525" y="23431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Longer hops</a:t>
            </a:r>
          </a:p>
        </p:txBody>
      </p:sp>
      <p:sp>
        <p:nvSpPr>
          <p:cNvPr id="39" name="">
            <a:extLst xmlns:a="http://schemas.openxmlformats.org/drawingml/2006/main">
              <a:ext uri="{FF2B5EF4-FFF2-40B4-BE49-F238E27FC236}">
                <a16:creationId xmlns:a16="http://schemas.microsoft.com/office/drawing/2014/main" id="{EA91D3E3-F51E-455B-A84A-76AC88D2CC94}"/>
              </a:ext>
            </a:extLst>
          </p:cNvPr>
          <p:cNvSpPr>
            <a:spLocks xmlns:a="http://schemas.openxmlformats.org/drawingml/2006/main" noGrp="1"/>
          </p:cNvSpPr>
          <p:nvPr/>
        </p:nvSpPr>
        <p:spPr>
          <a:xfrm xmlns:a="http://schemas.openxmlformats.org/drawingml/2006/main">
            <a:off x="8010525" y="33718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Refine locally</a:t>
            </a:r>
          </a:p>
        </p:txBody>
      </p:sp>
      <p:sp>
        <p:nvSpPr>
          <p:cNvPr id="40" name="">
            <a:extLst xmlns:a="http://schemas.openxmlformats.org/drawingml/2006/main">
              <a:ext uri="{FF2B5EF4-FFF2-40B4-BE49-F238E27FC236}">
                <a16:creationId xmlns:a16="http://schemas.microsoft.com/office/drawing/2014/main" id="{B94A5840-ED50-4246-A382-0CA2F612693F}"/>
              </a:ext>
            </a:extLst>
          </p:cNvPr>
          <p:cNvSpPr>
            <a:spLocks xmlns:a="http://schemas.openxmlformats.org/drawingml/2006/main" noGrp="1"/>
          </p:cNvSpPr>
          <p:nvPr/>
        </p:nvSpPr>
        <p:spPr>
          <a:xfrm xmlns:a="http://schemas.openxmlformats.org/drawingml/2006/main">
            <a:off x="8010525" y="4438650"/>
            <a:ext cx="352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Cosine ranks candidates</a:t>
            </a:r>
          </a:p>
        </p:txBody>
      </p:sp>
      <p:sp>
        <p:nvSpPr>
          <p:cNvPr id="41" name="">
            <a:extLst xmlns:a="http://schemas.openxmlformats.org/drawingml/2006/main">
              <a:ext uri="{FF2B5EF4-FFF2-40B4-BE49-F238E27FC236}">
                <a16:creationId xmlns:a16="http://schemas.microsoft.com/office/drawing/2014/main" id="{0FD10A82-8A82-4646-99E5-E7946DCA1F60}"/>
              </a:ext>
            </a:extLst>
          </p:cNvPr>
          <p:cNvSpPr>
            <a:spLocks xmlns:a="http://schemas.openxmlformats.org/drawingml/2006/main" noGrp="1"/>
          </p:cNvSpPr>
          <p:nvPr/>
        </p:nvSpPr>
        <p:spPr>
          <a:xfrm xmlns:a="http://schemas.openxmlformats.org/drawingml/2006/main">
            <a:off x="619125" y="553402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23B32"/>
                </a:solidFill>
              </a:defRPr>
            </a:defPPr>
            <a:lvl1pPr>
              <a:buNone/>
              <a:defRPr sz="2250" b="1">
                <a:solidFill>
                  <a:srgbClr val="123B32"/>
                </a:solidFill>
              </a:defRPr>
            </a:lvl1pPr>
            <a:lvl2pPr>
              <a:buNone/>
              <a:defRPr sz="2250" b="1">
                <a:solidFill>
                  <a:srgbClr val="123B32"/>
                </a:solidFill>
              </a:defRPr>
            </a:lvl2pPr>
            <a:lvl3pPr>
              <a:buNone/>
              <a:defRPr sz="2250" b="1">
                <a:solidFill>
                  <a:srgbClr val="123B32"/>
                </a:solidFill>
              </a:defRPr>
            </a:lvl3pPr>
            <a:lvl4pPr>
              <a:buNone/>
              <a:defRPr sz="2250" b="1">
                <a:solidFill>
                  <a:srgbClr val="123B32"/>
                </a:solidFill>
              </a:defRPr>
            </a:lvl4pPr>
            <a:lvl5pPr>
              <a:buNone/>
              <a:defRPr sz="2250" b="1">
                <a:solidFill>
                  <a:srgbClr val="123B32"/>
                </a:solidFill>
              </a:defRPr>
            </a:lvl5pPr>
            <a:lvl6pPr>
              <a:buNone/>
              <a:defRPr sz="2250" b="1">
                <a:solidFill>
                  <a:srgbClr val="123B32"/>
                </a:solidFill>
              </a:defRPr>
            </a:lvl6pPr>
            <a:lvl7pPr>
              <a:buNone/>
              <a:defRPr sz="2250" b="1">
                <a:solidFill>
                  <a:srgbClr val="123B32"/>
                </a:solidFill>
              </a:defRPr>
            </a:lvl7pPr>
            <a:lvl8pPr>
              <a:buNone/>
              <a:defRPr sz="2250" b="1">
                <a:solidFill>
                  <a:srgbClr val="123B32"/>
                </a:solidFill>
              </a:defRPr>
            </a:lvl8pPr>
            <a:lvl9pPr>
              <a:buNone/>
              <a:defRPr sz="2250" b="1">
                <a:solidFill>
                  <a:srgbClr val="123B32"/>
                </a:solidFill>
              </a:defRPr>
            </a:lvl9pPr>
          </a:lstStyle>
          <a:p xmlns:a="http://schemas.openxmlformats.org/drawingml/2006/main">
            <a:pPr>
              <a:buNone/>
              <a:defRPr sz="2250" b="1">
                <a:solidFill>
                  <a:srgbClr val="123B32"/>
                </a:solidFill>
              </a:defRPr>
            </a:pPr>
            <a:r>
              <a:rPr sz="2250" b="1">
                <a:solidFill>
                  <a:srgbClr val="123B32"/>
                </a:solidFill>
              </a:rPr>
              <a:t>N &lt;= 64 after filters: exact scan / N &gt;= 65: HNSW</a:t>
            </a:r>
          </a:p>
        </p:txBody>
      </p:sp>
      <p:sp>
        <p:nvSpPr>
          <p:cNvPr id="42" name="">
            <a:extLst xmlns:a="http://schemas.openxmlformats.org/drawingml/2006/main">
              <a:ext uri="{FF2B5EF4-FFF2-40B4-BE49-F238E27FC236}">
                <a16:creationId xmlns:a16="http://schemas.microsoft.com/office/drawing/2014/main" id="{D176E3DC-792D-4CBE-9450-5E70810A5FE2}"/>
              </a:ext>
            </a:extLst>
          </p:cNvPr>
          <p:cNvSpPr>
            <a:spLocks xmlns:a="http://schemas.openxmlformats.org/drawingml/2006/main" noGrp="1"/>
          </p:cNvSpPr>
          <p:nvPr/>
        </p:nvSpPr>
        <p:spPr>
          <a:xfrm xmlns:a="http://schemas.openxmlformats.org/drawingml/2006/main">
            <a:off x="619125" y="610552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5C"/>
                </a:solidFill>
              </a:defRPr>
            </a:defPPr>
            <a:lvl1pPr>
              <a:buNone/>
              <a:defRPr sz="1725" b="0">
                <a:solidFill>
                  <a:srgbClr val="52675C"/>
                </a:solidFill>
              </a:defRPr>
            </a:lvl1pPr>
            <a:lvl2pPr>
              <a:buNone/>
              <a:defRPr sz="1725" b="0">
                <a:solidFill>
                  <a:srgbClr val="52675C"/>
                </a:solidFill>
              </a:defRPr>
            </a:lvl2pPr>
            <a:lvl3pPr>
              <a:buNone/>
              <a:defRPr sz="1725" b="0">
                <a:solidFill>
                  <a:srgbClr val="52675C"/>
                </a:solidFill>
              </a:defRPr>
            </a:lvl3pPr>
            <a:lvl4pPr>
              <a:buNone/>
              <a:defRPr sz="1725" b="0">
                <a:solidFill>
                  <a:srgbClr val="52675C"/>
                </a:solidFill>
              </a:defRPr>
            </a:lvl4pPr>
            <a:lvl5pPr>
              <a:buNone/>
              <a:defRPr sz="1725" b="0">
                <a:solidFill>
                  <a:srgbClr val="52675C"/>
                </a:solidFill>
              </a:defRPr>
            </a:lvl5pPr>
            <a:lvl6pPr>
              <a:buNone/>
              <a:defRPr sz="1725" b="0">
                <a:solidFill>
                  <a:srgbClr val="52675C"/>
                </a:solidFill>
              </a:defRPr>
            </a:lvl6pPr>
            <a:lvl7pPr>
              <a:buNone/>
              <a:defRPr sz="1725" b="0">
                <a:solidFill>
                  <a:srgbClr val="52675C"/>
                </a:solidFill>
              </a:defRPr>
            </a:lvl7pPr>
            <a:lvl8pPr>
              <a:buNone/>
              <a:defRPr sz="1725" b="0">
                <a:solidFill>
                  <a:srgbClr val="52675C"/>
                </a:solidFill>
              </a:defRPr>
            </a:lvl8pPr>
            <a:lvl9pPr>
              <a:buNone/>
              <a:defRPr sz="1725" b="0">
                <a:solidFill>
                  <a:srgbClr val="52675C"/>
                </a:solidFill>
              </a:defRPr>
            </a:lvl9pPr>
          </a:lstStyle>
          <a:p xmlns:a="http://schemas.openxmlformats.org/drawingml/2006/main">
            <a:pPr>
              <a:buNone/>
              <a:defRPr sz="1725" b="0">
                <a:solidFill>
                  <a:srgbClr val="52675C"/>
                </a:solidFill>
              </a:defRPr>
            </a:pPr>
            <a:r>
              <a:rPr sz="1725" b="0">
                <a:solidFill>
                  <a:srgbClr val="52675C"/>
                </a:solidFill>
              </a:rPr>
              <a:t>64 bounds the fallback work; we have not benchmarked it as an optimum</a:t>
            </a:r>
          </a:p>
        </p:txBody>
      </p:sp>
    </p:spTree>
    <p:extLst>
      <p:ext uri="{BB962C8B-B14F-4D97-AF65-F5344CB8AC3E}">
        <p14:creationId xmlns:p14="http://schemas.microsoft.com/office/powerpoint/2010/main" val="770684235"/>
      </p:ext>
    </p:extLst>
  </p:cSld>
</p:sld>
</file>

<file path=ppt/slides/slide18.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9C269D-61A3-4E4A-A729-3CB58F7934D3}"/>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Task 1: a real image query</a:t>
            </a:r>
          </a:p>
        </p:txBody>
      </p:sp>
      <p:sp>
        <p:nvSpPr>
          <p:cNvPr id="2" name="">
            <a:extLst xmlns:a="http://schemas.openxmlformats.org/drawingml/2006/main">
              <a:ext uri="{FF2B5EF4-FFF2-40B4-BE49-F238E27FC236}">
                <a16:creationId xmlns:a16="http://schemas.microsoft.com/office/drawing/2014/main" id="{41A0EE5E-84D5-4D98-840A-8B63C09845C1}"/>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18</a:t>
            </a:r>
          </a:p>
        </p:txBody>
      </p:sp>
      <p:sp>
        <p:nvSpPr>
          <p:cNvPr id="3" name="">
            <a:extLst xmlns:a="http://schemas.openxmlformats.org/drawingml/2006/main">
              <a:ext uri="{FF2B5EF4-FFF2-40B4-BE49-F238E27FC236}">
                <a16:creationId xmlns:a16="http://schemas.microsoft.com/office/drawing/2014/main" id="{B38B4D8E-F6DB-444A-836D-ED4BBE695E1A}"/>
              </a:ext>
            </a:extLst>
          </p:cNvPr>
          <p:cNvSpPr>
            <a:spLocks xmlns:a="http://schemas.openxmlformats.org/drawingml/2006/main" noGrp="1"/>
          </p:cNvSpPr>
          <p:nvPr/>
        </p:nvSpPr>
        <p:spPr>
          <a:xfrm xmlns:a="http://schemas.openxmlformats.org/drawingml/2006/main">
            <a:off x="609600" y="1695450"/>
            <a:ext cx="319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B85D35"/>
                </a:solidFill>
              </a:defRPr>
            </a:defPPr>
            <a:lvl1pPr>
              <a:buNone/>
              <a:defRPr sz="1950" b="1">
                <a:solidFill>
                  <a:srgbClr val="B85D35"/>
                </a:solidFill>
              </a:defRPr>
            </a:lvl1pPr>
            <a:lvl2pPr>
              <a:buNone/>
              <a:defRPr sz="1950" b="1">
                <a:solidFill>
                  <a:srgbClr val="B85D35"/>
                </a:solidFill>
              </a:defRPr>
            </a:lvl2pPr>
            <a:lvl3pPr>
              <a:buNone/>
              <a:defRPr sz="1950" b="1">
                <a:solidFill>
                  <a:srgbClr val="B85D35"/>
                </a:solidFill>
              </a:defRPr>
            </a:lvl3pPr>
            <a:lvl4pPr>
              <a:buNone/>
              <a:defRPr sz="1950" b="1">
                <a:solidFill>
                  <a:srgbClr val="B85D35"/>
                </a:solidFill>
              </a:defRPr>
            </a:lvl4pPr>
            <a:lvl5pPr>
              <a:buNone/>
              <a:defRPr sz="1950" b="1">
                <a:solidFill>
                  <a:srgbClr val="B85D35"/>
                </a:solidFill>
              </a:defRPr>
            </a:lvl5pPr>
            <a:lvl6pPr>
              <a:buNone/>
              <a:defRPr sz="1950" b="1">
                <a:solidFill>
                  <a:srgbClr val="B85D35"/>
                </a:solidFill>
              </a:defRPr>
            </a:lvl6pPr>
            <a:lvl7pPr>
              <a:buNone/>
              <a:defRPr sz="1950" b="1">
                <a:solidFill>
                  <a:srgbClr val="B85D35"/>
                </a:solidFill>
              </a:defRPr>
            </a:lvl7pPr>
            <a:lvl8pPr>
              <a:buNone/>
              <a:defRPr sz="1950" b="1">
                <a:solidFill>
                  <a:srgbClr val="B85D35"/>
                </a:solidFill>
              </a:defRPr>
            </a:lvl8pPr>
            <a:lvl9pPr>
              <a:buNone/>
              <a:defRPr sz="1950" b="1">
                <a:solidFill>
                  <a:srgbClr val="B85D35"/>
                </a:solidFill>
              </a:defRPr>
            </a:lvl9pPr>
          </a:lstStyle>
          <a:p xmlns:a="http://schemas.openxmlformats.org/drawingml/2006/main">
            <a:pPr>
              <a:buNone/>
              <a:defRPr sz="1950" b="1">
                <a:solidFill>
                  <a:srgbClr val="B85D35"/>
                </a:solidFill>
              </a:defRPr>
            </a:pPr>
            <a:r>
              <a:rPr sz="1950" b="1">
                <a:solidFill>
                  <a:srgbClr val="B85D35"/>
                </a:solidFill>
              </a:rPr>
              <a:t>REFERENCE IMAGE</a:t>
            </a:r>
          </a:p>
        </p:txBody>
      </p:sp>
      <p:sp>
        <p:nvSpPr>
          <p:cNvPr id="4" name="">
            <a:extLst xmlns:a="http://schemas.openxmlformats.org/drawingml/2006/main">
              <a:ext uri="{FF2B5EF4-FFF2-40B4-BE49-F238E27FC236}">
                <a16:creationId xmlns:a16="http://schemas.microsoft.com/office/drawing/2014/main" id="{B5FD4B97-06C1-4680-B95C-351A687129BB}"/>
              </a:ext>
            </a:extLst>
          </p:cNvPr>
          <p:cNvSpPr>
            <a:spLocks xmlns:a="http://schemas.openxmlformats.org/drawingml/2006/main" noGrp="1"/>
          </p:cNvSpPr>
          <p:nvPr/>
        </p:nvSpPr>
        <p:spPr>
          <a:xfrm xmlns:a="http://schemas.openxmlformats.org/drawingml/2006/main">
            <a:off x="4572000" y="1695450"/>
            <a:ext cx="695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23B32"/>
                </a:solidFill>
              </a:defRPr>
            </a:defPPr>
            <a:lvl1pPr>
              <a:buNone/>
              <a:defRPr sz="1950" b="1">
                <a:solidFill>
                  <a:srgbClr val="123B32"/>
                </a:solidFill>
              </a:defRPr>
            </a:lvl1pPr>
            <a:lvl2pPr>
              <a:buNone/>
              <a:defRPr sz="1950" b="1">
                <a:solidFill>
                  <a:srgbClr val="123B32"/>
                </a:solidFill>
              </a:defRPr>
            </a:lvl2pPr>
            <a:lvl3pPr>
              <a:buNone/>
              <a:defRPr sz="1950" b="1">
                <a:solidFill>
                  <a:srgbClr val="123B32"/>
                </a:solidFill>
              </a:defRPr>
            </a:lvl3pPr>
            <a:lvl4pPr>
              <a:buNone/>
              <a:defRPr sz="1950" b="1">
                <a:solidFill>
                  <a:srgbClr val="123B32"/>
                </a:solidFill>
              </a:defRPr>
            </a:lvl4pPr>
            <a:lvl5pPr>
              <a:buNone/>
              <a:defRPr sz="1950" b="1">
                <a:solidFill>
                  <a:srgbClr val="123B32"/>
                </a:solidFill>
              </a:defRPr>
            </a:lvl5pPr>
            <a:lvl6pPr>
              <a:buNone/>
              <a:defRPr sz="1950" b="1">
                <a:solidFill>
                  <a:srgbClr val="123B32"/>
                </a:solidFill>
              </a:defRPr>
            </a:lvl6pPr>
            <a:lvl7pPr>
              <a:buNone/>
              <a:defRPr sz="1950" b="1">
                <a:solidFill>
                  <a:srgbClr val="123B32"/>
                </a:solidFill>
              </a:defRPr>
            </a:lvl7pPr>
            <a:lvl8pPr>
              <a:buNone/>
              <a:defRPr sz="1950" b="1">
                <a:solidFill>
                  <a:srgbClr val="123B32"/>
                </a:solidFill>
              </a:defRPr>
            </a:lvl8pPr>
            <a:lvl9pPr>
              <a:buNone/>
              <a:defRPr sz="1950" b="1">
                <a:solidFill>
                  <a:srgbClr val="123B32"/>
                </a:solidFill>
              </a:defRPr>
            </a:lvl9pPr>
          </a:lstStyle>
          <a:p xmlns:a="http://schemas.openxmlformats.org/drawingml/2006/main">
            <a:pPr>
              <a:buNone/>
              <a:defRPr sz="1950" b="1">
                <a:solidFill>
                  <a:srgbClr val="123B32"/>
                </a:solidFill>
              </a:defRPr>
            </a:pPr>
            <a:r>
              <a:rPr sz="1950" b="1">
                <a:solidFill>
                  <a:srgbClr val="123B32"/>
                </a:solidFill>
              </a:rPr>
              <a:t>SELECTED MATCHES / RANKS 1 AND 3</a:t>
            </a:r>
          </a:p>
        </p:txBody>
      </p:sp>
      <p:pic>
        <p:nvPicPr>
          <p:cNvPr id="5" name="">
            <a:extLst xmlns:a="http://schemas.openxmlformats.org/drawingml/2006/main">
              <a:ext uri="{FF2B5EF4-FFF2-40B4-BE49-F238E27FC236}">
                <a16:creationId xmlns:a16="http://schemas.microsoft.com/office/drawing/2014/main" id="{850BD267-7D22-46D5-A383-EA89444A2CC4}"/>
              </a:ext>
            </a:extLst>
          </p:cNvPr>
          <p:cNvPicPr>
            <a:picLocks xmlns:a="http://schemas.openxmlformats.org/drawingml/2006/main" noChangeAspect="1"/>
          </p:cNvPicPr>
          <p:nvPr/>
        </p:nvPicPr>
        <p:blipFill>
          <a:blip xmlns:r="http://schemas.openxmlformats.org/officeDocument/2006/relationships" xmlns:a="http://schemas.openxmlformats.org/drawingml/2006/main" r:embed="R17c88b02550e443c"/>
          <a:stretch xmlns:a="http://schemas.openxmlformats.org/drawingml/2006/main"/>
        </p:blipFill>
        <p:spPr>
          <a:xfrm xmlns:a="http://schemas.openxmlformats.org/drawingml/2006/main">
            <a:off x="1290161" y="2333625"/>
            <a:ext cx="1734503" cy="25717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A7A59E77-E55B-4BB6-82B5-2E0F06B07DD4}"/>
              </a:ext>
            </a:extLst>
          </p:cNvPr>
          <p:cNvPicPr>
            <a:picLocks xmlns:a="http://schemas.openxmlformats.org/drawingml/2006/main" noChangeAspect="1"/>
          </p:cNvPicPr>
          <p:nvPr/>
        </p:nvPicPr>
        <p:blipFill>
          <a:blip xmlns:r="http://schemas.openxmlformats.org/officeDocument/2006/relationships" xmlns:a="http://schemas.openxmlformats.org/drawingml/2006/main" r:embed="R354fb3721ddb44c1"/>
          <a:stretch xmlns:a="http://schemas.openxmlformats.org/drawingml/2006/main"/>
        </p:blipFill>
        <p:spPr>
          <a:xfrm xmlns:a="http://schemas.openxmlformats.org/drawingml/2006/main">
            <a:off x="4572000" y="2654260"/>
            <a:ext cx="3190875" cy="1930479"/>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B216A9F7-635D-43A5-A61B-E00D585FA7A0}"/>
              </a:ext>
            </a:extLst>
          </p:cNvPr>
          <p:cNvPicPr>
            <a:picLocks xmlns:a="http://schemas.openxmlformats.org/drawingml/2006/main" noChangeAspect="1"/>
          </p:cNvPicPr>
          <p:nvPr/>
        </p:nvPicPr>
        <p:blipFill>
          <a:blip xmlns:r="http://schemas.openxmlformats.org/officeDocument/2006/relationships" xmlns:a="http://schemas.openxmlformats.org/drawingml/2006/main" r:embed="Rf66e8408e52e4139"/>
          <a:stretch xmlns:a="http://schemas.openxmlformats.org/drawingml/2006/main"/>
        </p:blipFill>
        <p:spPr>
          <a:xfrm xmlns:a="http://schemas.openxmlformats.org/drawingml/2006/main">
            <a:off x="8382000" y="2518648"/>
            <a:ext cx="3190875" cy="220170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C5543CD-9BBB-4515-8339-E868DEDB5319}"/>
              </a:ext>
            </a:extLst>
          </p:cNvPr>
          <p:cNvSpPr>
            <a:spLocks xmlns:a="http://schemas.openxmlformats.org/drawingml/2006/main" noGrp="1"/>
          </p:cNvSpPr>
          <p:nvPr/>
        </p:nvSpPr>
        <p:spPr>
          <a:xfrm xmlns:a="http://schemas.openxmlformats.org/drawingml/2006/main">
            <a:off x="647700" y="5219700"/>
            <a:ext cx="3095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Query / CLIP</a:t>
            </a:r>
          </a:p>
        </p:txBody>
      </p:sp>
      <p:sp>
        <p:nvSpPr>
          <p:cNvPr id="9" name="">
            <a:extLst xmlns:a="http://schemas.openxmlformats.org/drawingml/2006/main">
              <a:ext uri="{FF2B5EF4-FFF2-40B4-BE49-F238E27FC236}">
                <a16:creationId xmlns:a16="http://schemas.microsoft.com/office/drawing/2014/main" id="{9860160D-D0D8-4521-984C-0B50698FCF31}"/>
              </a:ext>
            </a:extLst>
          </p:cNvPr>
          <p:cNvSpPr>
            <a:spLocks xmlns:a="http://schemas.openxmlformats.org/drawingml/2006/main" noGrp="1"/>
          </p:cNvSpPr>
          <p:nvPr/>
        </p:nvSpPr>
        <p:spPr>
          <a:xfrm xmlns:a="http://schemas.openxmlformats.org/drawingml/2006/main">
            <a:off x="4619625" y="52197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3B32"/>
                </a:solidFill>
              </a:defRPr>
            </a:defPPr>
            <a:lvl1pPr>
              <a:buNone/>
              <a:defRPr sz="2025" b="1">
                <a:solidFill>
                  <a:srgbClr val="123B32"/>
                </a:solidFill>
              </a:defRPr>
            </a:lvl1pPr>
            <a:lvl2pPr>
              <a:buNone/>
              <a:defRPr sz="2025" b="1">
                <a:solidFill>
                  <a:srgbClr val="123B32"/>
                </a:solidFill>
              </a:defRPr>
            </a:lvl2pPr>
            <a:lvl3pPr>
              <a:buNone/>
              <a:defRPr sz="2025" b="1">
                <a:solidFill>
                  <a:srgbClr val="123B32"/>
                </a:solidFill>
              </a:defRPr>
            </a:lvl3pPr>
            <a:lvl4pPr>
              <a:buNone/>
              <a:defRPr sz="2025" b="1">
                <a:solidFill>
                  <a:srgbClr val="123B32"/>
                </a:solidFill>
              </a:defRPr>
            </a:lvl4pPr>
            <a:lvl5pPr>
              <a:buNone/>
              <a:defRPr sz="2025" b="1">
                <a:solidFill>
                  <a:srgbClr val="123B32"/>
                </a:solidFill>
              </a:defRPr>
            </a:lvl5pPr>
            <a:lvl6pPr>
              <a:buNone/>
              <a:defRPr sz="2025" b="1">
                <a:solidFill>
                  <a:srgbClr val="123B32"/>
                </a:solidFill>
              </a:defRPr>
            </a:lvl6pPr>
            <a:lvl7pPr>
              <a:buNone/>
              <a:defRPr sz="2025" b="1">
                <a:solidFill>
                  <a:srgbClr val="123B32"/>
                </a:solidFill>
              </a:defRPr>
            </a:lvl7pPr>
            <a:lvl8pPr>
              <a:buNone/>
              <a:defRPr sz="2025" b="1">
                <a:solidFill>
                  <a:srgbClr val="123B32"/>
                </a:solidFill>
              </a:defRPr>
            </a:lvl8pPr>
            <a:lvl9pPr>
              <a:buNone/>
              <a:defRPr sz="2025" b="1">
                <a:solidFill>
                  <a:srgbClr val="123B32"/>
                </a:solidFill>
              </a:defRPr>
            </a:lvl9pPr>
          </a:lstStyle>
          <a:p xmlns:a="http://schemas.openxmlformats.org/drawingml/2006/main">
            <a:pPr>
              <a:buNone/>
              <a:defRPr sz="2025" b="1">
                <a:solidFill>
                  <a:srgbClr val="123B32"/>
                </a:solidFill>
              </a:defRPr>
            </a:pPr>
            <a:r>
              <a:rPr sz="2025" b="1">
                <a:solidFill>
                  <a:srgbClr val="123B32"/>
                </a:solidFill>
              </a:rPr>
              <a:t>#1 / cosine 0.912</a:t>
            </a:r>
          </a:p>
        </p:txBody>
      </p:sp>
      <p:sp>
        <p:nvSpPr>
          <p:cNvPr id="10" name="">
            <a:extLst xmlns:a="http://schemas.openxmlformats.org/drawingml/2006/main">
              <a:ext uri="{FF2B5EF4-FFF2-40B4-BE49-F238E27FC236}">
                <a16:creationId xmlns:a16="http://schemas.microsoft.com/office/drawing/2014/main" id="{29052F07-94BA-47AA-AAEB-C851F75E8B2F}"/>
              </a:ext>
            </a:extLst>
          </p:cNvPr>
          <p:cNvSpPr>
            <a:spLocks xmlns:a="http://schemas.openxmlformats.org/drawingml/2006/main" noGrp="1"/>
          </p:cNvSpPr>
          <p:nvPr/>
        </p:nvSpPr>
        <p:spPr>
          <a:xfrm xmlns:a="http://schemas.openxmlformats.org/drawingml/2006/main">
            <a:off x="8420100" y="52197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3B32"/>
                </a:solidFill>
              </a:defRPr>
            </a:defPPr>
            <a:lvl1pPr>
              <a:buNone/>
              <a:defRPr sz="2025" b="1">
                <a:solidFill>
                  <a:srgbClr val="123B32"/>
                </a:solidFill>
              </a:defRPr>
            </a:lvl1pPr>
            <a:lvl2pPr>
              <a:buNone/>
              <a:defRPr sz="2025" b="1">
                <a:solidFill>
                  <a:srgbClr val="123B32"/>
                </a:solidFill>
              </a:defRPr>
            </a:lvl2pPr>
            <a:lvl3pPr>
              <a:buNone/>
              <a:defRPr sz="2025" b="1">
                <a:solidFill>
                  <a:srgbClr val="123B32"/>
                </a:solidFill>
              </a:defRPr>
            </a:lvl3pPr>
            <a:lvl4pPr>
              <a:buNone/>
              <a:defRPr sz="2025" b="1">
                <a:solidFill>
                  <a:srgbClr val="123B32"/>
                </a:solidFill>
              </a:defRPr>
            </a:lvl4pPr>
            <a:lvl5pPr>
              <a:buNone/>
              <a:defRPr sz="2025" b="1">
                <a:solidFill>
                  <a:srgbClr val="123B32"/>
                </a:solidFill>
              </a:defRPr>
            </a:lvl5pPr>
            <a:lvl6pPr>
              <a:buNone/>
              <a:defRPr sz="2025" b="1">
                <a:solidFill>
                  <a:srgbClr val="123B32"/>
                </a:solidFill>
              </a:defRPr>
            </a:lvl6pPr>
            <a:lvl7pPr>
              <a:buNone/>
              <a:defRPr sz="2025" b="1">
                <a:solidFill>
                  <a:srgbClr val="123B32"/>
                </a:solidFill>
              </a:defRPr>
            </a:lvl7pPr>
            <a:lvl8pPr>
              <a:buNone/>
              <a:defRPr sz="2025" b="1">
                <a:solidFill>
                  <a:srgbClr val="123B32"/>
                </a:solidFill>
              </a:defRPr>
            </a:lvl8pPr>
            <a:lvl9pPr>
              <a:buNone/>
              <a:defRPr sz="2025" b="1">
                <a:solidFill>
                  <a:srgbClr val="123B32"/>
                </a:solidFill>
              </a:defRPr>
            </a:lvl9pPr>
          </a:lstStyle>
          <a:p xmlns:a="http://schemas.openxmlformats.org/drawingml/2006/main">
            <a:pPr>
              <a:buNone/>
              <a:defRPr sz="2025" b="1">
                <a:solidFill>
                  <a:srgbClr val="123B32"/>
                </a:solidFill>
              </a:defRPr>
            </a:pPr>
            <a:r>
              <a:rPr sz="2025" b="1">
                <a:solidFill>
                  <a:srgbClr val="123B32"/>
                </a:solidFill>
              </a:rPr>
              <a:t>#3 / cosine 0.871</a:t>
            </a:r>
          </a:p>
        </p:txBody>
      </p:sp>
      <p:sp>
        <p:nvSpPr>
          <p:cNvPr id="11" name="">
            <a:extLst xmlns:a="http://schemas.openxmlformats.org/drawingml/2006/main">
              <a:ext uri="{FF2B5EF4-FFF2-40B4-BE49-F238E27FC236}">
                <a16:creationId xmlns:a16="http://schemas.microsoft.com/office/drawing/2014/main" id="{792A6BF5-D5C1-4F8E-94C3-FC45F1AD3004}"/>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5 distinct assets / reference excluded / 4 lynx labels and 1 wolf label</a:t>
            </a:r>
          </a:p>
        </p:txBody>
      </p:sp>
    </p:spTree>
    <p:extLst>
      <p:ext uri="{BB962C8B-B14F-4D97-AF65-F5344CB8AC3E}">
        <p14:creationId xmlns:p14="http://schemas.microsoft.com/office/powerpoint/2010/main" val="1567050613"/>
      </p:ext>
    </p:extLst>
  </p:cSld>
</p:sld>
</file>

<file path=ppt/slides/slide19.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7AE64E-7405-47FB-9194-FD00842799D3}"/>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Task 2: one query, images and text</a:t>
            </a:r>
          </a:p>
        </p:txBody>
      </p:sp>
      <p:sp>
        <p:nvSpPr>
          <p:cNvPr id="2" name="">
            <a:extLst xmlns:a="http://schemas.openxmlformats.org/drawingml/2006/main">
              <a:ext uri="{FF2B5EF4-FFF2-40B4-BE49-F238E27FC236}">
                <a16:creationId xmlns:a16="http://schemas.microsoft.com/office/drawing/2014/main" id="{6727D58D-CE85-4ED1-A1C5-8C896B0DAAB6}"/>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19</a:t>
            </a:r>
          </a:p>
        </p:txBody>
      </p:sp>
      <p:sp>
        <p:nvSpPr>
          <p:cNvPr id="3" name="">
            <a:extLst xmlns:a="http://schemas.openxmlformats.org/drawingml/2006/main">
              <a:ext uri="{FF2B5EF4-FFF2-40B4-BE49-F238E27FC236}">
                <a16:creationId xmlns:a16="http://schemas.microsoft.com/office/drawing/2014/main" id="{5BB51ACE-065F-40A3-918F-74A5A6BE14DC}"/>
              </a:ext>
            </a:extLst>
          </p:cNvPr>
          <p:cNvSpPr>
            <a:spLocks xmlns:a="http://schemas.openxmlformats.org/drawingml/2006/main" noGrp="1"/>
          </p:cNvSpPr>
          <p:nvPr/>
        </p:nvSpPr>
        <p:spPr>
          <a:xfrm xmlns:a="http://schemas.openxmlformats.org/drawingml/2006/main">
            <a:off x="609600" y="15716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buNone/>
              <a:defRPr sz="2775" b="1">
                <a:solidFill>
                  <a:srgbClr val="123B32"/>
                </a:solidFill>
              </a:defRPr>
            </a:lvl1pPr>
            <a:lvl2pPr>
              <a:buNone/>
              <a:defRPr sz="2775" b="1">
                <a:solidFill>
                  <a:srgbClr val="123B32"/>
                </a:solidFill>
              </a:defRPr>
            </a:lvl2pPr>
            <a:lvl3pPr>
              <a:buNone/>
              <a:defRPr sz="2775" b="1">
                <a:solidFill>
                  <a:srgbClr val="123B32"/>
                </a:solidFill>
              </a:defRPr>
            </a:lvl3pPr>
            <a:lvl4pPr>
              <a:buNone/>
              <a:defRPr sz="2775" b="1">
                <a:solidFill>
                  <a:srgbClr val="123B32"/>
                </a:solidFill>
              </a:defRPr>
            </a:lvl4pPr>
            <a:lvl5pPr>
              <a:buNone/>
              <a:defRPr sz="2775" b="1">
                <a:solidFill>
                  <a:srgbClr val="123B32"/>
                </a:solidFill>
              </a:defRPr>
            </a:lvl5pPr>
            <a:lvl6pPr>
              <a:buNone/>
              <a:defRPr sz="2775" b="1">
                <a:solidFill>
                  <a:srgbClr val="123B32"/>
                </a:solidFill>
              </a:defRPr>
            </a:lvl6pPr>
            <a:lvl7pPr>
              <a:buNone/>
              <a:defRPr sz="2775" b="1">
                <a:solidFill>
                  <a:srgbClr val="123B32"/>
                </a:solidFill>
              </a:defRPr>
            </a:lvl7pPr>
            <a:lvl8pPr>
              <a:buNone/>
              <a:defRPr sz="2775" b="1">
                <a:solidFill>
                  <a:srgbClr val="123B32"/>
                </a:solidFill>
              </a:defRPr>
            </a:lvl8pPr>
            <a:lvl9pPr>
              <a:buNone/>
              <a:defRPr sz="2775" b="1">
                <a:solidFill>
                  <a:srgbClr val="123B32"/>
                </a:solidFill>
              </a:defRPr>
            </a:lvl9pPr>
          </a:lstStyle>
          <a:p xmlns:a="http://schemas.openxmlformats.org/drawingml/2006/main">
            <a:pPr>
              <a:buNone/>
              <a:defRPr sz="2775" b="1">
                <a:solidFill>
                  <a:srgbClr val="123B32"/>
                </a:solidFill>
              </a:defRPr>
            </a:pPr>
            <a:r>
              <a:rPr sz="2775" b="1">
                <a:solidFill>
                  <a:srgbClr val="123B32"/>
                </a:solidFill>
              </a:rPr>
              <a:t>“Iberian lynx in its natural habitat”</a:t>
            </a:r>
          </a:p>
        </p:txBody>
      </p:sp>
      <p:sp>
        <p:nvSpPr>
          <p:cNvPr id="4" name="">
            <a:extLst xmlns:a="http://schemas.openxmlformats.org/drawingml/2006/main">
              <a:ext uri="{FF2B5EF4-FFF2-40B4-BE49-F238E27FC236}">
                <a16:creationId xmlns:a16="http://schemas.microsoft.com/office/drawing/2014/main" id="{E5A49D21-6D6B-40CE-BC5C-7A2E6BC8F5C8}"/>
              </a:ext>
            </a:extLst>
          </p:cNvPr>
          <p:cNvSpPr>
            <a:spLocks xmlns:a="http://schemas.openxmlformats.org/drawingml/2006/main" noGrp="1"/>
          </p:cNvSpPr>
          <p:nvPr/>
        </p:nvSpPr>
        <p:spPr>
          <a:xfrm xmlns:a="http://schemas.openxmlformats.org/drawingml/2006/main">
            <a:off x="609600" y="238125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B85D35"/>
                </a:solidFill>
              </a:defRPr>
            </a:defPPr>
            <a:lvl1pPr>
              <a:buNone/>
              <a:defRPr sz="1875" b="1">
                <a:solidFill>
                  <a:srgbClr val="B85D35"/>
                </a:solidFill>
              </a:defRPr>
            </a:lvl1pPr>
            <a:lvl2pPr>
              <a:buNone/>
              <a:defRPr sz="1875" b="1">
                <a:solidFill>
                  <a:srgbClr val="B85D35"/>
                </a:solidFill>
              </a:defRPr>
            </a:lvl2pPr>
            <a:lvl3pPr>
              <a:buNone/>
              <a:defRPr sz="1875" b="1">
                <a:solidFill>
                  <a:srgbClr val="B85D35"/>
                </a:solidFill>
              </a:defRPr>
            </a:lvl3pPr>
            <a:lvl4pPr>
              <a:buNone/>
              <a:defRPr sz="1875" b="1">
                <a:solidFill>
                  <a:srgbClr val="B85D35"/>
                </a:solidFill>
              </a:defRPr>
            </a:lvl4pPr>
            <a:lvl5pPr>
              <a:buNone/>
              <a:defRPr sz="1875" b="1">
                <a:solidFill>
                  <a:srgbClr val="B85D35"/>
                </a:solidFill>
              </a:defRPr>
            </a:lvl5pPr>
            <a:lvl6pPr>
              <a:buNone/>
              <a:defRPr sz="1875" b="1">
                <a:solidFill>
                  <a:srgbClr val="B85D35"/>
                </a:solidFill>
              </a:defRPr>
            </a:lvl6pPr>
            <a:lvl7pPr>
              <a:buNone/>
              <a:defRPr sz="1875" b="1">
                <a:solidFill>
                  <a:srgbClr val="B85D35"/>
                </a:solidFill>
              </a:defRPr>
            </a:lvl7pPr>
            <a:lvl8pPr>
              <a:buNone/>
              <a:defRPr sz="1875" b="1">
                <a:solidFill>
                  <a:srgbClr val="B85D35"/>
                </a:solidFill>
              </a:defRPr>
            </a:lvl8pPr>
            <a:lvl9pPr>
              <a:buNone/>
              <a:defRPr sz="1875" b="1">
                <a:solidFill>
                  <a:srgbClr val="B85D35"/>
                </a:solidFill>
              </a:defRPr>
            </a:lvl9pPr>
          </a:lstStyle>
          <a:p xmlns:a="http://schemas.openxmlformats.org/drawingml/2006/main">
            <a:pPr>
              <a:buNone/>
              <a:defRPr sz="1875" b="1">
                <a:solidFill>
                  <a:srgbClr val="B85D35"/>
                </a:solidFill>
              </a:defRPr>
            </a:pPr>
            <a:r>
              <a:rPr sz="1875" b="1">
                <a:solidFill>
                  <a:srgbClr val="B85D35"/>
                </a:solidFill>
              </a:rPr>
              <a:t>IMAGE #5 / cosine 0.332</a:t>
            </a:r>
          </a:p>
        </p:txBody>
      </p:sp>
      <p:pic>
        <p:nvPicPr>
          <p:cNvPr id="5" name="">
            <a:extLst xmlns:a="http://schemas.openxmlformats.org/drawingml/2006/main">
              <a:ext uri="{FF2B5EF4-FFF2-40B4-BE49-F238E27FC236}">
                <a16:creationId xmlns:a16="http://schemas.microsoft.com/office/drawing/2014/main" id="{581C003E-F08A-4462-AC71-267362CDC5C5}"/>
              </a:ext>
            </a:extLst>
          </p:cNvPr>
          <p:cNvPicPr>
            <a:picLocks xmlns:a="http://schemas.openxmlformats.org/drawingml/2006/main" noChangeAspect="1"/>
          </p:cNvPicPr>
          <p:nvPr/>
        </p:nvPicPr>
        <p:blipFill>
          <a:blip xmlns:r="http://schemas.openxmlformats.org/officeDocument/2006/relationships" xmlns:a="http://schemas.openxmlformats.org/drawingml/2006/main" r:embed="R266bf2a011574fc4"/>
          <a:stretch xmlns:a="http://schemas.openxmlformats.org/drawingml/2006/main"/>
        </p:blipFill>
        <p:spPr>
          <a:xfrm xmlns:a="http://schemas.openxmlformats.org/drawingml/2006/main">
            <a:off x="1264444" y="3000375"/>
            <a:ext cx="3786188" cy="25241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ED72DD9-90F2-4CA4-AA83-38F10FBD7F09}"/>
              </a:ext>
            </a:extLst>
          </p:cNvPr>
          <p:cNvSpPr>
            <a:spLocks xmlns:a="http://schemas.openxmlformats.org/drawingml/2006/main" noGrp="1"/>
          </p:cNvSpPr>
          <p:nvPr/>
        </p:nvSpPr>
        <p:spPr>
          <a:xfrm xmlns:a="http://schemas.openxmlformats.org/drawingml/2006/main">
            <a:off x="6477000" y="2381250"/>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B85D35"/>
                </a:solidFill>
              </a:defRPr>
            </a:defPPr>
            <a:lvl1pPr>
              <a:buNone/>
              <a:defRPr sz="1875" b="1">
                <a:solidFill>
                  <a:srgbClr val="B85D35"/>
                </a:solidFill>
              </a:defRPr>
            </a:lvl1pPr>
            <a:lvl2pPr>
              <a:buNone/>
              <a:defRPr sz="1875" b="1">
                <a:solidFill>
                  <a:srgbClr val="B85D35"/>
                </a:solidFill>
              </a:defRPr>
            </a:lvl2pPr>
            <a:lvl3pPr>
              <a:buNone/>
              <a:defRPr sz="1875" b="1">
                <a:solidFill>
                  <a:srgbClr val="B85D35"/>
                </a:solidFill>
              </a:defRPr>
            </a:lvl3pPr>
            <a:lvl4pPr>
              <a:buNone/>
              <a:defRPr sz="1875" b="1">
                <a:solidFill>
                  <a:srgbClr val="B85D35"/>
                </a:solidFill>
              </a:defRPr>
            </a:lvl4pPr>
            <a:lvl5pPr>
              <a:buNone/>
              <a:defRPr sz="1875" b="1">
                <a:solidFill>
                  <a:srgbClr val="B85D35"/>
                </a:solidFill>
              </a:defRPr>
            </a:lvl5pPr>
            <a:lvl6pPr>
              <a:buNone/>
              <a:defRPr sz="1875" b="1">
                <a:solidFill>
                  <a:srgbClr val="B85D35"/>
                </a:solidFill>
              </a:defRPr>
            </a:lvl6pPr>
            <a:lvl7pPr>
              <a:buNone/>
              <a:defRPr sz="1875" b="1">
                <a:solidFill>
                  <a:srgbClr val="B85D35"/>
                </a:solidFill>
              </a:defRPr>
            </a:lvl7pPr>
            <a:lvl8pPr>
              <a:buNone/>
              <a:defRPr sz="1875" b="1">
                <a:solidFill>
                  <a:srgbClr val="B85D35"/>
                </a:solidFill>
              </a:defRPr>
            </a:lvl8pPr>
            <a:lvl9pPr>
              <a:buNone/>
              <a:defRPr sz="1875" b="1">
                <a:solidFill>
                  <a:srgbClr val="B85D35"/>
                </a:solidFill>
              </a:defRPr>
            </a:lvl9pPr>
          </a:lstStyle>
          <a:p xmlns:a="http://schemas.openxmlformats.org/drawingml/2006/main">
            <a:pPr>
              <a:buNone/>
              <a:defRPr sz="1875" b="1">
                <a:solidFill>
                  <a:srgbClr val="B85D35"/>
                </a:solidFill>
              </a:defRPr>
            </a:pPr>
            <a:r>
              <a:rPr sz="1875" b="1">
                <a:solidFill>
                  <a:srgbClr val="B85D35"/>
                </a:solidFill>
              </a:rPr>
              <a:t>TEXT #4 / cosine 0.778</a:t>
            </a:r>
          </a:p>
        </p:txBody>
      </p:sp>
      <p:sp>
        <p:nvSpPr>
          <p:cNvPr id="7" name="">
            <a:extLst xmlns:a="http://schemas.openxmlformats.org/drawingml/2006/main">
              <a:ext uri="{FF2B5EF4-FFF2-40B4-BE49-F238E27FC236}">
                <a16:creationId xmlns:a16="http://schemas.microsoft.com/office/drawing/2014/main" id="{975B993A-EBE0-4425-B230-5D08412E0845}"/>
              </a:ext>
            </a:extLst>
          </p:cNvPr>
          <p:cNvSpPr>
            <a:spLocks xmlns:a="http://schemas.openxmlformats.org/drawingml/2006/main" noGrp="1"/>
          </p:cNvSpPr>
          <p:nvPr/>
        </p:nvSpPr>
        <p:spPr>
          <a:xfrm xmlns:a="http://schemas.openxmlformats.org/drawingml/2006/main">
            <a:off x="6477000" y="3171825"/>
            <a:ext cx="5048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23B32"/>
                </a:solidFill>
              </a:defRPr>
            </a:defPPr>
            <a:lvl1pPr>
              <a:buNone/>
              <a:defRPr sz="2775" b="1">
                <a:solidFill>
                  <a:srgbClr val="123B32"/>
                </a:solidFill>
              </a:defRPr>
            </a:lvl1pPr>
            <a:lvl2pPr>
              <a:buNone/>
              <a:defRPr sz="2775" b="1">
                <a:solidFill>
                  <a:srgbClr val="123B32"/>
                </a:solidFill>
              </a:defRPr>
            </a:lvl2pPr>
            <a:lvl3pPr>
              <a:buNone/>
              <a:defRPr sz="2775" b="1">
                <a:solidFill>
                  <a:srgbClr val="123B32"/>
                </a:solidFill>
              </a:defRPr>
            </a:lvl3pPr>
            <a:lvl4pPr>
              <a:buNone/>
              <a:defRPr sz="2775" b="1">
                <a:solidFill>
                  <a:srgbClr val="123B32"/>
                </a:solidFill>
              </a:defRPr>
            </a:lvl4pPr>
            <a:lvl5pPr>
              <a:buNone/>
              <a:defRPr sz="2775" b="1">
                <a:solidFill>
                  <a:srgbClr val="123B32"/>
                </a:solidFill>
              </a:defRPr>
            </a:lvl5pPr>
            <a:lvl6pPr>
              <a:buNone/>
              <a:defRPr sz="2775" b="1">
                <a:solidFill>
                  <a:srgbClr val="123B32"/>
                </a:solidFill>
              </a:defRPr>
            </a:lvl6pPr>
            <a:lvl7pPr>
              <a:buNone/>
              <a:defRPr sz="2775" b="1">
                <a:solidFill>
                  <a:srgbClr val="123B32"/>
                </a:solidFill>
              </a:defRPr>
            </a:lvl7pPr>
            <a:lvl8pPr>
              <a:buNone/>
              <a:defRPr sz="2775" b="1">
                <a:solidFill>
                  <a:srgbClr val="123B32"/>
                </a:solidFill>
              </a:defRPr>
            </a:lvl8pPr>
            <a:lvl9pPr>
              <a:buNone/>
              <a:defRPr sz="2775" b="1">
                <a:solidFill>
                  <a:srgbClr val="123B32"/>
                </a:solidFill>
              </a:defRPr>
            </a:lvl9pPr>
          </a:lstStyle>
          <a:p xmlns:a="http://schemas.openxmlformats.org/drawingml/2006/main">
            <a:pPr>
              <a:buNone/>
              <a:defRPr sz="2775" b="1">
                <a:solidFill>
                  <a:srgbClr val="123B32"/>
                </a:solidFill>
              </a:defRPr>
            </a:pPr>
            <a:r>
              <a:rPr sz="2775" b="1">
                <a:solidFill>
                  <a:srgbClr val="123B32"/>
                </a:solidFill>
              </a:rPr>
              <a:t>“About half the size</a:t>
            </a:r>
          </a:p>
          <a:p xmlns:a="http://schemas.openxmlformats.org/drawingml/2006/main">
            <a:pPr>
              <a:buNone/>
              <a:defRPr sz="2775" b="1">
                <a:solidFill>
                  <a:srgbClr val="123B32"/>
                </a:solidFill>
              </a:defRPr>
            </a:pPr>
            <a:r>
              <a:rPr sz="2775" b="1">
                <a:solidFill>
                  <a:srgbClr val="123B32"/>
                </a:solidFill>
              </a:rPr>
              <a:t>of Eurasian Lynx”</a:t>
            </a:r>
          </a:p>
        </p:txBody>
      </p:sp>
      <p:sp>
        <p:nvSpPr>
          <p:cNvPr id="8" name="">
            <a:extLst xmlns:a="http://schemas.openxmlformats.org/drawingml/2006/main">
              <a:ext uri="{FF2B5EF4-FFF2-40B4-BE49-F238E27FC236}">
                <a16:creationId xmlns:a16="http://schemas.microsoft.com/office/drawing/2014/main" id="{AAF04E0C-FC76-4B6C-A453-E8B3415A8FE4}"/>
              </a:ext>
            </a:extLst>
          </p:cNvPr>
          <p:cNvSpPr>
            <a:spLocks xmlns:a="http://schemas.openxmlformats.org/drawingml/2006/main" noGrp="1"/>
          </p:cNvSpPr>
          <p:nvPr/>
        </p:nvSpPr>
        <p:spPr>
          <a:xfrm xmlns:a="http://schemas.openxmlformats.org/drawingml/2006/main">
            <a:off x="6477000" y="476250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2675C"/>
                </a:solidFill>
              </a:defRPr>
            </a:defPPr>
            <a:lvl1pPr>
              <a:buNone/>
              <a:defRPr sz="2025" b="0">
                <a:solidFill>
                  <a:srgbClr val="52675C"/>
                </a:solidFill>
              </a:defRPr>
            </a:lvl1pPr>
            <a:lvl2pPr>
              <a:buNone/>
              <a:defRPr sz="2025" b="0">
                <a:solidFill>
                  <a:srgbClr val="52675C"/>
                </a:solidFill>
              </a:defRPr>
            </a:lvl2pPr>
            <a:lvl3pPr>
              <a:buNone/>
              <a:defRPr sz="2025" b="0">
                <a:solidFill>
                  <a:srgbClr val="52675C"/>
                </a:solidFill>
              </a:defRPr>
            </a:lvl3pPr>
            <a:lvl4pPr>
              <a:buNone/>
              <a:defRPr sz="2025" b="0">
                <a:solidFill>
                  <a:srgbClr val="52675C"/>
                </a:solidFill>
              </a:defRPr>
            </a:lvl4pPr>
            <a:lvl5pPr>
              <a:buNone/>
              <a:defRPr sz="2025" b="0">
                <a:solidFill>
                  <a:srgbClr val="52675C"/>
                </a:solidFill>
              </a:defRPr>
            </a:lvl5pPr>
            <a:lvl6pPr>
              <a:buNone/>
              <a:defRPr sz="2025" b="0">
                <a:solidFill>
                  <a:srgbClr val="52675C"/>
                </a:solidFill>
              </a:defRPr>
            </a:lvl6pPr>
            <a:lvl7pPr>
              <a:buNone/>
              <a:defRPr sz="2025" b="0">
                <a:solidFill>
                  <a:srgbClr val="52675C"/>
                </a:solidFill>
              </a:defRPr>
            </a:lvl7pPr>
            <a:lvl8pPr>
              <a:buNone/>
              <a:defRPr sz="2025" b="0">
                <a:solidFill>
                  <a:srgbClr val="52675C"/>
                </a:solidFill>
              </a:defRPr>
            </a:lvl8pPr>
            <a:lvl9pPr>
              <a:buNone/>
              <a:defRPr sz="2025" b="0">
                <a:solidFill>
                  <a:srgbClr val="52675C"/>
                </a:solidFill>
              </a:defRPr>
            </a:lvl9pPr>
          </a:lstStyle>
          <a:p xmlns:a="http://schemas.openxmlformats.org/drawingml/2006/main">
            <a:pPr>
              <a:buNone/>
              <a:defRPr sz="2025" b="0">
                <a:solidFill>
                  <a:srgbClr val="52675C"/>
                </a:solidFill>
              </a:defRPr>
            </a:pPr>
            <a:r>
              <a:rPr sz="2025" b="0">
                <a:solidFill>
                  <a:srgbClr val="52675C"/>
                </a:solidFill>
              </a:rPr>
              <a:t>Catalogue label: Lynx pardinus</a:t>
            </a:r>
          </a:p>
        </p:txBody>
      </p:sp>
      <p:sp>
        <p:nvSpPr>
          <p:cNvPr id="9" name="">
            <a:extLst xmlns:a="http://schemas.openxmlformats.org/drawingml/2006/main">
              <a:ext uri="{FF2B5EF4-FFF2-40B4-BE49-F238E27FC236}">
                <a16:creationId xmlns:a16="http://schemas.microsoft.com/office/drawing/2014/main" id="{AF134EFC-BA41-4EBC-973C-A2118A45DFDE}"/>
              </a:ext>
            </a:extLst>
          </p:cNvPr>
          <p:cNvSpPr>
            <a:spLocks xmlns:a="http://schemas.openxmlformats.org/drawingml/2006/main" noGrp="1"/>
          </p:cNvSpPr>
          <p:nvPr/>
        </p:nvSpPr>
        <p:spPr>
          <a:xfrm xmlns:a="http://schemas.openxmlformats.org/drawingml/2006/main">
            <a:off x="609600" y="5581650"/>
            <a:ext cx="10906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8 results / 4 images + 4 texts / explicit diversity policy</a:t>
            </a:r>
          </a:p>
        </p:txBody>
      </p:sp>
      <p:sp>
        <p:nvSpPr>
          <p:cNvPr id="10" name="">
            <a:extLst xmlns:a="http://schemas.openxmlformats.org/drawingml/2006/main">
              <a:ext uri="{FF2B5EF4-FFF2-40B4-BE49-F238E27FC236}">
                <a16:creationId xmlns:a16="http://schemas.microsoft.com/office/drawing/2014/main" id="{C43A937C-5E39-4943-9642-391638FA2568}"/>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Interface: top-k 1-50 / default 8 / distinct assets with explicit diversity</a:t>
            </a:r>
          </a:p>
        </p:txBody>
      </p:sp>
    </p:spTree>
    <p:extLst>
      <p:ext uri="{BB962C8B-B14F-4D97-AF65-F5344CB8AC3E}">
        <p14:creationId xmlns:p14="http://schemas.microsoft.com/office/powerpoint/2010/main" val="565379346"/>
      </p:ext>
    </p:extLst>
  </p:cSld>
</p:sld>
</file>

<file path=ppt/slides/slide20.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775D4508-3BFD-4B4F-ABBE-ACF40D9A9EBE}"/>
              </a:ext>
            </a:extLst>
          </p:cNvPr>
          <p:cNvCxnSpPr>
            <a:stCxn xmlns:a="http://schemas.openxmlformats.org/drawingml/2006/main" id="17" idx="1"/>
            <a:endCxn xmlns:a="http://schemas.openxmlformats.org/drawingml/2006/main" id="20" idx="3"/>
          </p:cNvCxnSpPr>
          <p:nvPr/>
        </p:nvCxnSpPr>
        <p:spPr>
          <a:xfrm xmlns:a="http://schemas.openxmlformats.org/drawingml/2006/main" flipH="1">
            <a:off x="5848350" y="5181600"/>
            <a:ext cx="571500" cy="0"/>
          </a:xfrm>
          <a:prstGeom xmlns:a="http://schemas.openxmlformats.org/drawingml/2006/main" prst="straightConnector1">
            <a:avLst/>
          </a:prstGeom>
          <a:ln xmlns:a="http://schemas.openxmlformats.org/drawingml/2006/main" w="25718">
            <a:solidFill>
              <a:srgbClr val="A2B5A4"/>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15AA589-C413-4EDD-B5F2-BC8CB0FDBCF1}"/>
              </a:ext>
            </a:extLst>
          </p:cNvPr>
          <p:cNvCxnSpPr>
            <a:stCxn xmlns:a="http://schemas.openxmlformats.org/drawingml/2006/main" id="14" idx="2"/>
            <a:endCxn xmlns:a="http://schemas.openxmlformats.org/drawingml/2006/main" id="17" idx="0"/>
          </p:cNvCxnSpPr>
          <p:nvPr/>
        </p:nvCxnSpPr>
        <p:spPr>
          <a:xfrm xmlns:a="http://schemas.openxmlformats.org/drawingml/2006/main" flipH="1">
            <a:off x="9020175" y="3714750"/>
            <a:ext cx="1743075" cy="1104900"/>
          </a:xfrm>
          <a:prstGeom xmlns:a="http://schemas.openxmlformats.org/drawingml/2006/main" prst="bentConnector4">
            <a:avLst>
              <a:gd name="adj1" fmla="val 0"/>
              <a:gd name="adj2" fmla="val 50000"/>
            </a:avLst>
          </a:prstGeom>
          <a:ln xmlns:a="http://schemas.openxmlformats.org/drawingml/2006/main" w="25718">
            <a:solidFill>
              <a:srgbClr val="A2B5A4"/>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C8376708-DC77-4369-8EDE-75222FA2FA3D}"/>
              </a:ext>
            </a:extLst>
          </p:cNvPr>
          <p:cNvCxnSpPr>
            <a:stCxn xmlns:a="http://schemas.openxmlformats.org/drawingml/2006/main" id="11" idx="3"/>
            <a:endCxn xmlns:a="http://schemas.openxmlformats.org/drawingml/2006/main" id="14" idx="1"/>
          </p:cNvCxnSpPr>
          <p:nvPr/>
        </p:nvCxnSpPr>
        <p:spPr>
          <a:xfrm xmlns:a="http://schemas.openxmlformats.org/drawingml/2006/main">
            <a:off x="9305925" y="3181350"/>
            <a:ext cx="6000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90EB872-B53F-453F-B3B0-F79C25D067A0}"/>
              </a:ext>
            </a:extLst>
          </p:cNvPr>
          <p:cNvCxnSpPr>
            <a:stCxn xmlns:a="http://schemas.openxmlformats.org/drawingml/2006/main" id="7" idx="3"/>
            <a:endCxn xmlns:a="http://schemas.openxmlformats.org/drawingml/2006/main" id="11" idx="1"/>
          </p:cNvCxnSpPr>
          <p:nvPr/>
        </p:nvCxnSpPr>
        <p:spPr>
          <a:xfrm xmlns:a="http://schemas.openxmlformats.org/drawingml/2006/main">
            <a:off x="6381750" y="3181350"/>
            <a:ext cx="638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9722616C-9A47-4BF8-9892-B1B681E4AAE2}"/>
              </a:ext>
            </a:extLst>
          </p:cNvPr>
          <p:cNvCxnSpPr>
            <a:stCxn xmlns:a="http://schemas.openxmlformats.org/drawingml/2006/main" id="5" idx="3"/>
            <a:endCxn xmlns:a="http://schemas.openxmlformats.org/drawingml/2006/main" id="7" idx="1"/>
          </p:cNvCxnSpPr>
          <p:nvPr/>
        </p:nvCxnSpPr>
        <p:spPr>
          <a:xfrm xmlns:a="http://schemas.openxmlformats.org/drawingml/2006/main" flipV="1">
            <a:off x="3181350" y="3181350"/>
            <a:ext cx="914400" cy="781050"/>
          </a:xfrm>
          <a:prstGeom xmlns:a="http://schemas.openxmlformats.org/drawingml/2006/main" prst="bentConnector3">
            <a:avLst>
              <a:gd name="adj1" fmla="val 50000"/>
            </a:avLst>
          </a:prstGeom>
          <a:ln xmlns:a="http://schemas.openxmlformats.org/drawingml/2006/main" w="25718">
            <a:solidFill>
              <a:srgbClr val="A2B5A4"/>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6EFC4D8A-992F-4983-A865-23BC6FBC5D2E}"/>
              </a:ext>
            </a:extLst>
          </p:cNvPr>
          <p:cNvCxnSpPr>
            <a:stCxn xmlns:a="http://schemas.openxmlformats.org/drawingml/2006/main" id="3" idx="3"/>
            <a:endCxn xmlns:a="http://schemas.openxmlformats.org/drawingml/2006/main" id="7" idx="1"/>
          </p:cNvCxnSpPr>
          <p:nvPr/>
        </p:nvCxnSpPr>
        <p:spPr>
          <a:xfrm xmlns:a="http://schemas.openxmlformats.org/drawingml/2006/main">
            <a:off x="3181350" y="2328863"/>
            <a:ext cx="914400" cy="852488"/>
          </a:xfrm>
          <a:prstGeom xmlns:a="http://schemas.openxmlformats.org/drawingml/2006/main" prst="bentConnector3">
            <a:avLst>
              <a:gd name="adj1" fmla="val 50000"/>
            </a:avLst>
          </a:prstGeom>
          <a:ln xmlns:a="http://schemas.openxmlformats.org/drawingml/2006/main" w="25718">
            <a:solidFill>
              <a:srgbClr val="A2B5A4"/>
            </a:solidFill>
            <a:prstDash val="solid"/>
            <a:tailEnd type="arrow" w="med" len="med"/>
          </a:ln>
        </p:spPr>
      </p:cxnSp>
      <p:sp>
        <p:nvSpPr>
          <p:cNvPr id="25" name="">
            <a:extLst xmlns:a="http://schemas.openxmlformats.org/drawingml/2006/main">
              <a:ext uri="{FF2B5EF4-FFF2-40B4-BE49-F238E27FC236}">
                <a16:creationId xmlns:a16="http://schemas.microsoft.com/office/drawing/2014/main" id="{C2351A2F-6A0E-40A7-9DE8-BAB7BA358C51}"/>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5F1E7"/>
                </a:solidFill>
              </a:defRPr>
            </a:defPPr>
            <a:lvl1pPr>
              <a:buNone/>
              <a:defRPr sz="3375" b="1">
                <a:solidFill>
                  <a:srgbClr val="F5F1E7"/>
                </a:solidFill>
              </a:defRPr>
            </a:lvl1pPr>
            <a:lvl2pPr>
              <a:buNone/>
              <a:defRPr sz="3375" b="1">
                <a:solidFill>
                  <a:srgbClr val="F5F1E7"/>
                </a:solidFill>
              </a:defRPr>
            </a:lvl2pPr>
            <a:lvl3pPr>
              <a:buNone/>
              <a:defRPr sz="3375" b="1">
                <a:solidFill>
                  <a:srgbClr val="F5F1E7"/>
                </a:solidFill>
              </a:defRPr>
            </a:lvl3pPr>
            <a:lvl4pPr>
              <a:buNone/>
              <a:defRPr sz="3375" b="1">
                <a:solidFill>
                  <a:srgbClr val="F5F1E7"/>
                </a:solidFill>
              </a:defRPr>
            </a:lvl4pPr>
            <a:lvl5pPr>
              <a:buNone/>
              <a:defRPr sz="3375" b="1">
                <a:solidFill>
                  <a:srgbClr val="F5F1E7"/>
                </a:solidFill>
              </a:defRPr>
            </a:lvl5pPr>
            <a:lvl6pPr>
              <a:buNone/>
              <a:defRPr sz="3375" b="1">
                <a:solidFill>
                  <a:srgbClr val="F5F1E7"/>
                </a:solidFill>
              </a:defRPr>
            </a:lvl6pPr>
            <a:lvl7pPr>
              <a:buNone/>
              <a:defRPr sz="3375" b="1">
                <a:solidFill>
                  <a:srgbClr val="F5F1E7"/>
                </a:solidFill>
              </a:defRPr>
            </a:lvl7pPr>
            <a:lvl8pPr>
              <a:buNone/>
              <a:defRPr sz="3375" b="1">
                <a:solidFill>
                  <a:srgbClr val="F5F1E7"/>
                </a:solidFill>
              </a:defRPr>
            </a:lvl8pPr>
            <a:lvl9pPr>
              <a:buNone/>
              <a:defRPr sz="3375" b="1">
                <a:solidFill>
                  <a:srgbClr val="F5F1E7"/>
                </a:solidFill>
              </a:defRPr>
            </a:lvl9pPr>
          </a:lstStyle>
          <a:p xmlns:a="http://schemas.openxmlformats.org/drawingml/2006/main">
            <a:pPr>
              <a:buNone/>
              <a:defRPr sz="3375" b="1">
                <a:solidFill>
                  <a:srgbClr val="F5F1E7"/>
                </a:solidFill>
              </a:defRPr>
            </a:pPr>
            <a:r>
              <a:rPr sz="3375" b="1">
                <a:solidFill>
                  <a:srgbClr val="F5F1E7"/>
                </a:solidFill>
              </a:rPr>
              <a:t>Task 3: answer from retrieved evidence</a:t>
            </a:r>
          </a:p>
        </p:txBody>
      </p:sp>
      <p:sp>
        <p:nvSpPr>
          <p:cNvPr id="2" name="">
            <a:extLst xmlns:a="http://schemas.openxmlformats.org/drawingml/2006/main">
              <a:ext uri="{FF2B5EF4-FFF2-40B4-BE49-F238E27FC236}">
                <a16:creationId xmlns:a16="http://schemas.microsoft.com/office/drawing/2014/main" id="{00D5C3C7-0C67-489E-99EB-1043938CC5EB}"/>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buNone/>
              <a:defRPr sz="1425" b="0">
                <a:solidFill>
                  <a:srgbClr val="DCE5D2"/>
                </a:solidFill>
              </a:defRPr>
            </a:lvl1pPr>
            <a:lvl2pPr>
              <a:buNone/>
              <a:defRPr sz="1425" b="0">
                <a:solidFill>
                  <a:srgbClr val="DCE5D2"/>
                </a:solidFill>
              </a:defRPr>
            </a:lvl2pPr>
            <a:lvl3pPr>
              <a:buNone/>
              <a:defRPr sz="1425" b="0">
                <a:solidFill>
                  <a:srgbClr val="DCE5D2"/>
                </a:solidFill>
              </a:defRPr>
            </a:lvl3pPr>
            <a:lvl4pPr>
              <a:buNone/>
              <a:defRPr sz="1425" b="0">
                <a:solidFill>
                  <a:srgbClr val="DCE5D2"/>
                </a:solidFill>
              </a:defRPr>
            </a:lvl4pPr>
            <a:lvl5pPr>
              <a:buNone/>
              <a:defRPr sz="1425" b="0">
                <a:solidFill>
                  <a:srgbClr val="DCE5D2"/>
                </a:solidFill>
              </a:defRPr>
            </a:lvl5pPr>
            <a:lvl6pPr>
              <a:buNone/>
              <a:defRPr sz="1425" b="0">
                <a:solidFill>
                  <a:srgbClr val="DCE5D2"/>
                </a:solidFill>
              </a:defRPr>
            </a:lvl6pPr>
            <a:lvl7pPr>
              <a:buNone/>
              <a:defRPr sz="1425" b="0">
                <a:solidFill>
                  <a:srgbClr val="DCE5D2"/>
                </a:solidFill>
              </a:defRPr>
            </a:lvl7pPr>
            <a:lvl8pPr>
              <a:buNone/>
              <a:defRPr sz="1425" b="0">
                <a:solidFill>
                  <a:srgbClr val="DCE5D2"/>
                </a:solidFill>
              </a:defRPr>
            </a:lvl8pPr>
            <a:lvl9pPr>
              <a:buNone/>
              <a:defRPr sz="1425" b="0">
                <a:solidFill>
                  <a:srgbClr val="DCE5D2"/>
                </a:solidFill>
              </a:defRPr>
            </a:lvl9pPr>
          </a:lstStyle>
          <a:p xmlns:a="http://schemas.openxmlformats.org/drawingml/2006/main">
            <a:pPr>
              <a:buNone/>
              <a:defRPr sz="1425" b="0">
                <a:solidFill>
                  <a:srgbClr val="DCE5D2"/>
                </a:solidFill>
              </a:defRPr>
            </a:pPr>
            <a:r>
              <a:rPr sz="1425" b="0">
                <a:solidFill>
                  <a:srgbClr val="DCE5D2"/>
                </a:solidFill>
              </a:rPr>
              <a:t>20</a:t>
            </a:r>
          </a:p>
        </p:txBody>
      </p:sp>
      <p:sp>
        <p:nvSpPr>
          <p:cNvPr id="3" name="">
            <a:extLst xmlns:a="http://schemas.openxmlformats.org/drawingml/2006/main">
              <a:ext uri="{FF2B5EF4-FFF2-40B4-BE49-F238E27FC236}">
                <a16:creationId xmlns:a16="http://schemas.microsoft.com/office/drawing/2014/main" id="{CFD83BE2-04B4-49CB-97AA-018CB738EBFA}"/>
              </a:ext>
            </a:extLst>
          </p:cNvPr>
          <p:cNvSpPr>
            <a:spLocks xmlns:a="http://schemas.openxmlformats.org/drawingml/2006/main" noGrp="1"/>
          </p:cNvSpPr>
          <p:nvPr/>
        </p:nvSpPr>
        <p:spPr>
          <a:xfrm xmlns:a="http://schemas.openxmlformats.org/drawingml/2006/main">
            <a:off x="609600" y="1924050"/>
            <a:ext cx="2571750" cy="80962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4" name="">
            <a:extLst xmlns:a="http://schemas.openxmlformats.org/drawingml/2006/main">
              <a:ext uri="{FF2B5EF4-FFF2-40B4-BE49-F238E27FC236}">
                <a16:creationId xmlns:a16="http://schemas.microsoft.com/office/drawing/2014/main" id="{32735218-7434-4F94-A1BA-721859EE051D}"/>
              </a:ext>
            </a:extLst>
          </p:cNvPr>
          <p:cNvSpPr>
            <a:spLocks xmlns:a="http://schemas.openxmlformats.org/drawingml/2006/main" noGrp="1"/>
          </p:cNvSpPr>
          <p:nvPr/>
        </p:nvSpPr>
        <p:spPr>
          <a:xfrm xmlns:a="http://schemas.openxmlformats.org/drawingml/2006/main">
            <a:off x="771525" y="2076450"/>
            <a:ext cx="2247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Text question</a:t>
            </a:r>
          </a:p>
        </p:txBody>
      </p:sp>
      <p:sp>
        <p:nvSpPr>
          <p:cNvPr id="5" name="">
            <a:extLst xmlns:a="http://schemas.openxmlformats.org/drawingml/2006/main">
              <a:ext uri="{FF2B5EF4-FFF2-40B4-BE49-F238E27FC236}">
                <a16:creationId xmlns:a16="http://schemas.microsoft.com/office/drawing/2014/main" id="{DDC85ED9-3E0A-4600-8E7B-831C046FFCE2}"/>
              </a:ext>
            </a:extLst>
          </p:cNvPr>
          <p:cNvSpPr>
            <a:spLocks xmlns:a="http://schemas.openxmlformats.org/drawingml/2006/main" noGrp="1"/>
          </p:cNvSpPr>
          <p:nvPr/>
        </p:nvSpPr>
        <p:spPr>
          <a:xfrm xmlns:a="http://schemas.openxmlformats.org/drawingml/2006/main">
            <a:off x="609600" y="3409950"/>
            <a:ext cx="2571750" cy="11049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3EA4F08A-AA89-47A5-98D2-46104B837C1D}"/>
              </a:ext>
            </a:extLst>
          </p:cNvPr>
          <p:cNvSpPr>
            <a:spLocks xmlns:a="http://schemas.openxmlformats.org/drawingml/2006/main" noGrp="1"/>
          </p:cNvSpPr>
          <p:nvPr/>
        </p:nvSpPr>
        <p:spPr>
          <a:xfrm xmlns:a="http://schemas.openxmlformats.org/drawingml/2006/main">
            <a:off x="771525" y="3562350"/>
            <a:ext cx="22479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Image prepared</a:t>
            </a:r>
          </a:p>
          <a:p xmlns:a="http://schemas.openxmlformats.org/drawingml/2006/main">
            <a:pPr>
              <a:buNone/>
              <a:defRPr sz="2175" b="1">
                <a:solidFill>
                  <a:srgbClr val="123B32"/>
                </a:solidFill>
              </a:defRPr>
            </a:pPr>
            <a:r>
              <a:rPr sz="2175" b="1">
                <a:solidFill>
                  <a:srgbClr val="123B32"/>
                </a:solidFill>
              </a:rPr>
              <a:t>CLIP + BLIP</a:t>
            </a:r>
          </a:p>
        </p:txBody>
      </p:sp>
      <p:sp>
        <p:nvSpPr>
          <p:cNvPr id="7" name="">
            <a:extLst xmlns:a="http://schemas.openxmlformats.org/drawingml/2006/main">
              <a:ext uri="{FF2B5EF4-FFF2-40B4-BE49-F238E27FC236}">
                <a16:creationId xmlns:a16="http://schemas.microsoft.com/office/drawing/2014/main" id="{227D25FC-2B07-47E1-B106-43A2ADB48C93}"/>
              </a:ext>
            </a:extLst>
          </p:cNvPr>
          <p:cNvSpPr>
            <a:spLocks xmlns:a="http://schemas.openxmlformats.org/drawingml/2006/main" noGrp="1"/>
          </p:cNvSpPr>
          <p:nvPr/>
        </p:nvSpPr>
        <p:spPr>
          <a:xfrm xmlns:a="http://schemas.openxmlformats.org/drawingml/2006/main">
            <a:off x="4095750" y="2647950"/>
            <a:ext cx="2286000" cy="106680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8" name="">
            <a:extLst xmlns:a="http://schemas.openxmlformats.org/drawingml/2006/main">
              <a:ext uri="{FF2B5EF4-FFF2-40B4-BE49-F238E27FC236}">
                <a16:creationId xmlns:a16="http://schemas.microsoft.com/office/drawing/2014/main" id="{10EB638A-C72F-4DAD-A49E-F0A82792BBB0}"/>
              </a:ext>
            </a:extLst>
          </p:cNvPr>
          <p:cNvSpPr>
            <a:spLocks xmlns:a="http://schemas.openxmlformats.org/drawingml/2006/main" noGrp="1"/>
          </p:cNvSpPr>
          <p:nvPr/>
        </p:nvSpPr>
        <p:spPr>
          <a:xfrm xmlns:a="http://schemas.openxmlformats.org/drawingml/2006/main">
            <a:off x="4257675" y="2800350"/>
            <a:ext cx="1962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Retrieve</a:t>
            </a:r>
          </a:p>
          <a:p xmlns:a="http://schemas.openxmlformats.org/drawingml/2006/main">
            <a:pPr>
              <a:buNone/>
              <a:defRPr sz="2325" b="1">
                <a:solidFill>
                  <a:srgbClr val="123B32"/>
                </a:solidFill>
              </a:defRPr>
            </a:pPr>
            <a:r>
              <a:rPr sz="2325" b="1">
                <a:solidFill>
                  <a:srgbClr val="123B32"/>
                </a:solidFill>
              </a:rPr>
              <a:t>E5 / CLIP</a:t>
            </a:r>
          </a:p>
        </p:txBody>
      </p:sp>
      <p:sp>
        <p:nvSpPr>
          <p:cNvPr id="11" name="">
            <a:extLst xmlns:a="http://schemas.openxmlformats.org/drawingml/2006/main">
              <a:ext uri="{FF2B5EF4-FFF2-40B4-BE49-F238E27FC236}">
                <a16:creationId xmlns:a16="http://schemas.microsoft.com/office/drawing/2014/main" id="{5690B69F-0257-449E-9855-E6C818640CD4}"/>
              </a:ext>
            </a:extLst>
          </p:cNvPr>
          <p:cNvSpPr>
            <a:spLocks xmlns:a="http://schemas.openxmlformats.org/drawingml/2006/main" noGrp="1"/>
          </p:cNvSpPr>
          <p:nvPr/>
        </p:nvSpPr>
        <p:spPr>
          <a:xfrm xmlns:a="http://schemas.openxmlformats.org/drawingml/2006/main">
            <a:off x="7019925" y="2647950"/>
            <a:ext cx="2286000" cy="10668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2" name="">
            <a:extLst xmlns:a="http://schemas.openxmlformats.org/drawingml/2006/main">
              <a:ext uri="{FF2B5EF4-FFF2-40B4-BE49-F238E27FC236}">
                <a16:creationId xmlns:a16="http://schemas.microsoft.com/office/drawing/2014/main" id="{5646CB22-A29F-403E-B8FD-F18FA742F186}"/>
              </a:ext>
            </a:extLst>
          </p:cNvPr>
          <p:cNvSpPr>
            <a:spLocks xmlns:a="http://schemas.openxmlformats.org/drawingml/2006/main" noGrp="1"/>
          </p:cNvSpPr>
          <p:nvPr/>
        </p:nvSpPr>
        <p:spPr>
          <a:xfrm xmlns:a="http://schemas.openxmlformats.org/drawingml/2006/main">
            <a:off x="7181850" y="2800350"/>
            <a:ext cx="1962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B32"/>
                </a:solidFill>
              </a:defRPr>
            </a:defPPr>
            <a:lvl1pPr>
              <a:buNone/>
              <a:defRPr sz="2100" b="1">
                <a:solidFill>
                  <a:srgbClr val="123B32"/>
                </a:solidFill>
              </a:defRPr>
            </a:lvl1pPr>
            <a:lvl2pPr>
              <a:buNone/>
              <a:defRPr sz="2100" b="1">
                <a:solidFill>
                  <a:srgbClr val="123B32"/>
                </a:solidFill>
              </a:defRPr>
            </a:lvl2pPr>
            <a:lvl3pPr>
              <a:buNone/>
              <a:defRPr sz="2100" b="1">
                <a:solidFill>
                  <a:srgbClr val="123B32"/>
                </a:solidFill>
              </a:defRPr>
            </a:lvl3pPr>
            <a:lvl4pPr>
              <a:buNone/>
              <a:defRPr sz="2100" b="1">
                <a:solidFill>
                  <a:srgbClr val="123B32"/>
                </a:solidFill>
              </a:defRPr>
            </a:lvl4pPr>
            <a:lvl5pPr>
              <a:buNone/>
              <a:defRPr sz="2100" b="1">
                <a:solidFill>
                  <a:srgbClr val="123B32"/>
                </a:solidFill>
              </a:defRPr>
            </a:lvl5pPr>
            <a:lvl6pPr>
              <a:buNone/>
              <a:defRPr sz="2100" b="1">
                <a:solidFill>
                  <a:srgbClr val="123B32"/>
                </a:solidFill>
              </a:defRPr>
            </a:lvl6pPr>
            <a:lvl7pPr>
              <a:buNone/>
              <a:defRPr sz="2100" b="1">
                <a:solidFill>
                  <a:srgbClr val="123B32"/>
                </a:solidFill>
              </a:defRPr>
            </a:lvl7pPr>
            <a:lvl8pPr>
              <a:buNone/>
              <a:defRPr sz="2100" b="1">
                <a:solidFill>
                  <a:srgbClr val="123B32"/>
                </a:solidFill>
              </a:defRPr>
            </a:lvl8pPr>
            <a:lvl9pPr>
              <a:buNone/>
              <a:defRPr sz="2100" b="1">
                <a:solidFill>
                  <a:srgbClr val="123B32"/>
                </a:solidFill>
              </a:defRPr>
            </a:lvl9pPr>
          </a:lstStyle>
          <a:p xmlns:a="http://schemas.openxmlformats.org/drawingml/2006/main">
            <a:pPr>
              <a:buNone/>
              <a:defRPr sz="2100" b="1">
                <a:solidFill>
                  <a:srgbClr val="123B32"/>
                </a:solidFill>
              </a:defRPr>
            </a:pPr>
            <a:r>
              <a:rPr sz="2100" b="1">
                <a:solidFill>
                  <a:srgbClr val="123B32"/>
                </a:solidFill>
              </a:rPr>
              <a:t>Evidence</a:t>
            </a:r>
          </a:p>
          <a:p xmlns:a="http://schemas.openxmlformats.org/drawingml/2006/main">
            <a:pPr>
              <a:buNone/>
              <a:defRPr sz="2100" b="1">
                <a:solidFill>
                  <a:srgbClr val="123B32"/>
                </a:solidFill>
              </a:defRPr>
            </a:pPr>
            <a:r>
              <a:rPr sz="2100" b="1">
                <a:solidFill>
                  <a:srgbClr val="123B32"/>
                </a:solidFill>
              </a:rPr>
              <a:t>ID + text</a:t>
            </a:r>
          </a:p>
        </p:txBody>
      </p:sp>
      <p:sp>
        <p:nvSpPr>
          <p:cNvPr id="14" name="">
            <a:extLst xmlns:a="http://schemas.openxmlformats.org/drawingml/2006/main">
              <a:ext uri="{FF2B5EF4-FFF2-40B4-BE49-F238E27FC236}">
                <a16:creationId xmlns:a16="http://schemas.microsoft.com/office/drawing/2014/main" id="{1B772A49-BB53-4B98-B6CF-65382E902D93}"/>
              </a:ext>
            </a:extLst>
          </p:cNvPr>
          <p:cNvSpPr>
            <a:spLocks xmlns:a="http://schemas.openxmlformats.org/drawingml/2006/main" noGrp="1"/>
          </p:cNvSpPr>
          <p:nvPr/>
        </p:nvSpPr>
        <p:spPr>
          <a:xfrm xmlns:a="http://schemas.openxmlformats.org/drawingml/2006/main">
            <a:off x="9906000" y="2647950"/>
            <a:ext cx="1714500" cy="106680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5" name="">
            <a:extLst xmlns:a="http://schemas.openxmlformats.org/drawingml/2006/main">
              <a:ext uri="{FF2B5EF4-FFF2-40B4-BE49-F238E27FC236}">
                <a16:creationId xmlns:a16="http://schemas.microsoft.com/office/drawing/2014/main" id="{443F6E92-DFAF-4520-BF76-6C1FCDCFE05A}"/>
              </a:ext>
            </a:extLst>
          </p:cNvPr>
          <p:cNvSpPr>
            <a:spLocks xmlns:a="http://schemas.openxmlformats.org/drawingml/2006/main" noGrp="1"/>
          </p:cNvSpPr>
          <p:nvPr/>
        </p:nvSpPr>
        <p:spPr>
          <a:xfrm xmlns:a="http://schemas.openxmlformats.org/drawingml/2006/main">
            <a:off x="10067925" y="2800350"/>
            <a:ext cx="13906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23B32"/>
                </a:solidFill>
              </a:defRPr>
            </a:defPPr>
            <a:lvl1pPr>
              <a:buNone/>
              <a:defRPr sz="2025" b="1">
                <a:solidFill>
                  <a:srgbClr val="123B32"/>
                </a:solidFill>
              </a:defRPr>
            </a:lvl1pPr>
            <a:lvl2pPr>
              <a:buNone/>
              <a:defRPr sz="2025" b="1">
                <a:solidFill>
                  <a:srgbClr val="123B32"/>
                </a:solidFill>
              </a:defRPr>
            </a:lvl2pPr>
            <a:lvl3pPr>
              <a:buNone/>
              <a:defRPr sz="2025" b="1">
                <a:solidFill>
                  <a:srgbClr val="123B32"/>
                </a:solidFill>
              </a:defRPr>
            </a:lvl3pPr>
            <a:lvl4pPr>
              <a:buNone/>
              <a:defRPr sz="2025" b="1">
                <a:solidFill>
                  <a:srgbClr val="123B32"/>
                </a:solidFill>
              </a:defRPr>
            </a:lvl4pPr>
            <a:lvl5pPr>
              <a:buNone/>
              <a:defRPr sz="2025" b="1">
                <a:solidFill>
                  <a:srgbClr val="123B32"/>
                </a:solidFill>
              </a:defRPr>
            </a:lvl5pPr>
            <a:lvl6pPr>
              <a:buNone/>
              <a:defRPr sz="2025" b="1">
                <a:solidFill>
                  <a:srgbClr val="123B32"/>
                </a:solidFill>
              </a:defRPr>
            </a:lvl6pPr>
            <a:lvl7pPr>
              <a:buNone/>
              <a:defRPr sz="2025" b="1">
                <a:solidFill>
                  <a:srgbClr val="123B32"/>
                </a:solidFill>
              </a:defRPr>
            </a:lvl7pPr>
            <a:lvl8pPr>
              <a:buNone/>
              <a:defRPr sz="2025" b="1">
                <a:solidFill>
                  <a:srgbClr val="123B32"/>
                </a:solidFill>
              </a:defRPr>
            </a:lvl8pPr>
            <a:lvl9pPr>
              <a:buNone/>
              <a:defRPr sz="2025" b="1">
                <a:solidFill>
                  <a:srgbClr val="123B32"/>
                </a:solidFill>
              </a:defRPr>
            </a:lvl9pPr>
          </a:lstStyle>
          <a:p xmlns:a="http://schemas.openxmlformats.org/drawingml/2006/main">
            <a:pPr>
              <a:buNone/>
              <a:defRPr sz="2025" b="1">
                <a:solidFill>
                  <a:srgbClr val="123B32"/>
                </a:solidFill>
              </a:defRPr>
            </a:pPr>
            <a:r>
              <a:rPr sz="2025" b="1">
                <a:solidFill>
                  <a:srgbClr val="123B32"/>
                </a:solidFill>
              </a:rPr>
              <a:t>Generate</a:t>
            </a:r>
          </a:p>
          <a:p xmlns:a="http://schemas.openxmlformats.org/drawingml/2006/main">
            <a:pPr>
              <a:buNone/>
              <a:defRPr sz="2025" b="1">
                <a:solidFill>
                  <a:srgbClr val="123B32"/>
                </a:solidFill>
              </a:defRPr>
            </a:pPr>
            <a:r>
              <a:rPr sz="2025" b="1">
                <a:solidFill>
                  <a:srgbClr val="123B32"/>
                </a:solidFill>
              </a:rPr>
              <a:t>Qwen 3B</a:t>
            </a:r>
          </a:p>
        </p:txBody>
      </p:sp>
      <p:sp>
        <p:nvSpPr>
          <p:cNvPr id="17" name="">
            <a:extLst xmlns:a="http://schemas.openxmlformats.org/drawingml/2006/main">
              <a:ext uri="{FF2B5EF4-FFF2-40B4-BE49-F238E27FC236}">
                <a16:creationId xmlns:a16="http://schemas.microsoft.com/office/drawing/2014/main" id="{1C80AB09-395B-48A9-A2FD-A9F1B3262233}"/>
              </a:ext>
            </a:extLst>
          </p:cNvPr>
          <p:cNvSpPr>
            <a:spLocks xmlns:a="http://schemas.openxmlformats.org/drawingml/2006/main" noGrp="1"/>
          </p:cNvSpPr>
          <p:nvPr/>
        </p:nvSpPr>
        <p:spPr>
          <a:xfrm xmlns:a="http://schemas.openxmlformats.org/drawingml/2006/main">
            <a:off x="6419850" y="4819650"/>
            <a:ext cx="5200650" cy="72390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8" name="">
            <a:extLst xmlns:a="http://schemas.openxmlformats.org/drawingml/2006/main">
              <a:ext uri="{FF2B5EF4-FFF2-40B4-BE49-F238E27FC236}">
                <a16:creationId xmlns:a16="http://schemas.microsoft.com/office/drawing/2014/main" id="{30A8F344-A88D-4CEF-B037-6676E0D09999}"/>
              </a:ext>
            </a:extLst>
          </p:cNvPr>
          <p:cNvSpPr>
            <a:spLocks xmlns:a="http://schemas.openxmlformats.org/drawingml/2006/main" noGrp="1"/>
          </p:cNvSpPr>
          <p:nvPr/>
        </p:nvSpPr>
        <p:spPr>
          <a:xfrm xmlns:a="http://schemas.openxmlformats.org/drawingml/2006/main">
            <a:off x="6581775" y="497205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23B32"/>
                </a:solidFill>
              </a:defRPr>
            </a:defPPr>
            <a:lvl1pPr>
              <a:buNone/>
              <a:defRPr sz="2175" b="1">
                <a:solidFill>
                  <a:srgbClr val="123B32"/>
                </a:solidFill>
              </a:defRPr>
            </a:lvl1pPr>
            <a:lvl2pPr>
              <a:buNone/>
              <a:defRPr sz="2175" b="1">
                <a:solidFill>
                  <a:srgbClr val="123B32"/>
                </a:solidFill>
              </a:defRPr>
            </a:lvl2pPr>
            <a:lvl3pPr>
              <a:buNone/>
              <a:defRPr sz="2175" b="1">
                <a:solidFill>
                  <a:srgbClr val="123B32"/>
                </a:solidFill>
              </a:defRPr>
            </a:lvl3pPr>
            <a:lvl4pPr>
              <a:buNone/>
              <a:defRPr sz="2175" b="1">
                <a:solidFill>
                  <a:srgbClr val="123B32"/>
                </a:solidFill>
              </a:defRPr>
            </a:lvl4pPr>
            <a:lvl5pPr>
              <a:buNone/>
              <a:defRPr sz="2175" b="1">
                <a:solidFill>
                  <a:srgbClr val="123B32"/>
                </a:solidFill>
              </a:defRPr>
            </a:lvl5pPr>
            <a:lvl6pPr>
              <a:buNone/>
              <a:defRPr sz="2175" b="1">
                <a:solidFill>
                  <a:srgbClr val="123B32"/>
                </a:solidFill>
              </a:defRPr>
            </a:lvl6pPr>
            <a:lvl7pPr>
              <a:buNone/>
              <a:defRPr sz="2175" b="1">
                <a:solidFill>
                  <a:srgbClr val="123B32"/>
                </a:solidFill>
              </a:defRPr>
            </a:lvl7pPr>
            <a:lvl8pPr>
              <a:buNone/>
              <a:defRPr sz="2175" b="1">
                <a:solidFill>
                  <a:srgbClr val="123B32"/>
                </a:solidFill>
              </a:defRPr>
            </a:lvl8pPr>
            <a:lvl9pPr>
              <a:buNone/>
              <a:defRPr sz="2175" b="1">
                <a:solidFill>
                  <a:srgbClr val="123B32"/>
                </a:solidFill>
              </a:defRPr>
            </a:lvl9pPr>
          </a:lstStyle>
          <a:p xmlns:a="http://schemas.openxmlformats.org/drawingml/2006/main">
            <a:pPr>
              <a:buNone/>
              <a:defRPr sz="2175" b="1">
                <a:solidFill>
                  <a:srgbClr val="123B32"/>
                </a:solidFill>
              </a:defRPr>
            </a:pPr>
            <a:r>
              <a:rPr sz="2175" b="1">
                <a:solidFill>
                  <a:srgbClr val="123B32"/>
                </a:solidFill>
              </a:rPr>
              <a:t>Check source IDs and quotations</a:t>
            </a:r>
          </a:p>
        </p:txBody>
      </p:sp>
      <p:sp>
        <p:nvSpPr>
          <p:cNvPr id="20" name="">
            <a:extLst xmlns:a="http://schemas.openxmlformats.org/drawingml/2006/main">
              <a:ext uri="{FF2B5EF4-FFF2-40B4-BE49-F238E27FC236}">
                <a16:creationId xmlns:a16="http://schemas.microsoft.com/office/drawing/2014/main" id="{E48522F1-166F-48DC-964B-DC6312B63876}"/>
              </a:ext>
            </a:extLst>
          </p:cNvPr>
          <p:cNvSpPr>
            <a:spLocks xmlns:a="http://schemas.openxmlformats.org/drawingml/2006/main" noGrp="1"/>
          </p:cNvSpPr>
          <p:nvPr/>
        </p:nvSpPr>
        <p:spPr>
          <a:xfrm xmlns:a="http://schemas.openxmlformats.org/drawingml/2006/main">
            <a:off x="609600" y="4819650"/>
            <a:ext cx="5238750" cy="723900"/>
          </a:xfrm>
          <a:prstGeom xmlns:a="http://schemas.openxmlformats.org/drawingml/2006/main" prst="rect">
            <a:avLst/>
          </a:prstGeom>
          <a:solidFill xmlns:a="http://schemas.openxmlformats.org/drawingml/2006/main">
            <a:srgbClr val="123B32"/>
          </a:solidFill>
          <a:ln xmlns:a="http://schemas.openxmlformats.org/drawingml/2006/main" w="12383">
            <a:solidFill>
              <a:srgbClr val="A2B5A4"/>
            </a:solidFill>
          </a:ln>
        </p:spPr>
      </p:sp>
      <p:sp>
        <p:nvSpPr>
          <p:cNvPr id="21" name="">
            <a:extLst xmlns:a="http://schemas.openxmlformats.org/drawingml/2006/main">
              <a:ext uri="{FF2B5EF4-FFF2-40B4-BE49-F238E27FC236}">
                <a16:creationId xmlns:a16="http://schemas.microsoft.com/office/drawing/2014/main" id="{C81A9441-24B6-42C9-9F0F-A9D58311660B}"/>
              </a:ext>
            </a:extLst>
          </p:cNvPr>
          <p:cNvSpPr>
            <a:spLocks xmlns:a="http://schemas.openxmlformats.org/drawingml/2006/main" noGrp="1"/>
          </p:cNvSpPr>
          <p:nvPr/>
        </p:nvSpPr>
        <p:spPr>
          <a:xfrm xmlns:a="http://schemas.openxmlformats.org/drawingml/2006/main">
            <a:off x="771525" y="4972050"/>
            <a:ext cx="4914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F5F1E7"/>
                </a:solidFill>
              </a:defRPr>
            </a:defPPr>
            <a:lvl1pPr>
              <a:buNone/>
              <a:defRPr sz="2025" b="1">
                <a:solidFill>
                  <a:srgbClr val="F5F1E7"/>
                </a:solidFill>
              </a:defRPr>
            </a:lvl1pPr>
            <a:lvl2pPr>
              <a:buNone/>
              <a:defRPr sz="2025" b="1">
                <a:solidFill>
                  <a:srgbClr val="F5F1E7"/>
                </a:solidFill>
              </a:defRPr>
            </a:lvl2pPr>
            <a:lvl3pPr>
              <a:buNone/>
              <a:defRPr sz="2025" b="1">
                <a:solidFill>
                  <a:srgbClr val="F5F1E7"/>
                </a:solidFill>
              </a:defRPr>
            </a:lvl3pPr>
            <a:lvl4pPr>
              <a:buNone/>
              <a:defRPr sz="2025" b="1">
                <a:solidFill>
                  <a:srgbClr val="F5F1E7"/>
                </a:solidFill>
              </a:defRPr>
            </a:lvl4pPr>
            <a:lvl5pPr>
              <a:buNone/>
              <a:defRPr sz="2025" b="1">
                <a:solidFill>
                  <a:srgbClr val="F5F1E7"/>
                </a:solidFill>
              </a:defRPr>
            </a:lvl5pPr>
            <a:lvl6pPr>
              <a:buNone/>
              <a:defRPr sz="2025" b="1">
                <a:solidFill>
                  <a:srgbClr val="F5F1E7"/>
                </a:solidFill>
              </a:defRPr>
            </a:lvl6pPr>
            <a:lvl7pPr>
              <a:buNone/>
              <a:defRPr sz="2025" b="1">
                <a:solidFill>
                  <a:srgbClr val="F5F1E7"/>
                </a:solidFill>
              </a:defRPr>
            </a:lvl7pPr>
            <a:lvl8pPr>
              <a:buNone/>
              <a:defRPr sz="2025" b="1">
                <a:solidFill>
                  <a:srgbClr val="F5F1E7"/>
                </a:solidFill>
              </a:defRPr>
            </a:lvl8pPr>
            <a:lvl9pPr>
              <a:buNone/>
              <a:defRPr sz="2025" b="1">
                <a:solidFill>
                  <a:srgbClr val="F5F1E7"/>
                </a:solidFill>
              </a:defRPr>
            </a:lvl9pPr>
          </a:lstStyle>
          <a:p xmlns:a="http://schemas.openxmlformats.org/drawingml/2006/main">
            <a:pPr>
              <a:buNone/>
              <a:defRPr sz="2025" b="1">
                <a:solidFill>
                  <a:srgbClr val="F5F1E7"/>
                </a:solidFill>
              </a:defRPr>
            </a:pPr>
            <a:r>
              <a:rPr sz="2025" b="1">
                <a:solidFill>
                  <a:srgbClr val="F5F1E7"/>
                </a:solidFill>
              </a:rPr>
              <a:t>Answer / partial / abstention</a:t>
            </a:r>
          </a:p>
        </p:txBody>
      </p:sp>
      <p:sp>
        <p:nvSpPr>
          <p:cNvPr id="23" name="">
            <a:extLst xmlns:a="http://schemas.openxmlformats.org/drawingml/2006/main">
              <a:ext uri="{FF2B5EF4-FFF2-40B4-BE49-F238E27FC236}">
                <a16:creationId xmlns:a16="http://schemas.microsoft.com/office/drawing/2014/main" id="{A13F60E0-BAB0-469E-82F7-0E255CC7AFAE}"/>
              </a:ext>
            </a:extLst>
          </p:cNvPr>
          <p:cNvSpPr>
            <a:spLocks xmlns:a="http://schemas.openxmlformats.org/drawingml/2006/main" noGrp="1"/>
          </p:cNvSpPr>
          <p:nvPr/>
        </p:nvSpPr>
        <p:spPr>
          <a:xfrm xmlns:a="http://schemas.openxmlformats.org/drawingml/2006/main">
            <a:off x="609600" y="5667375"/>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5D2"/>
                </a:solidFill>
              </a:defRPr>
            </a:defPPr>
            <a:lvl1pPr>
              <a:buNone/>
              <a:defRPr sz="1875" b="0">
                <a:solidFill>
                  <a:srgbClr val="DCE5D2"/>
                </a:solidFill>
              </a:defRPr>
            </a:lvl1pPr>
            <a:lvl2pPr>
              <a:buNone/>
              <a:defRPr sz="1875" b="0">
                <a:solidFill>
                  <a:srgbClr val="DCE5D2"/>
                </a:solidFill>
              </a:defRPr>
            </a:lvl2pPr>
            <a:lvl3pPr>
              <a:buNone/>
              <a:defRPr sz="1875" b="0">
                <a:solidFill>
                  <a:srgbClr val="DCE5D2"/>
                </a:solidFill>
              </a:defRPr>
            </a:lvl3pPr>
            <a:lvl4pPr>
              <a:buNone/>
              <a:defRPr sz="1875" b="0">
                <a:solidFill>
                  <a:srgbClr val="DCE5D2"/>
                </a:solidFill>
              </a:defRPr>
            </a:lvl4pPr>
            <a:lvl5pPr>
              <a:buNone/>
              <a:defRPr sz="1875" b="0">
                <a:solidFill>
                  <a:srgbClr val="DCE5D2"/>
                </a:solidFill>
              </a:defRPr>
            </a:lvl5pPr>
            <a:lvl6pPr>
              <a:buNone/>
              <a:defRPr sz="1875" b="0">
                <a:solidFill>
                  <a:srgbClr val="DCE5D2"/>
                </a:solidFill>
              </a:defRPr>
            </a:lvl6pPr>
            <a:lvl7pPr>
              <a:buNone/>
              <a:defRPr sz="1875" b="0">
                <a:solidFill>
                  <a:srgbClr val="DCE5D2"/>
                </a:solidFill>
              </a:defRPr>
            </a:lvl7pPr>
            <a:lvl8pPr>
              <a:buNone/>
              <a:defRPr sz="1875" b="0">
                <a:solidFill>
                  <a:srgbClr val="DCE5D2"/>
                </a:solidFill>
              </a:defRPr>
            </a:lvl8pPr>
            <a:lvl9pPr>
              <a:buNone/>
              <a:defRPr sz="1875" b="0">
                <a:solidFill>
                  <a:srgbClr val="DCE5D2"/>
                </a:solidFill>
              </a:defRPr>
            </a:lvl9pPr>
          </a:lstStyle>
          <a:p xmlns:a="http://schemas.openxmlformats.org/drawingml/2006/main">
            <a:pPr>
              <a:buNone/>
              <a:defRPr sz="1875" b="0">
                <a:solidFill>
                  <a:srgbClr val="DCE5D2"/>
                </a:solidFill>
              </a:defRPr>
            </a:pPr>
            <a:r>
              <a:rPr sz="1875" b="0">
                <a:solidFill>
                  <a:srgbClr val="DCE5D2"/>
                </a:solidFill>
              </a:rPr>
              <a:t>Technical errors stay separate</a:t>
            </a:r>
          </a:p>
        </p:txBody>
      </p:sp>
      <p:sp>
        <p:nvSpPr>
          <p:cNvPr id="24" name="">
            <a:extLst xmlns:a="http://schemas.openxmlformats.org/drawingml/2006/main">
              <a:ext uri="{FF2B5EF4-FFF2-40B4-BE49-F238E27FC236}">
                <a16:creationId xmlns:a16="http://schemas.microsoft.com/office/drawing/2014/main" id="{C0FA185F-6BD8-447C-9C62-0C2C65F78EA5}"/>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CE5D2"/>
                </a:solidFill>
              </a:defRPr>
            </a:defPPr>
            <a:lvl1pPr>
              <a:buNone/>
              <a:defRPr sz="1800" b="0">
                <a:solidFill>
                  <a:srgbClr val="DCE5D2"/>
                </a:solidFill>
              </a:defRPr>
            </a:lvl1pPr>
            <a:lvl2pPr>
              <a:buNone/>
              <a:defRPr sz="1800" b="0">
                <a:solidFill>
                  <a:srgbClr val="DCE5D2"/>
                </a:solidFill>
              </a:defRPr>
            </a:lvl2pPr>
            <a:lvl3pPr>
              <a:buNone/>
              <a:defRPr sz="1800" b="0">
                <a:solidFill>
                  <a:srgbClr val="DCE5D2"/>
                </a:solidFill>
              </a:defRPr>
            </a:lvl3pPr>
            <a:lvl4pPr>
              <a:buNone/>
              <a:defRPr sz="1800" b="0">
                <a:solidFill>
                  <a:srgbClr val="DCE5D2"/>
                </a:solidFill>
              </a:defRPr>
            </a:lvl4pPr>
            <a:lvl5pPr>
              <a:buNone/>
              <a:defRPr sz="1800" b="0">
                <a:solidFill>
                  <a:srgbClr val="DCE5D2"/>
                </a:solidFill>
              </a:defRPr>
            </a:lvl5pPr>
            <a:lvl6pPr>
              <a:buNone/>
              <a:defRPr sz="1800" b="0">
                <a:solidFill>
                  <a:srgbClr val="DCE5D2"/>
                </a:solidFill>
              </a:defRPr>
            </a:lvl6pPr>
            <a:lvl7pPr>
              <a:buNone/>
              <a:defRPr sz="1800" b="0">
                <a:solidFill>
                  <a:srgbClr val="DCE5D2"/>
                </a:solidFill>
              </a:defRPr>
            </a:lvl7pPr>
            <a:lvl8pPr>
              <a:buNone/>
              <a:defRPr sz="1800" b="0">
                <a:solidFill>
                  <a:srgbClr val="DCE5D2"/>
                </a:solidFill>
              </a:defRPr>
            </a:lvl8pPr>
            <a:lvl9pPr>
              <a:buNone/>
              <a:defRPr sz="1800" b="0">
                <a:solidFill>
                  <a:srgbClr val="DCE5D2"/>
                </a:solidFill>
              </a:defRPr>
            </a:lvl9pPr>
          </a:lstStyle>
          <a:p xmlns:a="http://schemas.openxmlformats.org/drawingml/2006/main">
            <a:pPr>
              <a:buNone/>
              <a:defRPr sz="1800" b="0">
                <a:solidFill>
                  <a:srgbClr val="DCE5D2"/>
                </a:solidFill>
              </a:defRPr>
            </a:pPr>
            <a:r>
              <a:rPr sz="1800" b="0">
                <a:solidFill>
                  <a:srgbClr val="DCE5D2"/>
                </a:solidFill>
              </a:rPr>
              <a:t>Shared preparation in memory. Quality warnings stay outside the prompt.</a:t>
            </a:r>
          </a:p>
        </p:txBody>
      </p:sp>
    </p:spTree>
    <p:extLst>
      <p:ext uri="{BB962C8B-B14F-4D97-AF65-F5344CB8AC3E}">
        <p14:creationId xmlns:p14="http://schemas.microsoft.com/office/powerpoint/2010/main" val="490279363"/>
      </p:ext>
    </p:extLst>
  </p:cSld>
</p:sld>
</file>

<file path=ppt/slides/slide21.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EE2348-B601-42BF-990B-6FA96F41176B}"/>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The frog case: evidence and uncertainty</a:t>
            </a:r>
          </a:p>
        </p:txBody>
      </p:sp>
      <p:sp>
        <p:nvSpPr>
          <p:cNvPr id="2" name="">
            <a:extLst xmlns:a="http://schemas.openxmlformats.org/drawingml/2006/main">
              <a:ext uri="{FF2B5EF4-FFF2-40B4-BE49-F238E27FC236}">
                <a16:creationId xmlns:a16="http://schemas.microsoft.com/office/drawing/2014/main" id="{989BBA0D-80CF-4EF3-97A7-90661AE70260}"/>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21</a:t>
            </a:r>
          </a:p>
        </p:txBody>
      </p:sp>
      <p:sp>
        <p:nvSpPr>
          <p:cNvPr id="3" name="">
            <a:extLst xmlns:a="http://schemas.openxmlformats.org/drawingml/2006/main">
              <a:ext uri="{FF2B5EF4-FFF2-40B4-BE49-F238E27FC236}">
                <a16:creationId xmlns:a16="http://schemas.microsoft.com/office/drawing/2014/main" id="{D9358C96-3911-4101-832B-44DAC7ACE17B}"/>
              </a:ext>
            </a:extLst>
          </p:cNvPr>
          <p:cNvSpPr>
            <a:spLocks xmlns:a="http://schemas.openxmlformats.org/drawingml/2006/main" noGrp="1"/>
          </p:cNvSpPr>
          <p:nvPr/>
        </p:nvSpPr>
        <p:spPr>
          <a:xfrm xmlns:a="http://schemas.openxmlformats.org/drawingml/2006/main">
            <a:off x="609600" y="1762125"/>
            <a:ext cx="633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B85D35"/>
                </a:solidFill>
              </a:defRPr>
            </a:defPPr>
            <a:lvl1pPr>
              <a:buNone/>
              <a:defRPr sz="2025" b="1">
                <a:solidFill>
                  <a:srgbClr val="B85D35"/>
                </a:solidFill>
              </a:defRPr>
            </a:lvl1pPr>
            <a:lvl2pPr>
              <a:buNone/>
              <a:defRPr sz="2025" b="1">
                <a:solidFill>
                  <a:srgbClr val="B85D35"/>
                </a:solidFill>
              </a:defRPr>
            </a:lvl2pPr>
            <a:lvl3pPr>
              <a:buNone/>
              <a:defRPr sz="2025" b="1">
                <a:solidFill>
                  <a:srgbClr val="B85D35"/>
                </a:solidFill>
              </a:defRPr>
            </a:lvl3pPr>
            <a:lvl4pPr>
              <a:buNone/>
              <a:defRPr sz="2025" b="1">
                <a:solidFill>
                  <a:srgbClr val="B85D35"/>
                </a:solidFill>
              </a:defRPr>
            </a:lvl4pPr>
            <a:lvl5pPr>
              <a:buNone/>
              <a:defRPr sz="2025" b="1">
                <a:solidFill>
                  <a:srgbClr val="B85D35"/>
                </a:solidFill>
              </a:defRPr>
            </a:lvl5pPr>
            <a:lvl6pPr>
              <a:buNone/>
              <a:defRPr sz="2025" b="1">
                <a:solidFill>
                  <a:srgbClr val="B85D35"/>
                </a:solidFill>
              </a:defRPr>
            </a:lvl6pPr>
            <a:lvl7pPr>
              <a:buNone/>
              <a:defRPr sz="2025" b="1">
                <a:solidFill>
                  <a:srgbClr val="B85D35"/>
                </a:solidFill>
              </a:defRPr>
            </a:lvl7pPr>
            <a:lvl8pPr>
              <a:buNone/>
              <a:defRPr sz="2025" b="1">
                <a:solidFill>
                  <a:srgbClr val="B85D35"/>
                </a:solidFill>
              </a:defRPr>
            </a:lvl8pPr>
            <a:lvl9pPr>
              <a:buNone/>
              <a:defRPr sz="2025" b="1">
                <a:solidFill>
                  <a:srgbClr val="B85D35"/>
                </a:solidFill>
              </a:defRPr>
            </a:lvl9pPr>
          </a:lstStyle>
          <a:p xmlns:a="http://schemas.openxmlformats.org/drawingml/2006/main">
            <a:pPr>
              <a:buNone/>
              <a:defRPr sz="2025" b="1">
                <a:solidFill>
                  <a:srgbClr val="B85D35"/>
                </a:solidFill>
              </a:defRPr>
            </a:pPr>
            <a:r>
              <a:rPr sz="2025" b="1">
                <a:solidFill>
                  <a:srgbClr val="B85D35"/>
                </a:solidFill>
              </a:rPr>
              <a:t>Retrieved candidate</a:t>
            </a:r>
          </a:p>
        </p:txBody>
      </p:sp>
      <p:sp>
        <p:nvSpPr>
          <p:cNvPr id="4" name="">
            <a:extLst xmlns:a="http://schemas.openxmlformats.org/drawingml/2006/main">
              <a:ext uri="{FF2B5EF4-FFF2-40B4-BE49-F238E27FC236}">
                <a16:creationId xmlns:a16="http://schemas.microsoft.com/office/drawing/2014/main" id="{6A92B943-D2A1-4B2E-A2CC-FC9C7DC21BD4}"/>
              </a:ext>
            </a:extLst>
          </p:cNvPr>
          <p:cNvSpPr>
            <a:spLocks xmlns:a="http://schemas.openxmlformats.org/drawingml/2006/main" noGrp="1"/>
          </p:cNvSpPr>
          <p:nvPr/>
        </p:nvSpPr>
        <p:spPr>
          <a:xfrm xmlns:a="http://schemas.openxmlformats.org/drawingml/2006/main">
            <a:off x="609600" y="2238375"/>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23B32"/>
                </a:solidFill>
              </a:defRPr>
            </a:defPPr>
            <a:lvl1pPr>
              <a:buNone/>
              <a:defRPr sz="3225" b="1">
                <a:solidFill>
                  <a:srgbClr val="123B32"/>
                </a:solidFill>
              </a:defRPr>
            </a:lvl1pPr>
            <a:lvl2pPr>
              <a:buNone/>
              <a:defRPr sz="3225" b="1">
                <a:solidFill>
                  <a:srgbClr val="123B32"/>
                </a:solidFill>
              </a:defRPr>
            </a:lvl2pPr>
            <a:lvl3pPr>
              <a:buNone/>
              <a:defRPr sz="3225" b="1">
                <a:solidFill>
                  <a:srgbClr val="123B32"/>
                </a:solidFill>
              </a:defRPr>
            </a:lvl3pPr>
            <a:lvl4pPr>
              <a:buNone/>
              <a:defRPr sz="3225" b="1">
                <a:solidFill>
                  <a:srgbClr val="123B32"/>
                </a:solidFill>
              </a:defRPr>
            </a:lvl4pPr>
            <a:lvl5pPr>
              <a:buNone/>
              <a:defRPr sz="3225" b="1">
                <a:solidFill>
                  <a:srgbClr val="123B32"/>
                </a:solidFill>
              </a:defRPr>
            </a:lvl5pPr>
            <a:lvl6pPr>
              <a:buNone/>
              <a:defRPr sz="3225" b="1">
                <a:solidFill>
                  <a:srgbClr val="123B32"/>
                </a:solidFill>
              </a:defRPr>
            </a:lvl6pPr>
            <a:lvl7pPr>
              <a:buNone/>
              <a:defRPr sz="3225" b="1">
                <a:solidFill>
                  <a:srgbClr val="123B32"/>
                </a:solidFill>
              </a:defRPr>
            </a:lvl7pPr>
            <a:lvl8pPr>
              <a:buNone/>
              <a:defRPr sz="3225" b="1">
                <a:solidFill>
                  <a:srgbClr val="123B32"/>
                </a:solidFill>
              </a:defRPr>
            </a:lvl8pPr>
            <a:lvl9pPr>
              <a:buNone/>
              <a:defRPr sz="3225" b="1">
                <a:solidFill>
                  <a:srgbClr val="123B32"/>
                </a:solidFill>
              </a:defRPr>
            </a:lvl9pPr>
          </a:lstStyle>
          <a:p xmlns:a="http://schemas.openxmlformats.org/drawingml/2006/main">
            <a:pPr>
              <a:buNone/>
              <a:defRPr sz="3225" b="1">
                <a:solidFill>
                  <a:srgbClr val="123B32"/>
                </a:solidFill>
              </a:defRPr>
            </a:pPr>
            <a:r>
              <a:rPr sz="3225" b="1">
                <a:solidFill>
                  <a:srgbClr val="123B32"/>
                </a:solidFill>
              </a:rPr>
              <a:t>Pelophylax perezi</a:t>
            </a:r>
          </a:p>
        </p:txBody>
      </p:sp>
      <p:sp>
        <p:nvSpPr>
          <p:cNvPr id="5" name="">
            <a:extLst xmlns:a="http://schemas.openxmlformats.org/drawingml/2006/main">
              <a:ext uri="{FF2B5EF4-FFF2-40B4-BE49-F238E27FC236}">
                <a16:creationId xmlns:a16="http://schemas.microsoft.com/office/drawing/2014/main" id="{C348E41E-1B0C-41C8-B19E-90415C5D4E08}"/>
              </a:ext>
            </a:extLst>
          </p:cNvPr>
          <p:cNvSpPr>
            <a:spLocks xmlns:a="http://schemas.openxmlformats.org/drawingml/2006/main" noGrp="1"/>
          </p:cNvSpPr>
          <p:nvPr/>
        </p:nvSpPr>
        <p:spPr>
          <a:xfrm xmlns:a="http://schemas.openxmlformats.org/drawingml/2006/main">
            <a:off x="638175" y="2905125"/>
            <a:ext cx="633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buNone/>
              <a:defRPr sz="2100" b="1">
                <a:solidFill>
                  <a:srgbClr val="B85D35"/>
                </a:solidFill>
              </a:defRPr>
            </a:lvl1pPr>
            <a:lvl2pPr>
              <a:buNone/>
              <a:defRPr sz="2100" b="1">
                <a:solidFill>
                  <a:srgbClr val="B85D35"/>
                </a:solidFill>
              </a:defRPr>
            </a:lvl2pPr>
            <a:lvl3pPr>
              <a:buNone/>
              <a:defRPr sz="2100" b="1">
                <a:solidFill>
                  <a:srgbClr val="B85D35"/>
                </a:solidFill>
              </a:defRPr>
            </a:lvl3pPr>
            <a:lvl4pPr>
              <a:buNone/>
              <a:defRPr sz="2100" b="1">
                <a:solidFill>
                  <a:srgbClr val="B85D35"/>
                </a:solidFill>
              </a:defRPr>
            </a:lvl4pPr>
            <a:lvl5pPr>
              <a:buNone/>
              <a:defRPr sz="2100" b="1">
                <a:solidFill>
                  <a:srgbClr val="B85D35"/>
                </a:solidFill>
              </a:defRPr>
            </a:lvl5pPr>
            <a:lvl6pPr>
              <a:buNone/>
              <a:defRPr sz="2100" b="1">
                <a:solidFill>
                  <a:srgbClr val="B85D35"/>
                </a:solidFill>
              </a:defRPr>
            </a:lvl6pPr>
            <a:lvl7pPr>
              <a:buNone/>
              <a:defRPr sz="2100" b="1">
                <a:solidFill>
                  <a:srgbClr val="B85D35"/>
                </a:solidFill>
              </a:defRPr>
            </a:lvl7pPr>
            <a:lvl8pPr>
              <a:buNone/>
              <a:defRPr sz="2100" b="1">
                <a:solidFill>
                  <a:srgbClr val="B85D35"/>
                </a:solidFill>
              </a:defRPr>
            </a:lvl8pPr>
            <a:lvl9pPr>
              <a:buNone/>
              <a:defRPr sz="2100" b="1">
                <a:solidFill>
                  <a:srgbClr val="B85D35"/>
                </a:solidFill>
              </a:defRPr>
            </a:lvl9pPr>
          </a:lstStyle>
          <a:p xmlns:a="http://schemas.openxmlformats.org/drawingml/2006/main">
            <a:pPr>
              <a:buNone/>
              <a:defRPr sz="2100" b="1">
                <a:solidFill>
                  <a:srgbClr val="B85D35"/>
                </a:solidFill>
              </a:defRPr>
            </a:pPr>
            <a:r>
              <a:rPr sz="2100" b="1">
                <a:solidFill>
                  <a:srgbClr val="B85D35"/>
                </a:solidFill>
              </a:rPr>
              <a:t>Habitat [S1]</a:t>
            </a:r>
          </a:p>
        </p:txBody>
      </p:sp>
      <p:sp>
        <p:nvSpPr>
          <p:cNvPr id="6" name="">
            <a:extLst xmlns:a="http://schemas.openxmlformats.org/drawingml/2006/main">
              <a:ext uri="{FF2B5EF4-FFF2-40B4-BE49-F238E27FC236}">
                <a16:creationId xmlns:a16="http://schemas.microsoft.com/office/drawing/2014/main" id="{5D02ED05-ED87-4455-B82D-954EC31B3F3D}"/>
              </a:ext>
            </a:extLst>
          </p:cNvPr>
          <p:cNvSpPr>
            <a:spLocks xmlns:a="http://schemas.openxmlformats.org/drawingml/2006/main" noGrp="1"/>
          </p:cNvSpPr>
          <p:nvPr/>
        </p:nvSpPr>
        <p:spPr>
          <a:xfrm xmlns:a="http://schemas.openxmlformats.org/drawingml/2006/main">
            <a:off x="638175" y="33337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23B32"/>
                </a:solidFill>
              </a:defRPr>
            </a:defPPr>
            <a:lvl1pPr>
              <a:buNone/>
              <a:defRPr sz="2550" b="0">
                <a:solidFill>
                  <a:srgbClr val="123B32"/>
                </a:solidFill>
              </a:defRPr>
            </a:lvl1pPr>
            <a:lvl2pPr>
              <a:buNone/>
              <a:defRPr sz="2550" b="0">
                <a:solidFill>
                  <a:srgbClr val="123B32"/>
                </a:solidFill>
              </a:defRPr>
            </a:lvl2pPr>
            <a:lvl3pPr>
              <a:buNone/>
              <a:defRPr sz="2550" b="0">
                <a:solidFill>
                  <a:srgbClr val="123B32"/>
                </a:solidFill>
              </a:defRPr>
            </a:lvl3pPr>
            <a:lvl4pPr>
              <a:buNone/>
              <a:defRPr sz="2550" b="0">
                <a:solidFill>
                  <a:srgbClr val="123B32"/>
                </a:solidFill>
              </a:defRPr>
            </a:lvl4pPr>
            <a:lvl5pPr>
              <a:buNone/>
              <a:defRPr sz="2550" b="0">
                <a:solidFill>
                  <a:srgbClr val="123B32"/>
                </a:solidFill>
              </a:defRPr>
            </a:lvl5pPr>
            <a:lvl6pPr>
              <a:buNone/>
              <a:defRPr sz="2550" b="0">
                <a:solidFill>
                  <a:srgbClr val="123B32"/>
                </a:solidFill>
              </a:defRPr>
            </a:lvl6pPr>
            <a:lvl7pPr>
              <a:buNone/>
              <a:defRPr sz="2550" b="0">
                <a:solidFill>
                  <a:srgbClr val="123B32"/>
                </a:solidFill>
              </a:defRPr>
            </a:lvl7pPr>
            <a:lvl8pPr>
              <a:buNone/>
              <a:defRPr sz="2550" b="0">
                <a:solidFill>
                  <a:srgbClr val="123B32"/>
                </a:solidFill>
              </a:defRPr>
            </a:lvl8pPr>
            <a:lvl9pPr>
              <a:buNone/>
              <a:defRPr sz="2550" b="0">
                <a:solidFill>
                  <a:srgbClr val="123B32"/>
                </a:solidFill>
              </a:defRPr>
            </a:lvl9pPr>
          </a:lstStyle>
          <a:p xmlns:a="http://schemas.openxmlformats.org/drawingml/2006/main">
            <a:pPr>
              <a:buNone/>
              <a:defRPr sz="2550" b="0">
                <a:solidFill>
                  <a:srgbClr val="123B32"/>
                </a:solidFill>
              </a:defRPr>
            </a:pPr>
            <a:r>
              <a:rPr sz="2550" b="0">
                <a:solidFill>
                  <a:srgbClr val="123B32"/>
                </a:solidFill>
              </a:rPr>
              <a:t>“areas with little current”</a:t>
            </a:r>
          </a:p>
        </p:txBody>
      </p:sp>
      <p:sp>
        <p:nvSpPr>
          <p:cNvPr id="7" name="">
            <a:extLst xmlns:a="http://schemas.openxmlformats.org/drawingml/2006/main">
              <a:ext uri="{FF2B5EF4-FFF2-40B4-BE49-F238E27FC236}">
                <a16:creationId xmlns:a16="http://schemas.microsoft.com/office/drawing/2014/main" id="{0BAD6C34-14B8-4834-A175-71FEEF7623BE}"/>
              </a:ext>
            </a:extLst>
          </p:cNvPr>
          <p:cNvSpPr>
            <a:spLocks xmlns:a="http://schemas.openxmlformats.org/drawingml/2006/main" noGrp="1"/>
          </p:cNvSpPr>
          <p:nvPr/>
        </p:nvSpPr>
        <p:spPr>
          <a:xfrm xmlns:a="http://schemas.openxmlformats.org/drawingml/2006/main">
            <a:off x="638175" y="4095750"/>
            <a:ext cx="633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buNone/>
              <a:defRPr sz="2100" b="1">
                <a:solidFill>
                  <a:srgbClr val="B85D35"/>
                </a:solidFill>
              </a:defRPr>
            </a:lvl1pPr>
            <a:lvl2pPr>
              <a:buNone/>
              <a:defRPr sz="2100" b="1">
                <a:solidFill>
                  <a:srgbClr val="B85D35"/>
                </a:solidFill>
              </a:defRPr>
            </a:lvl2pPr>
            <a:lvl3pPr>
              <a:buNone/>
              <a:defRPr sz="2100" b="1">
                <a:solidFill>
                  <a:srgbClr val="B85D35"/>
                </a:solidFill>
              </a:defRPr>
            </a:lvl3pPr>
            <a:lvl4pPr>
              <a:buNone/>
              <a:defRPr sz="2100" b="1">
                <a:solidFill>
                  <a:srgbClr val="B85D35"/>
                </a:solidFill>
              </a:defRPr>
            </a:lvl4pPr>
            <a:lvl5pPr>
              <a:buNone/>
              <a:defRPr sz="2100" b="1">
                <a:solidFill>
                  <a:srgbClr val="B85D35"/>
                </a:solidFill>
              </a:defRPr>
            </a:lvl5pPr>
            <a:lvl6pPr>
              <a:buNone/>
              <a:defRPr sz="2100" b="1">
                <a:solidFill>
                  <a:srgbClr val="B85D35"/>
                </a:solidFill>
              </a:defRPr>
            </a:lvl6pPr>
            <a:lvl7pPr>
              <a:buNone/>
              <a:defRPr sz="2100" b="1">
                <a:solidFill>
                  <a:srgbClr val="B85D35"/>
                </a:solidFill>
              </a:defRPr>
            </a:lvl7pPr>
            <a:lvl8pPr>
              <a:buNone/>
              <a:defRPr sz="2100" b="1">
                <a:solidFill>
                  <a:srgbClr val="B85D35"/>
                </a:solidFill>
              </a:defRPr>
            </a:lvl8pPr>
            <a:lvl9pPr>
              <a:buNone/>
              <a:defRPr sz="2100" b="1">
                <a:solidFill>
                  <a:srgbClr val="B85D35"/>
                </a:solidFill>
              </a:defRPr>
            </a:lvl9pPr>
          </a:lstStyle>
          <a:p xmlns:a="http://schemas.openxmlformats.org/drawingml/2006/main">
            <a:pPr>
              <a:buNone/>
              <a:defRPr sz="2100" b="1">
                <a:solidFill>
                  <a:srgbClr val="B85D35"/>
                </a:solidFill>
              </a:defRPr>
            </a:pPr>
            <a:r>
              <a:rPr sz="2100" b="1">
                <a:solidFill>
                  <a:srgbClr val="B85D35"/>
                </a:solidFill>
              </a:rPr>
              <a:t>Diet [S2]</a:t>
            </a:r>
          </a:p>
        </p:txBody>
      </p:sp>
      <p:sp>
        <p:nvSpPr>
          <p:cNvPr id="8" name="">
            <a:extLst xmlns:a="http://schemas.openxmlformats.org/drawingml/2006/main">
              <a:ext uri="{FF2B5EF4-FFF2-40B4-BE49-F238E27FC236}">
                <a16:creationId xmlns:a16="http://schemas.microsoft.com/office/drawing/2014/main" id="{DDD0875B-CF54-485F-80E1-115F427A7DAC}"/>
              </a:ext>
            </a:extLst>
          </p:cNvPr>
          <p:cNvSpPr>
            <a:spLocks xmlns:a="http://schemas.openxmlformats.org/drawingml/2006/main" noGrp="1"/>
          </p:cNvSpPr>
          <p:nvPr/>
        </p:nvSpPr>
        <p:spPr>
          <a:xfrm xmlns:a="http://schemas.openxmlformats.org/drawingml/2006/main">
            <a:off x="638175" y="4524375"/>
            <a:ext cx="676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123B32"/>
                </a:solidFill>
              </a:defRPr>
            </a:defPPr>
            <a:lvl1pPr>
              <a:buNone/>
              <a:defRPr sz="2475" b="0">
                <a:solidFill>
                  <a:srgbClr val="123B32"/>
                </a:solidFill>
              </a:defRPr>
            </a:lvl1pPr>
            <a:lvl2pPr>
              <a:buNone/>
              <a:defRPr sz="2475" b="0">
                <a:solidFill>
                  <a:srgbClr val="123B32"/>
                </a:solidFill>
              </a:defRPr>
            </a:lvl2pPr>
            <a:lvl3pPr>
              <a:buNone/>
              <a:defRPr sz="2475" b="0">
                <a:solidFill>
                  <a:srgbClr val="123B32"/>
                </a:solidFill>
              </a:defRPr>
            </a:lvl3pPr>
            <a:lvl4pPr>
              <a:buNone/>
              <a:defRPr sz="2475" b="0">
                <a:solidFill>
                  <a:srgbClr val="123B32"/>
                </a:solidFill>
              </a:defRPr>
            </a:lvl4pPr>
            <a:lvl5pPr>
              <a:buNone/>
              <a:defRPr sz="2475" b="0">
                <a:solidFill>
                  <a:srgbClr val="123B32"/>
                </a:solidFill>
              </a:defRPr>
            </a:lvl5pPr>
            <a:lvl6pPr>
              <a:buNone/>
              <a:defRPr sz="2475" b="0">
                <a:solidFill>
                  <a:srgbClr val="123B32"/>
                </a:solidFill>
              </a:defRPr>
            </a:lvl6pPr>
            <a:lvl7pPr>
              <a:buNone/>
              <a:defRPr sz="2475" b="0">
                <a:solidFill>
                  <a:srgbClr val="123B32"/>
                </a:solidFill>
              </a:defRPr>
            </a:lvl7pPr>
            <a:lvl8pPr>
              <a:buNone/>
              <a:defRPr sz="2475" b="0">
                <a:solidFill>
                  <a:srgbClr val="123B32"/>
                </a:solidFill>
              </a:defRPr>
            </a:lvl8pPr>
            <a:lvl9pPr>
              <a:buNone/>
              <a:defRPr sz="2475" b="0">
                <a:solidFill>
                  <a:srgbClr val="123B32"/>
                </a:solidFill>
              </a:defRPr>
            </a:lvl9pPr>
          </a:lstStyle>
          <a:p xmlns:a="http://schemas.openxmlformats.org/drawingml/2006/main">
            <a:pPr>
              <a:buNone/>
              <a:defRPr sz="2475" b="0">
                <a:solidFill>
                  <a:srgbClr val="123B32"/>
                </a:solidFill>
              </a:defRPr>
            </a:pPr>
            <a:r>
              <a:rPr sz="2475" b="0">
                <a:solidFill>
                  <a:srgbClr val="123B32"/>
                </a:solidFill>
              </a:rPr>
              <a:t>“terrestrial and aquatic prey”</a:t>
            </a:r>
          </a:p>
        </p:txBody>
      </p:sp>
      <p:pic>
        <p:nvPicPr>
          <p:cNvPr id="9" name="">
            <a:extLst xmlns:a="http://schemas.openxmlformats.org/drawingml/2006/main">
              <a:ext uri="{FF2B5EF4-FFF2-40B4-BE49-F238E27FC236}">
                <a16:creationId xmlns:a16="http://schemas.microsoft.com/office/drawing/2014/main" id="{EDB64B94-6A3A-4901-8C05-0197D2739799}"/>
              </a:ext>
            </a:extLst>
          </p:cNvPr>
          <p:cNvPicPr>
            <a:picLocks xmlns:a="http://schemas.openxmlformats.org/drawingml/2006/main" noChangeAspect="1"/>
          </p:cNvPicPr>
          <p:nvPr/>
        </p:nvPicPr>
        <p:blipFill>
          <a:blip xmlns:r="http://schemas.openxmlformats.org/officeDocument/2006/relationships" xmlns:a="http://schemas.openxmlformats.org/drawingml/2006/main" r:embed="R73594d8f73c94157"/>
          <a:stretch xmlns:a="http://schemas.openxmlformats.org/drawingml/2006/main"/>
        </p:blipFill>
        <p:spPr>
          <a:xfrm xmlns:a="http://schemas.openxmlformats.org/drawingml/2006/main">
            <a:off x="7686675" y="2734786"/>
            <a:ext cx="3905250" cy="2198054"/>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42214685-A19D-4347-AF3F-552CDD3FAFA1}"/>
              </a:ext>
            </a:extLst>
          </p:cNvPr>
          <p:cNvSpPr>
            <a:spLocks xmlns:a="http://schemas.openxmlformats.org/drawingml/2006/main" noGrp="1"/>
          </p:cNvSpPr>
          <p:nvPr/>
        </p:nvSpPr>
        <p:spPr>
          <a:xfrm xmlns:a="http://schemas.openxmlformats.org/drawingml/2006/main">
            <a:off x="7705725" y="1971675"/>
            <a:ext cx="3905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5C"/>
                </a:solidFill>
              </a:defRPr>
            </a:defPPr>
            <a:lvl1pPr>
              <a:buNone/>
              <a:defRPr sz="1725" b="0">
                <a:solidFill>
                  <a:srgbClr val="52675C"/>
                </a:solidFill>
              </a:defRPr>
            </a:lvl1pPr>
            <a:lvl2pPr>
              <a:buNone/>
              <a:defRPr sz="1725" b="0">
                <a:solidFill>
                  <a:srgbClr val="52675C"/>
                </a:solidFill>
              </a:defRPr>
            </a:lvl2pPr>
            <a:lvl3pPr>
              <a:buNone/>
              <a:defRPr sz="1725" b="0">
                <a:solidFill>
                  <a:srgbClr val="52675C"/>
                </a:solidFill>
              </a:defRPr>
            </a:lvl3pPr>
            <a:lvl4pPr>
              <a:buNone/>
              <a:defRPr sz="1725" b="0">
                <a:solidFill>
                  <a:srgbClr val="52675C"/>
                </a:solidFill>
              </a:defRPr>
            </a:lvl4pPr>
            <a:lvl5pPr>
              <a:buNone/>
              <a:defRPr sz="1725" b="0">
                <a:solidFill>
                  <a:srgbClr val="52675C"/>
                </a:solidFill>
              </a:defRPr>
            </a:lvl5pPr>
            <a:lvl6pPr>
              <a:buNone/>
              <a:defRPr sz="1725" b="0">
                <a:solidFill>
                  <a:srgbClr val="52675C"/>
                </a:solidFill>
              </a:defRPr>
            </a:lvl6pPr>
            <a:lvl7pPr>
              <a:buNone/>
              <a:defRPr sz="1725" b="0">
                <a:solidFill>
                  <a:srgbClr val="52675C"/>
                </a:solidFill>
              </a:defRPr>
            </a:lvl7pPr>
            <a:lvl8pPr>
              <a:buNone/>
              <a:defRPr sz="1725" b="0">
                <a:solidFill>
                  <a:srgbClr val="52675C"/>
                </a:solidFill>
              </a:defRPr>
            </a:lvl8pPr>
            <a:lvl9pPr>
              <a:buNone/>
              <a:defRPr sz="1725" b="0">
                <a:solidFill>
                  <a:srgbClr val="52675C"/>
                </a:solidFill>
              </a:defRPr>
            </a:lvl9pPr>
          </a:lstStyle>
          <a:p xmlns:a="http://schemas.openxmlformats.org/drawingml/2006/main">
            <a:pPr>
              <a:buNone/>
              <a:defRPr sz="1725" b="0">
                <a:solidFill>
                  <a:srgbClr val="52675C"/>
                </a:solidFill>
              </a:defRPr>
            </a:pPr>
            <a:r>
              <a:rPr sz="1725" b="0">
                <a:solidFill>
                  <a:srgbClr val="52675C"/>
                </a:solidFill>
              </a:rPr>
              <a:t>Actual interface / Spanish</a:t>
            </a:r>
          </a:p>
        </p:txBody>
      </p:sp>
      <p:sp>
        <p:nvSpPr>
          <p:cNvPr id="11" name="">
            <a:extLst xmlns:a="http://schemas.openxmlformats.org/drawingml/2006/main">
              <a:ext uri="{FF2B5EF4-FFF2-40B4-BE49-F238E27FC236}">
                <a16:creationId xmlns:a16="http://schemas.microsoft.com/office/drawing/2014/main" id="{D99636C4-3138-49FC-8D7F-1D344BF95108}"/>
              </a:ext>
            </a:extLst>
          </p:cNvPr>
          <p:cNvSpPr>
            <a:spLocks xmlns:a="http://schemas.openxmlformats.org/drawingml/2006/main" noGrp="1"/>
          </p:cNvSpPr>
          <p:nvPr/>
        </p:nvSpPr>
        <p:spPr>
          <a:xfrm xmlns:a="http://schemas.openxmlformats.org/drawingml/2006/main">
            <a:off x="609600" y="5486400"/>
            <a:ext cx="1090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B85D35"/>
                </a:solidFill>
              </a:defRPr>
            </a:defPPr>
            <a:lvl1pPr>
              <a:buNone/>
              <a:defRPr sz="2100" b="1">
                <a:solidFill>
                  <a:srgbClr val="B85D35"/>
                </a:solidFill>
              </a:defRPr>
            </a:lvl1pPr>
            <a:lvl2pPr>
              <a:buNone/>
              <a:defRPr sz="2100" b="1">
                <a:solidFill>
                  <a:srgbClr val="B85D35"/>
                </a:solidFill>
              </a:defRPr>
            </a:lvl2pPr>
            <a:lvl3pPr>
              <a:buNone/>
              <a:defRPr sz="2100" b="1">
                <a:solidFill>
                  <a:srgbClr val="B85D35"/>
                </a:solidFill>
              </a:defRPr>
            </a:lvl3pPr>
            <a:lvl4pPr>
              <a:buNone/>
              <a:defRPr sz="2100" b="1">
                <a:solidFill>
                  <a:srgbClr val="B85D35"/>
                </a:solidFill>
              </a:defRPr>
            </a:lvl4pPr>
            <a:lvl5pPr>
              <a:buNone/>
              <a:defRPr sz="2100" b="1">
                <a:solidFill>
                  <a:srgbClr val="B85D35"/>
                </a:solidFill>
              </a:defRPr>
            </a:lvl5pPr>
            <a:lvl6pPr>
              <a:buNone/>
              <a:defRPr sz="2100" b="1">
                <a:solidFill>
                  <a:srgbClr val="B85D35"/>
                </a:solidFill>
              </a:defRPr>
            </a:lvl6pPr>
            <a:lvl7pPr>
              <a:buNone/>
              <a:defRPr sz="2100" b="1">
                <a:solidFill>
                  <a:srgbClr val="B85D35"/>
                </a:solidFill>
              </a:defRPr>
            </a:lvl7pPr>
            <a:lvl8pPr>
              <a:buNone/>
              <a:defRPr sz="2100" b="1">
                <a:solidFill>
                  <a:srgbClr val="B85D35"/>
                </a:solidFill>
              </a:defRPr>
            </a:lvl8pPr>
            <a:lvl9pPr>
              <a:buNone/>
              <a:defRPr sz="2100" b="1">
                <a:solidFill>
                  <a:srgbClr val="B85D35"/>
                </a:solidFill>
              </a:defRPr>
            </a:lvl9pPr>
          </a:lstStyle>
          <a:p xmlns:a="http://schemas.openxmlformats.org/drawingml/2006/main">
            <a:pPr>
              <a:buNone/>
              <a:defRPr sz="2100" b="1">
                <a:solidFill>
                  <a:srgbClr val="B85D35"/>
                </a:solidFill>
              </a:defRPr>
            </a:pPr>
            <a:r>
              <a:rPr sz="2100" b="1">
                <a:solidFill>
                  <a:srgbClr val="B85D35"/>
                </a:solidFill>
              </a:rPr>
              <a:t>Separate test: complete-genome request / abstained</a:t>
            </a:r>
          </a:p>
        </p:txBody>
      </p:sp>
      <p:sp>
        <p:nvSpPr>
          <p:cNvPr id="12" name="">
            <a:extLst xmlns:a="http://schemas.openxmlformats.org/drawingml/2006/main">
              <a:ext uri="{FF2B5EF4-FFF2-40B4-BE49-F238E27FC236}">
                <a16:creationId xmlns:a16="http://schemas.microsoft.com/office/drawing/2014/main" id="{940598D8-76B6-416A-A23C-01B069DAB476}"/>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Real model runs / translated extracts / species identity remains unconfirmed</a:t>
            </a:r>
          </a:p>
        </p:txBody>
      </p:sp>
    </p:spTree>
    <p:extLst>
      <p:ext uri="{BB962C8B-B14F-4D97-AF65-F5344CB8AC3E}">
        <p14:creationId xmlns:p14="http://schemas.microsoft.com/office/powerpoint/2010/main" val="1394304478"/>
      </p:ext>
    </p:extLst>
  </p:cSld>
</p:sld>
</file>

<file path=ppt/slides/slide22.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D9E55186-1C0C-464D-917B-05BA70BE3C50}"/>
              </a:ext>
            </a:extLst>
          </p:cNvPr>
          <p:cNvCxnSpPr>
            <a:stCxn xmlns:a="http://schemas.openxmlformats.org/drawingml/2006/main" id="10" idx="3"/>
            <a:endCxn xmlns:a="http://schemas.openxmlformats.org/drawingml/2006/main" id="12" idx="1"/>
          </p:cNvCxnSpPr>
          <p:nvPr/>
        </p:nvCxnSpPr>
        <p:spPr>
          <a:xfrm xmlns:a="http://schemas.openxmlformats.org/drawingml/2006/main">
            <a:off x="6191250" y="4171950"/>
            <a:ext cx="21050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F7318E9-3E3E-4867-8401-EA9AF2167831}"/>
              </a:ext>
            </a:extLst>
          </p:cNvPr>
          <p:cNvCxnSpPr>
            <a:stCxn xmlns:a="http://schemas.openxmlformats.org/drawingml/2006/main" id="5" idx="3"/>
            <a:endCxn xmlns:a="http://schemas.openxmlformats.org/drawingml/2006/main" id="7" idx="1"/>
          </p:cNvCxnSpPr>
          <p:nvPr/>
        </p:nvCxnSpPr>
        <p:spPr>
          <a:xfrm xmlns:a="http://schemas.openxmlformats.org/drawingml/2006/main">
            <a:off x="6191250" y="2257425"/>
            <a:ext cx="210502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17" name="">
            <a:extLst xmlns:a="http://schemas.openxmlformats.org/drawingml/2006/main">
              <a:ext uri="{FF2B5EF4-FFF2-40B4-BE49-F238E27FC236}">
                <a16:creationId xmlns:a16="http://schemas.microsoft.com/office/drawing/2014/main" id="{FAB45BA9-89BA-4AB9-8D3B-35A78C3A3656}"/>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The second run adds zero new vectors</a:t>
            </a:r>
          </a:p>
        </p:txBody>
      </p:sp>
      <p:sp>
        <p:nvSpPr>
          <p:cNvPr id="2" name="">
            <a:extLst xmlns:a="http://schemas.openxmlformats.org/drawingml/2006/main">
              <a:ext uri="{FF2B5EF4-FFF2-40B4-BE49-F238E27FC236}">
                <a16:creationId xmlns:a16="http://schemas.microsoft.com/office/drawing/2014/main" id="{E47096B9-64B0-47D0-95D4-5C5D1EAF7086}"/>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22</a:t>
            </a:r>
          </a:p>
        </p:txBody>
      </p:sp>
      <p:sp>
        <p:nvSpPr>
          <p:cNvPr id="3" name="">
            <a:extLst xmlns:a="http://schemas.openxmlformats.org/drawingml/2006/main">
              <a:ext uri="{FF2B5EF4-FFF2-40B4-BE49-F238E27FC236}">
                <a16:creationId xmlns:a16="http://schemas.microsoft.com/office/drawing/2014/main" id="{178F0036-5C14-498B-BB7D-8CB88FFF2717}"/>
              </a:ext>
            </a:extLst>
          </p:cNvPr>
          <p:cNvSpPr>
            <a:spLocks xmlns:a="http://schemas.openxmlformats.org/drawingml/2006/main" noGrp="1"/>
          </p:cNvSpPr>
          <p:nvPr/>
        </p:nvSpPr>
        <p:spPr>
          <a:xfrm xmlns:a="http://schemas.openxmlformats.org/drawingml/2006/main">
            <a:off x="609600" y="1828800"/>
            <a:ext cx="247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52675C"/>
                </a:solidFill>
              </a:defRPr>
            </a:defPPr>
            <a:lvl1pPr>
              <a:buNone/>
              <a:defRPr sz="2100" b="1">
                <a:solidFill>
                  <a:srgbClr val="52675C"/>
                </a:solidFill>
              </a:defRPr>
            </a:lvl1pPr>
            <a:lvl2pPr>
              <a:buNone/>
              <a:defRPr sz="2100" b="1">
                <a:solidFill>
                  <a:srgbClr val="52675C"/>
                </a:solidFill>
              </a:defRPr>
            </a:lvl2pPr>
            <a:lvl3pPr>
              <a:buNone/>
              <a:defRPr sz="2100" b="1">
                <a:solidFill>
                  <a:srgbClr val="52675C"/>
                </a:solidFill>
              </a:defRPr>
            </a:lvl3pPr>
            <a:lvl4pPr>
              <a:buNone/>
              <a:defRPr sz="2100" b="1">
                <a:solidFill>
                  <a:srgbClr val="52675C"/>
                </a:solidFill>
              </a:defRPr>
            </a:lvl4pPr>
            <a:lvl5pPr>
              <a:buNone/>
              <a:defRPr sz="2100" b="1">
                <a:solidFill>
                  <a:srgbClr val="52675C"/>
                </a:solidFill>
              </a:defRPr>
            </a:lvl5pPr>
            <a:lvl6pPr>
              <a:buNone/>
              <a:defRPr sz="2100" b="1">
                <a:solidFill>
                  <a:srgbClr val="52675C"/>
                </a:solidFill>
              </a:defRPr>
            </a:lvl6pPr>
            <a:lvl7pPr>
              <a:buNone/>
              <a:defRPr sz="2100" b="1">
                <a:solidFill>
                  <a:srgbClr val="52675C"/>
                </a:solidFill>
              </a:defRPr>
            </a:lvl7pPr>
            <a:lvl8pPr>
              <a:buNone/>
              <a:defRPr sz="2100" b="1">
                <a:solidFill>
                  <a:srgbClr val="52675C"/>
                </a:solidFill>
              </a:defRPr>
            </a:lvl8pPr>
            <a:lvl9pPr>
              <a:buNone/>
              <a:defRPr sz="2100" b="1">
                <a:solidFill>
                  <a:srgbClr val="52675C"/>
                </a:solidFill>
              </a:defRPr>
            </a:lvl9pPr>
          </a:lstStyle>
          <a:p xmlns:a="http://schemas.openxmlformats.org/drawingml/2006/main">
            <a:pPr>
              <a:buNone/>
              <a:defRPr sz="2100" b="1">
                <a:solidFill>
                  <a:srgbClr val="52675C"/>
                </a:solidFill>
              </a:defRPr>
            </a:pPr>
            <a:r>
              <a:rPr sz="2100" b="1">
                <a:solidFill>
                  <a:srgbClr val="52675C"/>
                </a:solidFill>
              </a:rPr>
              <a:t>RUN 1</a:t>
            </a:r>
          </a:p>
        </p:txBody>
      </p:sp>
      <p:sp>
        <p:nvSpPr>
          <p:cNvPr id="4" name="">
            <a:extLst xmlns:a="http://schemas.openxmlformats.org/drawingml/2006/main">
              <a:ext uri="{FF2B5EF4-FFF2-40B4-BE49-F238E27FC236}">
                <a16:creationId xmlns:a16="http://schemas.microsoft.com/office/drawing/2014/main" id="{1ED58FBC-CF27-404C-9857-932E75AB90F6}"/>
              </a:ext>
            </a:extLst>
          </p:cNvPr>
          <p:cNvSpPr>
            <a:spLocks xmlns:a="http://schemas.openxmlformats.org/drawingml/2006/main" noGrp="1"/>
          </p:cNvSpPr>
          <p:nvPr/>
        </p:nvSpPr>
        <p:spPr>
          <a:xfrm xmlns:a="http://schemas.openxmlformats.org/drawingml/2006/main">
            <a:off x="609600" y="3743325"/>
            <a:ext cx="247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52675C"/>
                </a:solidFill>
              </a:defRPr>
            </a:defPPr>
            <a:lvl1pPr>
              <a:buNone/>
              <a:defRPr sz="2100" b="1">
                <a:solidFill>
                  <a:srgbClr val="52675C"/>
                </a:solidFill>
              </a:defRPr>
            </a:lvl1pPr>
            <a:lvl2pPr>
              <a:buNone/>
              <a:defRPr sz="2100" b="1">
                <a:solidFill>
                  <a:srgbClr val="52675C"/>
                </a:solidFill>
              </a:defRPr>
            </a:lvl2pPr>
            <a:lvl3pPr>
              <a:buNone/>
              <a:defRPr sz="2100" b="1">
                <a:solidFill>
                  <a:srgbClr val="52675C"/>
                </a:solidFill>
              </a:defRPr>
            </a:lvl3pPr>
            <a:lvl4pPr>
              <a:buNone/>
              <a:defRPr sz="2100" b="1">
                <a:solidFill>
                  <a:srgbClr val="52675C"/>
                </a:solidFill>
              </a:defRPr>
            </a:lvl4pPr>
            <a:lvl5pPr>
              <a:buNone/>
              <a:defRPr sz="2100" b="1">
                <a:solidFill>
                  <a:srgbClr val="52675C"/>
                </a:solidFill>
              </a:defRPr>
            </a:lvl5pPr>
            <a:lvl6pPr>
              <a:buNone/>
              <a:defRPr sz="2100" b="1">
                <a:solidFill>
                  <a:srgbClr val="52675C"/>
                </a:solidFill>
              </a:defRPr>
            </a:lvl6pPr>
            <a:lvl7pPr>
              <a:buNone/>
              <a:defRPr sz="2100" b="1">
                <a:solidFill>
                  <a:srgbClr val="52675C"/>
                </a:solidFill>
              </a:defRPr>
            </a:lvl7pPr>
            <a:lvl8pPr>
              <a:buNone/>
              <a:defRPr sz="2100" b="1">
                <a:solidFill>
                  <a:srgbClr val="52675C"/>
                </a:solidFill>
              </a:defRPr>
            </a:lvl8pPr>
            <a:lvl9pPr>
              <a:buNone/>
              <a:defRPr sz="2100" b="1">
                <a:solidFill>
                  <a:srgbClr val="52675C"/>
                </a:solidFill>
              </a:defRPr>
            </a:lvl9pPr>
          </a:lstStyle>
          <a:p xmlns:a="http://schemas.openxmlformats.org/drawingml/2006/main">
            <a:pPr>
              <a:buNone/>
              <a:defRPr sz="2100" b="1">
                <a:solidFill>
                  <a:srgbClr val="52675C"/>
                </a:solidFill>
              </a:defRPr>
            </a:pPr>
            <a:r>
              <a:rPr sz="2100" b="1">
                <a:solidFill>
                  <a:srgbClr val="52675C"/>
                </a:solidFill>
              </a:rPr>
              <a:t>RUN 2</a:t>
            </a:r>
          </a:p>
        </p:txBody>
      </p:sp>
      <p:sp>
        <p:nvSpPr>
          <p:cNvPr id="5" name="">
            <a:extLst xmlns:a="http://schemas.openxmlformats.org/drawingml/2006/main">
              <a:ext uri="{FF2B5EF4-FFF2-40B4-BE49-F238E27FC236}">
                <a16:creationId xmlns:a16="http://schemas.microsoft.com/office/drawing/2014/main" id="{EEA9AF25-0EC9-4765-A69D-9353D40EAEAF}"/>
              </a:ext>
            </a:extLst>
          </p:cNvPr>
          <p:cNvSpPr>
            <a:spLocks xmlns:a="http://schemas.openxmlformats.org/drawingml/2006/main" noGrp="1"/>
          </p:cNvSpPr>
          <p:nvPr/>
        </p:nvSpPr>
        <p:spPr>
          <a:xfrm xmlns:a="http://schemas.openxmlformats.org/drawingml/2006/main">
            <a:off x="2857500" y="1828800"/>
            <a:ext cx="3333750" cy="85725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9CB0A853-E326-4CEC-966A-0D8CA6C31D11}"/>
              </a:ext>
            </a:extLst>
          </p:cNvPr>
          <p:cNvSpPr>
            <a:spLocks xmlns:a="http://schemas.openxmlformats.org/drawingml/2006/main" noGrp="1"/>
          </p:cNvSpPr>
          <p:nvPr/>
        </p:nvSpPr>
        <p:spPr>
          <a:xfrm xmlns:a="http://schemas.openxmlformats.org/drawingml/2006/main">
            <a:off x="3019425" y="1981200"/>
            <a:ext cx="300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3 synthetic assets</a:t>
            </a:r>
          </a:p>
        </p:txBody>
      </p:sp>
      <p:sp>
        <p:nvSpPr>
          <p:cNvPr id="7" name="">
            <a:extLst xmlns:a="http://schemas.openxmlformats.org/drawingml/2006/main">
              <a:ext uri="{FF2B5EF4-FFF2-40B4-BE49-F238E27FC236}">
                <a16:creationId xmlns:a16="http://schemas.microsoft.com/office/drawing/2014/main" id="{42F8FA1F-5E6D-47C9-8369-7EAA9AC06228}"/>
              </a:ext>
            </a:extLst>
          </p:cNvPr>
          <p:cNvSpPr>
            <a:spLocks xmlns:a="http://schemas.openxmlformats.org/drawingml/2006/main" noGrp="1"/>
          </p:cNvSpPr>
          <p:nvPr/>
        </p:nvSpPr>
        <p:spPr>
          <a:xfrm xmlns:a="http://schemas.openxmlformats.org/drawingml/2006/main">
            <a:off x="8296275" y="1828800"/>
            <a:ext cx="3238500" cy="8572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8" name="">
            <a:extLst xmlns:a="http://schemas.openxmlformats.org/drawingml/2006/main">
              <a:ext uri="{FF2B5EF4-FFF2-40B4-BE49-F238E27FC236}">
                <a16:creationId xmlns:a16="http://schemas.microsoft.com/office/drawing/2014/main" id="{0452FD3B-DE97-4247-9699-C836A3D12251}"/>
              </a:ext>
            </a:extLst>
          </p:cNvPr>
          <p:cNvSpPr>
            <a:spLocks xmlns:a="http://schemas.openxmlformats.org/drawingml/2006/main" noGrp="1"/>
          </p:cNvSpPr>
          <p:nvPr/>
        </p:nvSpPr>
        <p:spPr>
          <a:xfrm xmlns:a="http://schemas.openxmlformats.org/drawingml/2006/main">
            <a:off x="8458200" y="1981200"/>
            <a:ext cx="2914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23B32"/>
                </a:solidFill>
              </a:defRPr>
            </a:defPPr>
            <a:lvl1pPr>
              <a:buNone/>
              <a:defRPr sz="2850" b="1">
                <a:solidFill>
                  <a:srgbClr val="123B32"/>
                </a:solidFill>
              </a:defRPr>
            </a:lvl1pPr>
            <a:lvl2pPr>
              <a:buNone/>
              <a:defRPr sz="2850" b="1">
                <a:solidFill>
                  <a:srgbClr val="123B32"/>
                </a:solidFill>
              </a:defRPr>
            </a:lvl2pPr>
            <a:lvl3pPr>
              <a:buNone/>
              <a:defRPr sz="2850" b="1">
                <a:solidFill>
                  <a:srgbClr val="123B32"/>
                </a:solidFill>
              </a:defRPr>
            </a:lvl3pPr>
            <a:lvl4pPr>
              <a:buNone/>
              <a:defRPr sz="2850" b="1">
                <a:solidFill>
                  <a:srgbClr val="123B32"/>
                </a:solidFill>
              </a:defRPr>
            </a:lvl4pPr>
            <a:lvl5pPr>
              <a:buNone/>
              <a:defRPr sz="2850" b="1">
                <a:solidFill>
                  <a:srgbClr val="123B32"/>
                </a:solidFill>
              </a:defRPr>
            </a:lvl5pPr>
            <a:lvl6pPr>
              <a:buNone/>
              <a:defRPr sz="2850" b="1">
                <a:solidFill>
                  <a:srgbClr val="123B32"/>
                </a:solidFill>
              </a:defRPr>
            </a:lvl6pPr>
            <a:lvl7pPr>
              <a:buNone/>
              <a:defRPr sz="2850" b="1">
                <a:solidFill>
                  <a:srgbClr val="123B32"/>
                </a:solidFill>
              </a:defRPr>
            </a:lvl7pPr>
            <a:lvl8pPr>
              <a:buNone/>
              <a:defRPr sz="2850" b="1">
                <a:solidFill>
                  <a:srgbClr val="123B32"/>
                </a:solidFill>
              </a:defRPr>
            </a:lvl8pPr>
            <a:lvl9pPr>
              <a:buNone/>
              <a:defRPr sz="2850" b="1">
                <a:solidFill>
                  <a:srgbClr val="123B32"/>
                </a:solidFill>
              </a:defRPr>
            </a:lvl9pPr>
          </a:lstStyle>
          <a:p xmlns:a="http://schemas.openxmlformats.org/drawingml/2006/main">
            <a:pPr>
              <a:buNone/>
              <a:defRPr sz="2850" b="1">
                <a:solidFill>
                  <a:srgbClr val="123B32"/>
                </a:solidFill>
              </a:defRPr>
            </a:pPr>
            <a:r>
              <a:rPr sz="2850" b="1">
                <a:solidFill>
                  <a:srgbClr val="123B32"/>
                </a:solidFill>
              </a:rPr>
              <a:t>7 vectors</a:t>
            </a:r>
          </a:p>
        </p:txBody>
      </p:sp>
      <p:sp>
        <p:nvSpPr>
          <p:cNvPr id="10" name="">
            <a:extLst xmlns:a="http://schemas.openxmlformats.org/drawingml/2006/main">
              <a:ext uri="{FF2B5EF4-FFF2-40B4-BE49-F238E27FC236}">
                <a16:creationId xmlns:a16="http://schemas.microsoft.com/office/drawing/2014/main" id="{88EA95DA-48EC-4D16-8B01-A85C835C6E02}"/>
              </a:ext>
            </a:extLst>
          </p:cNvPr>
          <p:cNvSpPr>
            <a:spLocks xmlns:a="http://schemas.openxmlformats.org/drawingml/2006/main" noGrp="1"/>
          </p:cNvSpPr>
          <p:nvPr/>
        </p:nvSpPr>
        <p:spPr>
          <a:xfrm xmlns:a="http://schemas.openxmlformats.org/drawingml/2006/main">
            <a:off x="2857500" y="3743325"/>
            <a:ext cx="3333750" cy="857250"/>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1" name="">
            <a:extLst xmlns:a="http://schemas.openxmlformats.org/drawingml/2006/main">
              <a:ext uri="{FF2B5EF4-FFF2-40B4-BE49-F238E27FC236}">
                <a16:creationId xmlns:a16="http://schemas.microsoft.com/office/drawing/2014/main" id="{6CB9F224-A926-4DD8-B90A-EE68F46E9BC7}"/>
              </a:ext>
            </a:extLst>
          </p:cNvPr>
          <p:cNvSpPr>
            <a:spLocks xmlns:a="http://schemas.openxmlformats.org/drawingml/2006/main" noGrp="1"/>
          </p:cNvSpPr>
          <p:nvPr/>
        </p:nvSpPr>
        <p:spPr>
          <a:xfrm xmlns:a="http://schemas.openxmlformats.org/drawingml/2006/main">
            <a:off x="3019425" y="3895725"/>
            <a:ext cx="3009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B32"/>
                </a:solidFill>
              </a:defRPr>
            </a:defPPr>
            <a:lvl1pPr>
              <a:buNone/>
              <a:defRPr sz="2400" b="1">
                <a:solidFill>
                  <a:srgbClr val="123B32"/>
                </a:solidFill>
              </a:defRPr>
            </a:lvl1pPr>
            <a:lvl2pPr>
              <a:buNone/>
              <a:defRPr sz="2400" b="1">
                <a:solidFill>
                  <a:srgbClr val="123B32"/>
                </a:solidFill>
              </a:defRPr>
            </a:lvl2pPr>
            <a:lvl3pPr>
              <a:buNone/>
              <a:defRPr sz="2400" b="1">
                <a:solidFill>
                  <a:srgbClr val="123B32"/>
                </a:solidFill>
              </a:defRPr>
            </a:lvl3pPr>
            <a:lvl4pPr>
              <a:buNone/>
              <a:defRPr sz="2400" b="1">
                <a:solidFill>
                  <a:srgbClr val="123B32"/>
                </a:solidFill>
              </a:defRPr>
            </a:lvl4pPr>
            <a:lvl5pPr>
              <a:buNone/>
              <a:defRPr sz="2400" b="1">
                <a:solidFill>
                  <a:srgbClr val="123B32"/>
                </a:solidFill>
              </a:defRPr>
            </a:lvl5pPr>
            <a:lvl6pPr>
              <a:buNone/>
              <a:defRPr sz="2400" b="1">
                <a:solidFill>
                  <a:srgbClr val="123B32"/>
                </a:solidFill>
              </a:defRPr>
            </a:lvl6pPr>
            <a:lvl7pPr>
              <a:buNone/>
              <a:defRPr sz="2400" b="1">
                <a:solidFill>
                  <a:srgbClr val="123B32"/>
                </a:solidFill>
              </a:defRPr>
            </a:lvl7pPr>
            <a:lvl8pPr>
              <a:buNone/>
              <a:defRPr sz="2400" b="1">
                <a:solidFill>
                  <a:srgbClr val="123B32"/>
                </a:solidFill>
              </a:defRPr>
            </a:lvl8pPr>
            <a:lvl9pPr>
              <a:buNone/>
              <a:defRPr sz="2400" b="1">
                <a:solidFill>
                  <a:srgbClr val="123B32"/>
                </a:solidFill>
              </a:defRPr>
            </a:lvl9pPr>
          </a:lstStyle>
          <a:p xmlns:a="http://schemas.openxmlformats.org/drawingml/2006/main">
            <a:pPr>
              <a:buNone/>
              <a:defRPr sz="2400" b="1">
                <a:solidFill>
                  <a:srgbClr val="123B32"/>
                </a:solidFill>
              </a:defRPr>
            </a:pPr>
            <a:r>
              <a:rPr sz="2400" b="1">
                <a:solidFill>
                  <a:srgbClr val="123B32"/>
                </a:solidFill>
              </a:rPr>
              <a:t>Verify and reuse</a:t>
            </a:r>
          </a:p>
        </p:txBody>
      </p:sp>
      <p:sp>
        <p:nvSpPr>
          <p:cNvPr id="12" name="">
            <a:extLst xmlns:a="http://schemas.openxmlformats.org/drawingml/2006/main">
              <a:ext uri="{FF2B5EF4-FFF2-40B4-BE49-F238E27FC236}">
                <a16:creationId xmlns:a16="http://schemas.microsoft.com/office/drawing/2014/main" id="{C43A59ED-B272-4DD2-B75C-7C12391ACAC7}"/>
              </a:ext>
            </a:extLst>
          </p:cNvPr>
          <p:cNvSpPr>
            <a:spLocks xmlns:a="http://schemas.openxmlformats.org/drawingml/2006/main" noGrp="1"/>
          </p:cNvSpPr>
          <p:nvPr/>
        </p:nvSpPr>
        <p:spPr>
          <a:xfrm xmlns:a="http://schemas.openxmlformats.org/drawingml/2006/main">
            <a:off x="8296275" y="3743325"/>
            <a:ext cx="3238500" cy="857250"/>
          </a:xfrm>
          <a:prstGeom xmlns:a="http://schemas.openxmlformats.org/drawingml/2006/main" prst="rect">
            <a:avLst/>
          </a:prstGeom>
          <a:solidFill xmlns:a="http://schemas.openxmlformats.org/drawingml/2006/main">
            <a:srgbClr val="DCE5D2"/>
          </a:solidFill>
          <a:ln xmlns:a="http://schemas.openxmlformats.org/drawingml/2006/main" w="12383">
            <a:solidFill>
              <a:srgbClr val="A2B5A4"/>
            </a:solidFill>
          </a:ln>
        </p:spPr>
      </p:sp>
      <p:sp>
        <p:nvSpPr>
          <p:cNvPr id="13" name="">
            <a:extLst xmlns:a="http://schemas.openxmlformats.org/drawingml/2006/main">
              <a:ext uri="{FF2B5EF4-FFF2-40B4-BE49-F238E27FC236}">
                <a16:creationId xmlns:a16="http://schemas.microsoft.com/office/drawing/2014/main" id="{2347A9AD-A215-43A0-8AD5-30070A70B75A}"/>
              </a:ext>
            </a:extLst>
          </p:cNvPr>
          <p:cNvSpPr>
            <a:spLocks xmlns:a="http://schemas.openxmlformats.org/drawingml/2006/main" noGrp="1"/>
          </p:cNvSpPr>
          <p:nvPr/>
        </p:nvSpPr>
        <p:spPr>
          <a:xfrm xmlns:a="http://schemas.openxmlformats.org/drawingml/2006/main">
            <a:off x="8458200" y="3895725"/>
            <a:ext cx="2914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23B32"/>
                </a:solidFill>
              </a:defRPr>
            </a:defPPr>
            <a:lvl1pPr>
              <a:buNone/>
              <a:defRPr sz="2850" b="1">
                <a:solidFill>
                  <a:srgbClr val="123B32"/>
                </a:solidFill>
              </a:defRPr>
            </a:lvl1pPr>
            <a:lvl2pPr>
              <a:buNone/>
              <a:defRPr sz="2850" b="1">
                <a:solidFill>
                  <a:srgbClr val="123B32"/>
                </a:solidFill>
              </a:defRPr>
            </a:lvl2pPr>
            <a:lvl3pPr>
              <a:buNone/>
              <a:defRPr sz="2850" b="1">
                <a:solidFill>
                  <a:srgbClr val="123B32"/>
                </a:solidFill>
              </a:defRPr>
            </a:lvl3pPr>
            <a:lvl4pPr>
              <a:buNone/>
              <a:defRPr sz="2850" b="1">
                <a:solidFill>
                  <a:srgbClr val="123B32"/>
                </a:solidFill>
              </a:defRPr>
            </a:lvl4pPr>
            <a:lvl5pPr>
              <a:buNone/>
              <a:defRPr sz="2850" b="1">
                <a:solidFill>
                  <a:srgbClr val="123B32"/>
                </a:solidFill>
              </a:defRPr>
            </a:lvl5pPr>
            <a:lvl6pPr>
              <a:buNone/>
              <a:defRPr sz="2850" b="1">
                <a:solidFill>
                  <a:srgbClr val="123B32"/>
                </a:solidFill>
              </a:defRPr>
            </a:lvl6pPr>
            <a:lvl7pPr>
              <a:buNone/>
              <a:defRPr sz="2850" b="1">
                <a:solidFill>
                  <a:srgbClr val="123B32"/>
                </a:solidFill>
              </a:defRPr>
            </a:lvl7pPr>
            <a:lvl8pPr>
              <a:buNone/>
              <a:defRPr sz="2850" b="1">
                <a:solidFill>
                  <a:srgbClr val="123B32"/>
                </a:solidFill>
              </a:defRPr>
            </a:lvl8pPr>
            <a:lvl9pPr>
              <a:buNone/>
              <a:defRPr sz="2850" b="1">
                <a:solidFill>
                  <a:srgbClr val="123B32"/>
                </a:solidFill>
              </a:defRPr>
            </a:lvl9pPr>
          </a:lstStyle>
          <a:p xmlns:a="http://schemas.openxmlformats.org/drawingml/2006/main">
            <a:pPr>
              <a:buNone/>
              <a:defRPr sz="2850" b="1">
                <a:solidFill>
                  <a:srgbClr val="123B32"/>
                </a:solidFill>
              </a:defRPr>
            </a:pPr>
            <a:r>
              <a:rPr sz="2850" b="1">
                <a:solidFill>
                  <a:srgbClr val="123B32"/>
                </a:solidFill>
              </a:rPr>
              <a:t>0 new vectors</a:t>
            </a:r>
          </a:p>
        </p:txBody>
      </p:sp>
      <p:sp>
        <p:nvSpPr>
          <p:cNvPr id="15" name="">
            <a:extLst xmlns:a="http://schemas.openxmlformats.org/drawingml/2006/main">
              <a:ext uri="{FF2B5EF4-FFF2-40B4-BE49-F238E27FC236}">
                <a16:creationId xmlns:a16="http://schemas.microsoft.com/office/drawing/2014/main" id="{8684918C-9676-4B1D-B935-956291EDDD6A}"/>
              </a:ext>
            </a:extLst>
          </p:cNvPr>
          <p:cNvSpPr>
            <a:spLocks xmlns:a="http://schemas.openxmlformats.org/drawingml/2006/main" noGrp="1"/>
          </p:cNvSpPr>
          <p:nvPr/>
        </p:nvSpPr>
        <p:spPr>
          <a:xfrm xmlns:a="http://schemas.openxmlformats.org/drawingml/2006/main">
            <a:off x="609600" y="53530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23B32"/>
                </a:solidFill>
              </a:defRPr>
            </a:defPPr>
            <a:lvl1pPr>
              <a:buNone/>
              <a:defRPr sz="2550" b="1">
                <a:solidFill>
                  <a:srgbClr val="123B32"/>
                </a:solidFill>
              </a:defRPr>
            </a:lvl1pPr>
            <a:lvl2pPr>
              <a:buNone/>
              <a:defRPr sz="2550" b="1">
                <a:solidFill>
                  <a:srgbClr val="123B32"/>
                </a:solidFill>
              </a:defRPr>
            </a:lvl2pPr>
            <a:lvl3pPr>
              <a:buNone/>
              <a:defRPr sz="2550" b="1">
                <a:solidFill>
                  <a:srgbClr val="123B32"/>
                </a:solidFill>
              </a:defRPr>
            </a:lvl3pPr>
            <a:lvl4pPr>
              <a:buNone/>
              <a:defRPr sz="2550" b="1">
                <a:solidFill>
                  <a:srgbClr val="123B32"/>
                </a:solidFill>
              </a:defRPr>
            </a:lvl4pPr>
            <a:lvl5pPr>
              <a:buNone/>
              <a:defRPr sz="2550" b="1">
                <a:solidFill>
                  <a:srgbClr val="123B32"/>
                </a:solidFill>
              </a:defRPr>
            </a:lvl5pPr>
            <a:lvl6pPr>
              <a:buNone/>
              <a:defRPr sz="2550" b="1">
                <a:solidFill>
                  <a:srgbClr val="123B32"/>
                </a:solidFill>
              </a:defRPr>
            </a:lvl6pPr>
            <a:lvl7pPr>
              <a:buNone/>
              <a:defRPr sz="2550" b="1">
                <a:solidFill>
                  <a:srgbClr val="123B32"/>
                </a:solidFill>
              </a:defRPr>
            </a:lvl7pPr>
            <a:lvl8pPr>
              <a:buNone/>
              <a:defRPr sz="2550" b="1">
                <a:solidFill>
                  <a:srgbClr val="123B32"/>
                </a:solidFill>
              </a:defRPr>
            </a:lvl8pPr>
            <a:lvl9pPr>
              <a:buNone/>
              <a:defRPr sz="2550" b="1">
                <a:solidFill>
                  <a:srgbClr val="123B32"/>
                </a:solidFill>
              </a:defRPr>
            </a:lvl9pPr>
          </a:lstStyle>
          <a:p xmlns:a="http://schemas.openxmlformats.org/drawingml/2006/main">
            <a:pPr>
              <a:buNone/>
              <a:defRPr sz="2550" b="1">
                <a:solidFill>
                  <a:srgbClr val="123B32"/>
                </a:solidFill>
              </a:defRPr>
            </a:pPr>
            <a:r>
              <a:rPr sz="2550" b="1">
                <a:solidFill>
                  <a:srgbClr val="123B32"/>
                </a:solidFill>
              </a:rPr>
              <a:t>16 steps / isolated storage / real CPU models</a:t>
            </a:r>
          </a:p>
        </p:txBody>
      </p:sp>
      <p:sp>
        <p:nvSpPr>
          <p:cNvPr id="16" name="">
            <a:extLst xmlns:a="http://schemas.openxmlformats.org/drawingml/2006/main">
              <a:ext uri="{FF2B5EF4-FFF2-40B4-BE49-F238E27FC236}">
                <a16:creationId xmlns:a16="http://schemas.microsoft.com/office/drawing/2014/main" id="{13016943-1DB6-487A-A414-0A455BA40F20}"/>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Reconciliation checks outcomes. This synthetic run is not a relevance benchmark.</a:t>
            </a:r>
          </a:p>
        </p:txBody>
      </p:sp>
    </p:spTree>
    <p:extLst>
      <p:ext uri="{BB962C8B-B14F-4D97-AF65-F5344CB8AC3E}">
        <p14:creationId xmlns:p14="http://schemas.microsoft.com/office/powerpoint/2010/main" val="2031277933"/>
      </p:ext>
    </p:extLst>
  </p:cSld>
</p:sld>
</file>

<file path=ppt/slides/slide23.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A951890-ACE1-4BAF-966F-C21C00A6F5C0}"/>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How we tested the pipeline</a:t>
            </a:r>
          </a:p>
        </p:txBody>
      </p:sp>
      <p:sp>
        <p:nvSpPr>
          <p:cNvPr id="2" name="">
            <a:extLst xmlns:a="http://schemas.openxmlformats.org/drawingml/2006/main">
              <a:ext uri="{FF2B5EF4-FFF2-40B4-BE49-F238E27FC236}">
                <a16:creationId xmlns:a16="http://schemas.microsoft.com/office/drawing/2014/main" id="{2DCC3776-C817-4BE6-AB5B-7DCAF2E46388}"/>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23</a:t>
            </a:r>
          </a:p>
        </p:txBody>
      </p:sp>
      <p:graphicFrame>
        <p:nvGraphicFramePr>
          <p:cNvPr id="3" name="">
            <a:extLst xmlns:a="http://schemas.openxmlformats.org/drawingml/2006/main">
              <a:ext uri="{FF2B5EF4-FFF2-40B4-BE49-F238E27FC236}">
                <a16:creationId xmlns:a16="http://schemas.microsoft.com/office/drawing/2014/main" id="{0810C8B9-EAD1-4796-86D2-34D82932E422}"/>
              </a:ext>
            </a:extLst>
          </p:cNvPr>
          <p:cNvGraphicFramePr/>
          <p:nvPr/>
        </p:nvGraphicFramePr>
        <p:xfrm>
          <a:off xmlns:a="http://schemas.openxmlformats.org/drawingml/2006/main" x="609600" y="1838325"/>
          <a:ext xmlns:a="http://schemas.openxmlformats.org/drawingml/2006/main" cx="10953750" cy="3333750"/>
        </p:xfrm>
        <a:graphic xmlns:a="http://schemas.openxmlformats.org/drawingml/2006/main">
          <a:graphicData uri="http://schemas.openxmlformats.org/drawingml/2006/table">
            <a:tbl>
              <a:tblPr/>
              <a:tblGrid>
                <a:gridCol w="2000250"/>
                <a:gridCol w="6048375"/>
                <a:gridCol w="2905125"/>
              </a:tblGrid>
              <a:tr h="666750">
                <a:tc>
                  <a:txBody>
                    <a:bodyPr/>
                    <a:lstStyle/>
                    <a:p>
                      <a:r>
                        <a:rPr sz="2025" b="1">
                          <a:solidFill>
                            <a:srgbClr val="F5F1E7"/>
                          </a:solidFill>
                          <a:latin typeface="Arial"/>
                          <a:ea typeface="Arial"/>
                          <a:cs typeface="Arial"/>
                        </a:rPr>
                        <a:t>Layer</a:t>
                      </a:r>
                    </a:p>
                  </a:txBody>
                  <a:tcPr marL="91440" marR="91440" marT="45720" marB="45720">
                    <a:lnL w="6668">
                      <a:solidFill>
                        <a:srgbClr val="A2B5A4"/>
                      </a:solidFill>
                      <a:prstDash val="solid"/>
                    </a:lnL>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Concrete check</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c>
                  <a:txBody>
                    <a:bodyPr/>
                    <a:lstStyle/>
                    <a:p>
                      <a:r>
                        <a:rPr sz="2025" b="1">
                          <a:solidFill>
                            <a:srgbClr val="F5F1E7"/>
                          </a:solidFill>
                          <a:latin typeface="Arial"/>
                          <a:ea typeface="Arial"/>
                          <a:cs typeface="Arial"/>
                        </a:rPr>
                        <a:t>Recorded result</a:t>
                      </a:r>
                    </a:p>
                  </a:txBody>
                  <a:tcPr marL="91440" marR="91440" marT="45720" marB="45720">
                    <a:lnR w="6668">
                      <a:solidFill>
                        <a:srgbClr val="A2B5A4"/>
                      </a:solidFill>
                      <a:prstDash val="solid"/>
                    </a:lnR>
                    <a:lnT w="6668">
                      <a:solidFill>
                        <a:srgbClr val="A2B5A4"/>
                      </a:solidFill>
                      <a:prstDash val="solid"/>
                    </a:lnT>
                    <a:lnB w="6668">
                      <a:solidFill>
                        <a:srgbClr val="A2B5A4"/>
                      </a:solidFill>
                      <a:prstDash val="solid"/>
                    </a:lnB>
                    <a:solidFill>
                      <a:srgbClr val="123B32"/>
                    </a:solidFill>
                  </a:tcPr>
                </a:tc>
              </a:tr>
              <a:tr h="666750">
                <a:tc>
                  <a:txBody>
                    <a:bodyPr/>
                    <a:lstStyle/>
                    <a:p>
                      <a:r>
                        <a:rPr sz="1950">
                          <a:solidFill>
                            <a:srgbClr val="123B32"/>
                          </a:solidFill>
                          <a:latin typeface="Arial"/>
                          <a:ea typeface="Arial"/>
                          <a:cs typeface="Arial"/>
                        </a:rPr>
                        <a:t>Offline</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Input limits, recovery and stored-state checks</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469 tests passed</a:t>
                      </a:r>
                    </a:p>
                  </a:txBody>
                  <a:tcPr marL="91440" marR="91440" marT="45720" marB="45720">
                    <a:lnR w="6668">
                      <a:solidFill>
                        <a:srgbClr val="A2B5A4"/>
                      </a:solidFill>
                      <a:prstDash val="solid"/>
                    </a:lnR>
                    <a:lnB w="6668">
                      <a:solidFill>
                        <a:srgbClr val="A2B5A4"/>
                      </a:solidFill>
                      <a:prstDash val="solid"/>
                    </a:lnB>
                    <a:solidFill>
                      <a:srgbClr val="F5F1E7"/>
                    </a:solidFill>
                  </a:tcPr>
                </a:tc>
              </a:tr>
              <a:tr h="666750">
                <a:tc>
                  <a:txBody>
                    <a:bodyPr/>
                    <a:lstStyle/>
                    <a:p>
                      <a:r>
                        <a:rPr sz="1950">
                          <a:solidFill>
                            <a:srgbClr val="123B32"/>
                          </a:solidFill>
                          <a:latin typeface="Arial"/>
                          <a:ea typeface="Arial"/>
                          <a:cs typeface="Arial"/>
                        </a:rPr>
                        <a:t>Integration</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All zones twice, deterministic encoders</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1 earlier test passed</a:t>
                      </a:r>
                    </a:p>
                  </a:txBody>
                  <a:tcPr marL="91440" marR="91440" marT="45720" marB="45720">
                    <a:lnR w="6668">
                      <a:solidFill>
                        <a:srgbClr val="A2B5A4"/>
                      </a:solidFill>
                      <a:prstDash val="solid"/>
                    </a:lnR>
                    <a:lnB w="6668">
                      <a:solidFill>
                        <a:srgbClr val="A2B5A4"/>
                      </a:solidFill>
                      <a:prstDash val="solid"/>
                    </a:lnB>
                    <a:solidFill>
                      <a:srgbClr val="F5F1E7"/>
                    </a:solidFill>
                  </a:tcPr>
                </a:tc>
              </a:tr>
              <a:tr h="666750">
                <a:tc>
                  <a:txBody>
                    <a:bodyPr/>
                    <a:lstStyle/>
                    <a:p>
                      <a:r>
                        <a:rPr sz="1950">
                          <a:solidFill>
                            <a:srgbClr val="123B32"/>
                          </a:solidFill>
                          <a:latin typeface="Arial"/>
                          <a:ea typeface="Arial"/>
                          <a:cs typeface="Arial"/>
                        </a:rPr>
                        <a:t>CPU CLI</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Real decoders and cached models</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7 vectors, then 0 new</a:t>
                      </a:r>
                    </a:p>
                  </a:txBody>
                  <a:tcPr marL="91440" marR="91440" marT="45720" marB="45720">
                    <a:lnR w="6668">
                      <a:solidFill>
                        <a:srgbClr val="A2B5A4"/>
                      </a:solidFill>
                      <a:prstDash val="solid"/>
                    </a:lnR>
                    <a:lnB w="6668">
                      <a:solidFill>
                        <a:srgbClr val="A2B5A4"/>
                      </a:solidFill>
                      <a:prstDash val="solid"/>
                    </a:lnB>
                    <a:solidFill>
                      <a:srgbClr val="F5F1E7"/>
                    </a:solidFill>
                  </a:tcPr>
                </a:tc>
              </a:tr>
              <a:tr h="666750">
                <a:tc>
                  <a:txBody>
                    <a:bodyPr/>
                    <a:lstStyle/>
                    <a:p>
                      <a:r>
                        <a:rPr sz="1950">
                          <a:solidFill>
                            <a:srgbClr val="123B32"/>
                          </a:solidFill>
                          <a:latin typeface="Arial"/>
                          <a:ea typeface="Arial"/>
                          <a:cs typeface="Arial"/>
                        </a:rPr>
                        <a:t>Browser</a:t>
                      </a:r>
                    </a:p>
                  </a:txBody>
                  <a:tcPr marL="91440" marR="91440" marT="45720" marB="45720">
                    <a:lnL w="6668">
                      <a:solidFill>
                        <a:srgbClr val="A2B5A4"/>
                      </a:solidFill>
                      <a:prstDash val="solid"/>
                    </a:lnL>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Selected top-k reaches HTTP handlers</a:t>
                      </a:r>
                    </a:p>
                  </a:txBody>
                  <a:tcPr marL="91440" marR="91440" marT="45720" marB="45720">
                    <a:lnR w="6668">
                      <a:solidFill>
                        <a:srgbClr val="A2B5A4"/>
                      </a:solidFill>
                      <a:prstDash val="solid"/>
                    </a:lnR>
                    <a:lnB w="6668">
                      <a:solidFill>
                        <a:srgbClr val="A2B5A4"/>
                      </a:solidFill>
                      <a:prstDash val="solid"/>
                    </a:lnB>
                    <a:solidFill>
                      <a:srgbClr val="F5F1E7"/>
                    </a:solidFill>
                  </a:tcPr>
                </a:tc>
                <a:tc>
                  <a:txBody>
                    <a:bodyPr/>
                    <a:lstStyle/>
                    <a:p>
                      <a:r>
                        <a:rPr sz="1950">
                          <a:solidFill>
                            <a:srgbClr val="123B32"/>
                          </a:solidFill>
                          <a:latin typeface="Arial"/>
                          <a:ea typeface="Arial"/>
                          <a:cs typeface="Arial"/>
                        </a:rPr>
                        <a:t>8 earlier checks passed</a:t>
                      </a:r>
                    </a:p>
                  </a:txBody>
                  <a:tcPr marL="91440" marR="91440" marT="45720" marB="45720">
                    <a:lnR w="6668">
                      <a:solidFill>
                        <a:srgbClr val="A2B5A4"/>
                      </a:solidFill>
                      <a:prstDash val="solid"/>
                    </a:lnR>
                    <a:lnB w="6668">
                      <a:solidFill>
                        <a:srgbClr val="A2B5A4"/>
                      </a:solidFill>
                      <a:prstDash val="solid"/>
                    </a:lnB>
                    <a:solidFill>
                      <a:srgbClr val="F5F1E7"/>
                    </a:solidFill>
                  </a:tcPr>
                </a:tc>
              </a:tr>
            </a:tbl>
          </a:graphicData>
        </a:graphic>
      </p:graphicFrame>
      <p:sp>
        <p:nvSpPr>
          <p:cNvPr id="4" name="">
            <a:extLst xmlns:a="http://schemas.openxmlformats.org/drawingml/2006/main">
              <a:ext uri="{FF2B5EF4-FFF2-40B4-BE49-F238E27FC236}">
                <a16:creationId xmlns:a16="http://schemas.microsoft.com/office/drawing/2014/main" id="{368C8D5A-F764-4584-9985-68EC2FA9EDEF}"/>
              </a:ext>
            </a:extLst>
          </p:cNvPr>
          <p:cNvSpPr>
            <a:spLocks xmlns:a="http://schemas.openxmlformats.org/drawingml/2006/main" noGrp="1"/>
          </p:cNvSpPr>
          <p:nvPr/>
        </p:nvSpPr>
        <p:spPr>
          <a:xfrm xmlns:a="http://schemas.openxmlformats.org/drawingml/2006/main">
            <a:off x="619125" y="53911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Failure assertions inspect stored state and recovery</a:t>
            </a:r>
          </a:p>
        </p:txBody>
      </p:sp>
      <p:sp>
        <p:nvSpPr>
          <p:cNvPr id="5" name="">
            <a:extLst xmlns:a="http://schemas.openxmlformats.org/drawingml/2006/main">
              <a:ext uri="{FF2B5EF4-FFF2-40B4-BE49-F238E27FC236}">
                <a16:creationId xmlns:a16="http://schemas.microsoft.com/office/drawing/2014/main" id="{79295902-6171-4F51-89D6-3558392E54FA}"/>
              </a:ext>
            </a:extLst>
          </p:cNvPr>
          <p:cNvSpPr>
            <a:spLocks xmlns:a="http://schemas.openxmlformats.org/drawingml/2006/main" noGrp="1"/>
          </p:cNvSpPr>
          <p:nvPr/>
        </p:nvSpPr>
        <p:spPr>
          <a:xfrm xmlns:a="http://schemas.openxmlformats.org/drawingml/2006/main">
            <a:off x="619125" y="6038850"/>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32 added cases: source conflicts, preserved outputs, incomplete vectors, 64/65 boundary</a:t>
            </a:r>
          </a:p>
        </p:txBody>
      </p:sp>
    </p:spTree>
    <p:extLst>
      <p:ext uri="{BB962C8B-B14F-4D97-AF65-F5344CB8AC3E}">
        <p14:creationId xmlns:p14="http://schemas.microsoft.com/office/powerpoint/2010/main" val="1520255783"/>
      </p:ext>
    </p:extLst>
  </p:cSld>
</p:sld>
</file>

<file path=ppt/slides/slide24.xml><?xml version="1.0" encoding="utf-8"?>
<p:sld xmlns:p="http://schemas.openxmlformats.org/presentationml/2006/main">
  <p:cSld>
    <p:bg>
      <p:bgPr>
        <a:solidFill xmlns:a="http://schemas.openxmlformats.org/drawingml/2006/main">
          <a:srgbClr val="F5F1E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42326E-6CE2-475C-8B94-A15176378C2B}"/>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123B32"/>
                </a:solidFill>
              </a:defRPr>
            </a:defPPr>
            <a:lvl1pPr>
              <a:buNone/>
              <a:defRPr sz="3375" b="1">
                <a:solidFill>
                  <a:srgbClr val="123B32"/>
                </a:solidFill>
              </a:defRPr>
            </a:lvl1pPr>
            <a:lvl2pPr>
              <a:buNone/>
              <a:defRPr sz="3375" b="1">
                <a:solidFill>
                  <a:srgbClr val="123B32"/>
                </a:solidFill>
              </a:defRPr>
            </a:lvl2pPr>
            <a:lvl3pPr>
              <a:buNone/>
              <a:defRPr sz="3375" b="1">
                <a:solidFill>
                  <a:srgbClr val="123B32"/>
                </a:solidFill>
              </a:defRPr>
            </a:lvl3pPr>
            <a:lvl4pPr>
              <a:buNone/>
              <a:defRPr sz="3375" b="1">
                <a:solidFill>
                  <a:srgbClr val="123B32"/>
                </a:solidFill>
              </a:defRPr>
            </a:lvl4pPr>
            <a:lvl5pPr>
              <a:buNone/>
              <a:defRPr sz="3375" b="1">
                <a:solidFill>
                  <a:srgbClr val="123B32"/>
                </a:solidFill>
              </a:defRPr>
            </a:lvl5pPr>
            <a:lvl6pPr>
              <a:buNone/>
              <a:defRPr sz="3375" b="1">
                <a:solidFill>
                  <a:srgbClr val="123B32"/>
                </a:solidFill>
              </a:defRPr>
            </a:lvl6pPr>
            <a:lvl7pPr>
              <a:buNone/>
              <a:defRPr sz="3375" b="1">
                <a:solidFill>
                  <a:srgbClr val="123B32"/>
                </a:solidFill>
              </a:defRPr>
            </a:lvl7pPr>
            <a:lvl8pPr>
              <a:buNone/>
              <a:defRPr sz="3375" b="1">
                <a:solidFill>
                  <a:srgbClr val="123B32"/>
                </a:solidFill>
              </a:defRPr>
            </a:lvl8pPr>
            <a:lvl9pPr>
              <a:buNone/>
              <a:defRPr sz="3375" b="1">
                <a:solidFill>
                  <a:srgbClr val="123B32"/>
                </a:solidFill>
              </a:defRPr>
            </a:lvl9pPr>
          </a:lstStyle>
          <a:p xmlns:a="http://schemas.openxmlformats.org/drawingml/2006/main">
            <a:pPr>
              <a:buNone/>
              <a:defRPr sz="3375" b="1">
                <a:solidFill>
                  <a:srgbClr val="123B32"/>
                </a:solidFill>
              </a:defRPr>
            </a:pPr>
            <a:r>
              <a:rPr sz="3375" b="1">
                <a:solidFill>
                  <a:srgbClr val="123B32"/>
                </a:solidFill>
              </a:rPr>
              <a:t>An input can fail before it reaches storage</a:t>
            </a:r>
          </a:p>
        </p:txBody>
      </p:sp>
      <p:sp>
        <p:nvSpPr>
          <p:cNvPr id="2" name="">
            <a:extLst xmlns:a="http://schemas.openxmlformats.org/drawingml/2006/main">
              <a:ext uri="{FF2B5EF4-FFF2-40B4-BE49-F238E27FC236}">
                <a16:creationId xmlns:a16="http://schemas.microsoft.com/office/drawing/2014/main" id="{32676920-FC46-49FE-A751-6281B52D5589}"/>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2675C"/>
                </a:solidFill>
              </a:defRPr>
            </a:defPPr>
            <a:lvl1pPr>
              <a:buNone/>
              <a:defRPr sz="1425" b="0">
                <a:solidFill>
                  <a:srgbClr val="52675C"/>
                </a:solidFill>
              </a:defRPr>
            </a:lvl1pPr>
            <a:lvl2pPr>
              <a:buNone/>
              <a:defRPr sz="1425" b="0">
                <a:solidFill>
                  <a:srgbClr val="52675C"/>
                </a:solidFill>
              </a:defRPr>
            </a:lvl2pPr>
            <a:lvl3pPr>
              <a:buNone/>
              <a:defRPr sz="1425" b="0">
                <a:solidFill>
                  <a:srgbClr val="52675C"/>
                </a:solidFill>
              </a:defRPr>
            </a:lvl3pPr>
            <a:lvl4pPr>
              <a:buNone/>
              <a:defRPr sz="1425" b="0">
                <a:solidFill>
                  <a:srgbClr val="52675C"/>
                </a:solidFill>
              </a:defRPr>
            </a:lvl4pPr>
            <a:lvl5pPr>
              <a:buNone/>
              <a:defRPr sz="1425" b="0">
                <a:solidFill>
                  <a:srgbClr val="52675C"/>
                </a:solidFill>
              </a:defRPr>
            </a:lvl5pPr>
            <a:lvl6pPr>
              <a:buNone/>
              <a:defRPr sz="1425" b="0">
                <a:solidFill>
                  <a:srgbClr val="52675C"/>
                </a:solidFill>
              </a:defRPr>
            </a:lvl6pPr>
            <a:lvl7pPr>
              <a:buNone/>
              <a:defRPr sz="1425" b="0">
                <a:solidFill>
                  <a:srgbClr val="52675C"/>
                </a:solidFill>
              </a:defRPr>
            </a:lvl7pPr>
            <a:lvl8pPr>
              <a:buNone/>
              <a:defRPr sz="1425" b="0">
                <a:solidFill>
                  <a:srgbClr val="52675C"/>
                </a:solidFill>
              </a:defRPr>
            </a:lvl8pPr>
            <a:lvl9pPr>
              <a:buNone/>
              <a:defRPr sz="1425" b="0">
                <a:solidFill>
                  <a:srgbClr val="52675C"/>
                </a:solidFill>
              </a:defRPr>
            </a:lvl9pPr>
          </a:lstStyle>
          <a:p xmlns:a="http://schemas.openxmlformats.org/drawingml/2006/main">
            <a:pPr>
              <a:buNone/>
              <a:defRPr sz="1425" b="0">
                <a:solidFill>
                  <a:srgbClr val="52675C"/>
                </a:solidFill>
              </a:defRPr>
            </a:pPr>
            <a:r>
              <a:rPr sz="1425" b="0">
                <a:solidFill>
                  <a:srgbClr val="52675C"/>
                </a:solidFill>
              </a:rPr>
              <a:t>24</a:t>
            </a:r>
          </a:p>
        </p:txBody>
      </p:sp>
      <p:sp>
        <p:nvSpPr>
          <p:cNvPr id="3" name="">
            <a:extLst xmlns:a="http://schemas.openxmlformats.org/drawingml/2006/main">
              <a:ext uri="{FF2B5EF4-FFF2-40B4-BE49-F238E27FC236}">
                <a16:creationId xmlns:a16="http://schemas.microsoft.com/office/drawing/2014/main" id="{F26D9385-A37F-4D1E-9E7C-8B8EF48C5E3F}"/>
              </a:ext>
            </a:extLst>
          </p:cNvPr>
          <p:cNvSpPr>
            <a:spLocks xmlns:a="http://schemas.openxmlformats.org/drawingml/2006/main" noGrp="1"/>
          </p:cNvSpPr>
          <p:nvPr/>
        </p:nvSpPr>
        <p:spPr>
          <a:xfrm xmlns:a="http://schemas.openxmlformats.org/drawingml/2006/main">
            <a:off x="609600" y="1743075"/>
            <a:ext cx="657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23B32"/>
                </a:solidFill>
              </a:defRPr>
            </a:defPPr>
            <a:lvl1pPr>
              <a:buNone/>
              <a:defRPr sz="3450" b="1">
                <a:solidFill>
                  <a:srgbClr val="123B32"/>
                </a:solidFill>
              </a:defRPr>
            </a:lvl1pPr>
            <a:lvl2pPr>
              <a:buNone/>
              <a:defRPr sz="3450" b="1">
                <a:solidFill>
                  <a:srgbClr val="123B32"/>
                </a:solidFill>
              </a:defRPr>
            </a:lvl2pPr>
            <a:lvl3pPr>
              <a:buNone/>
              <a:defRPr sz="3450" b="1">
                <a:solidFill>
                  <a:srgbClr val="123B32"/>
                </a:solidFill>
              </a:defRPr>
            </a:lvl3pPr>
            <a:lvl4pPr>
              <a:buNone/>
              <a:defRPr sz="3450" b="1">
                <a:solidFill>
                  <a:srgbClr val="123B32"/>
                </a:solidFill>
              </a:defRPr>
            </a:lvl4pPr>
            <a:lvl5pPr>
              <a:buNone/>
              <a:defRPr sz="3450" b="1">
                <a:solidFill>
                  <a:srgbClr val="123B32"/>
                </a:solidFill>
              </a:defRPr>
            </a:lvl5pPr>
            <a:lvl6pPr>
              <a:buNone/>
              <a:defRPr sz="3450" b="1">
                <a:solidFill>
                  <a:srgbClr val="123B32"/>
                </a:solidFill>
              </a:defRPr>
            </a:lvl6pPr>
            <a:lvl7pPr>
              <a:buNone/>
              <a:defRPr sz="3450" b="1">
                <a:solidFill>
                  <a:srgbClr val="123B32"/>
                </a:solidFill>
              </a:defRPr>
            </a:lvl7pPr>
            <a:lvl8pPr>
              <a:buNone/>
              <a:defRPr sz="3450" b="1">
                <a:solidFill>
                  <a:srgbClr val="123B32"/>
                </a:solidFill>
              </a:defRPr>
            </a:lvl8pPr>
            <a:lvl9pPr>
              <a:buNone/>
              <a:defRPr sz="3450" b="1">
                <a:solidFill>
                  <a:srgbClr val="123B32"/>
                </a:solidFill>
              </a:defRPr>
            </a:lvl9pPr>
          </a:lstStyle>
          <a:p xmlns:a="http://schemas.openxmlformats.org/drawingml/2006/main">
            <a:pPr>
              <a:buNone/>
              <a:defRPr sz="3450" b="1">
                <a:solidFill>
                  <a:srgbClr val="123B32"/>
                </a:solidFill>
              </a:defRPr>
            </a:pPr>
            <a:r>
              <a:rPr sz="3450" b="1">
                <a:solidFill>
                  <a:srgbClr val="123B32"/>
                </a:solidFill>
              </a:rPr>
              <a:t>lynx.jpg</a:t>
            </a:r>
          </a:p>
        </p:txBody>
      </p:sp>
      <p:sp>
        <p:nvSpPr>
          <p:cNvPr id="4" name="">
            <a:extLst xmlns:a="http://schemas.openxmlformats.org/drawingml/2006/main">
              <a:ext uri="{FF2B5EF4-FFF2-40B4-BE49-F238E27FC236}">
                <a16:creationId xmlns:a16="http://schemas.microsoft.com/office/drawing/2014/main" id="{303BFD1E-3BB9-4BB9-97D8-D6E0E9661AD2}"/>
              </a:ext>
            </a:extLst>
          </p:cNvPr>
          <p:cNvSpPr>
            <a:spLocks xmlns:a="http://schemas.openxmlformats.org/drawingml/2006/main" noGrp="1"/>
          </p:cNvSpPr>
          <p:nvPr/>
        </p:nvSpPr>
        <p:spPr>
          <a:xfrm xmlns:a="http://schemas.openxmlformats.org/drawingml/2006/main">
            <a:off x="628650" y="2457450"/>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2675C"/>
                </a:solidFill>
              </a:defRPr>
            </a:defPPr>
            <a:lvl1pPr>
              <a:buNone/>
              <a:defRPr sz="2175" b="0">
                <a:solidFill>
                  <a:srgbClr val="52675C"/>
                </a:solidFill>
              </a:defRPr>
            </a:lvl1pPr>
            <a:lvl2pPr>
              <a:buNone/>
              <a:defRPr sz="2175" b="0">
                <a:solidFill>
                  <a:srgbClr val="52675C"/>
                </a:solidFill>
              </a:defRPr>
            </a:lvl2pPr>
            <a:lvl3pPr>
              <a:buNone/>
              <a:defRPr sz="2175" b="0">
                <a:solidFill>
                  <a:srgbClr val="52675C"/>
                </a:solidFill>
              </a:defRPr>
            </a:lvl3pPr>
            <a:lvl4pPr>
              <a:buNone/>
              <a:defRPr sz="2175" b="0">
                <a:solidFill>
                  <a:srgbClr val="52675C"/>
                </a:solidFill>
              </a:defRPr>
            </a:lvl4pPr>
            <a:lvl5pPr>
              <a:buNone/>
              <a:defRPr sz="2175" b="0">
                <a:solidFill>
                  <a:srgbClr val="52675C"/>
                </a:solidFill>
              </a:defRPr>
            </a:lvl5pPr>
            <a:lvl6pPr>
              <a:buNone/>
              <a:defRPr sz="2175" b="0">
                <a:solidFill>
                  <a:srgbClr val="52675C"/>
                </a:solidFill>
              </a:defRPr>
            </a:lvl6pPr>
            <a:lvl7pPr>
              <a:buNone/>
              <a:defRPr sz="2175" b="0">
                <a:solidFill>
                  <a:srgbClr val="52675C"/>
                </a:solidFill>
              </a:defRPr>
            </a:lvl7pPr>
            <a:lvl8pPr>
              <a:buNone/>
              <a:defRPr sz="2175" b="0">
                <a:solidFill>
                  <a:srgbClr val="52675C"/>
                </a:solidFill>
              </a:defRPr>
            </a:lvl8pPr>
            <a:lvl9pPr>
              <a:buNone/>
              <a:defRPr sz="2175" b="0">
                <a:solidFill>
                  <a:srgbClr val="52675C"/>
                </a:solidFill>
              </a:defRPr>
            </a:lvl9pPr>
          </a:lstStyle>
          <a:p xmlns:a="http://schemas.openxmlformats.org/drawingml/2006/main">
            <a:pPr>
              <a:buNone/>
              <a:defRPr sz="2175" b="0">
                <a:solidFill>
                  <a:srgbClr val="52675C"/>
                </a:solidFill>
              </a:defRPr>
            </a:pPr>
            <a:r>
              <a:rPr sz="2175" b="0">
                <a:solidFill>
                  <a:srgbClr val="52675C"/>
                </a:solidFill>
              </a:rPr>
              <a:t>Harmless MZ header / synthetic fixture</a:t>
            </a:r>
          </a:p>
        </p:txBody>
      </p:sp>
      <p:sp>
        <p:nvSpPr>
          <p:cNvPr id="5" name="">
            <a:extLst xmlns:a="http://schemas.openxmlformats.org/drawingml/2006/main">
              <a:ext uri="{FF2B5EF4-FFF2-40B4-BE49-F238E27FC236}">
                <a16:creationId xmlns:a16="http://schemas.microsoft.com/office/drawing/2014/main" id="{D210F506-6DB2-4D5A-BC61-82592CED91C1}"/>
              </a:ext>
            </a:extLst>
          </p:cNvPr>
          <p:cNvSpPr>
            <a:spLocks xmlns:a="http://schemas.openxmlformats.org/drawingml/2006/main" noGrp="1"/>
          </p:cNvSpPr>
          <p:nvPr/>
        </p:nvSpPr>
        <p:spPr>
          <a:xfrm xmlns:a="http://schemas.openxmlformats.org/drawingml/2006/main">
            <a:off x="609600" y="3343275"/>
            <a:ext cx="3810000" cy="952500"/>
          </a:xfrm>
          <a:prstGeom xmlns:a="http://schemas.openxmlformats.org/drawingml/2006/main" prst="rect">
            <a:avLst/>
          </a:prstGeom>
          <a:solidFill xmlns:a="http://schemas.openxmlformats.org/drawingml/2006/main">
            <a:srgbClr val="123B32"/>
          </a:solidFill>
          <a:ln xmlns:a="http://schemas.openxmlformats.org/drawingml/2006/main" w="12383">
            <a:solidFill>
              <a:srgbClr val="A2B5A4"/>
            </a:solidFill>
          </a:ln>
        </p:spPr>
      </p:sp>
      <p:sp>
        <p:nvSpPr>
          <p:cNvPr id="6" name="">
            <a:extLst xmlns:a="http://schemas.openxmlformats.org/drawingml/2006/main">
              <a:ext uri="{FF2B5EF4-FFF2-40B4-BE49-F238E27FC236}">
                <a16:creationId xmlns:a16="http://schemas.microsoft.com/office/drawing/2014/main" id="{9666CFA2-3B2D-4991-8077-DCD443694C9C}"/>
              </a:ext>
            </a:extLst>
          </p:cNvPr>
          <p:cNvSpPr>
            <a:spLocks xmlns:a="http://schemas.openxmlformats.org/drawingml/2006/main" noGrp="1"/>
          </p:cNvSpPr>
          <p:nvPr/>
        </p:nvSpPr>
        <p:spPr>
          <a:xfrm xmlns:a="http://schemas.openxmlformats.org/drawingml/2006/main">
            <a:off x="771525" y="3495675"/>
            <a:ext cx="34861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F5F1E7"/>
                </a:solidFill>
              </a:defRPr>
            </a:defPPr>
            <a:lvl1pPr>
              <a:buNone/>
              <a:defRPr sz="3675" b="1">
                <a:solidFill>
                  <a:srgbClr val="F5F1E7"/>
                </a:solidFill>
              </a:defRPr>
            </a:lvl1pPr>
            <a:lvl2pPr>
              <a:buNone/>
              <a:defRPr sz="3675" b="1">
                <a:solidFill>
                  <a:srgbClr val="F5F1E7"/>
                </a:solidFill>
              </a:defRPr>
            </a:lvl2pPr>
            <a:lvl3pPr>
              <a:buNone/>
              <a:defRPr sz="3675" b="1">
                <a:solidFill>
                  <a:srgbClr val="F5F1E7"/>
                </a:solidFill>
              </a:defRPr>
            </a:lvl3pPr>
            <a:lvl4pPr>
              <a:buNone/>
              <a:defRPr sz="3675" b="1">
                <a:solidFill>
                  <a:srgbClr val="F5F1E7"/>
                </a:solidFill>
              </a:defRPr>
            </a:lvl4pPr>
            <a:lvl5pPr>
              <a:buNone/>
              <a:defRPr sz="3675" b="1">
                <a:solidFill>
                  <a:srgbClr val="F5F1E7"/>
                </a:solidFill>
              </a:defRPr>
            </a:lvl5pPr>
            <a:lvl6pPr>
              <a:buNone/>
              <a:defRPr sz="3675" b="1">
                <a:solidFill>
                  <a:srgbClr val="F5F1E7"/>
                </a:solidFill>
              </a:defRPr>
            </a:lvl6pPr>
            <a:lvl7pPr>
              <a:buNone/>
              <a:defRPr sz="3675" b="1">
                <a:solidFill>
                  <a:srgbClr val="F5F1E7"/>
                </a:solidFill>
              </a:defRPr>
            </a:lvl7pPr>
            <a:lvl8pPr>
              <a:buNone/>
              <a:defRPr sz="3675" b="1">
                <a:solidFill>
                  <a:srgbClr val="F5F1E7"/>
                </a:solidFill>
              </a:defRPr>
            </a:lvl8pPr>
            <a:lvl9pPr>
              <a:buNone/>
              <a:defRPr sz="3675" b="1">
                <a:solidFill>
                  <a:srgbClr val="F5F1E7"/>
                </a:solidFill>
              </a:defRPr>
            </a:lvl9pPr>
          </a:lstStyle>
          <a:p xmlns:a="http://schemas.openxmlformats.org/drawingml/2006/main">
            <a:pPr>
              <a:buNone/>
              <a:defRPr sz="3675" b="1">
                <a:solidFill>
                  <a:srgbClr val="F5F1E7"/>
                </a:solidFill>
              </a:defRPr>
            </a:pPr>
            <a:r>
              <a:rPr sz="3675" b="1">
                <a:solidFill>
                  <a:srgbClr val="F5F1E7"/>
                </a:solidFill>
              </a:rPr>
              <a:t>BLOCKED</a:t>
            </a:r>
          </a:p>
        </p:txBody>
      </p:sp>
      <p:sp>
        <p:nvSpPr>
          <p:cNvPr id="7" name="">
            <a:extLst xmlns:a="http://schemas.openxmlformats.org/drawingml/2006/main">
              <a:ext uri="{FF2B5EF4-FFF2-40B4-BE49-F238E27FC236}">
                <a16:creationId xmlns:a16="http://schemas.microsoft.com/office/drawing/2014/main" id="{6A04BDD6-2BF7-41BC-B948-E7161697E9CF}"/>
              </a:ext>
            </a:extLst>
          </p:cNvPr>
          <p:cNvSpPr>
            <a:spLocks xmlns:a="http://schemas.openxmlformats.org/drawingml/2006/main" noGrp="1"/>
          </p:cNvSpPr>
          <p:nvPr/>
        </p:nvSpPr>
        <p:spPr>
          <a:xfrm xmlns:a="http://schemas.openxmlformats.org/drawingml/2006/main">
            <a:off x="619125" y="4676775"/>
            <a:ext cx="638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23B32"/>
                </a:solidFill>
              </a:defRPr>
            </a:defPPr>
            <a:lvl1pPr>
              <a:buNone/>
              <a:defRPr sz="2475" b="1">
                <a:solidFill>
                  <a:srgbClr val="123B32"/>
                </a:solidFill>
              </a:defRPr>
            </a:lvl1pPr>
            <a:lvl2pPr>
              <a:buNone/>
              <a:defRPr sz="2475" b="1">
                <a:solidFill>
                  <a:srgbClr val="123B32"/>
                </a:solidFill>
              </a:defRPr>
            </a:lvl2pPr>
            <a:lvl3pPr>
              <a:buNone/>
              <a:defRPr sz="2475" b="1">
                <a:solidFill>
                  <a:srgbClr val="123B32"/>
                </a:solidFill>
              </a:defRPr>
            </a:lvl3pPr>
            <a:lvl4pPr>
              <a:buNone/>
              <a:defRPr sz="2475" b="1">
                <a:solidFill>
                  <a:srgbClr val="123B32"/>
                </a:solidFill>
              </a:defRPr>
            </a:lvl4pPr>
            <a:lvl5pPr>
              <a:buNone/>
              <a:defRPr sz="2475" b="1">
                <a:solidFill>
                  <a:srgbClr val="123B32"/>
                </a:solidFill>
              </a:defRPr>
            </a:lvl5pPr>
            <a:lvl6pPr>
              <a:buNone/>
              <a:defRPr sz="2475" b="1">
                <a:solidFill>
                  <a:srgbClr val="123B32"/>
                </a:solidFill>
              </a:defRPr>
            </a:lvl6pPr>
            <a:lvl7pPr>
              <a:buNone/>
              <a:defRPr sz="2475" b="1">
                <a:solidFill>
                  <a:srgbClr val="123B32"/>
                </a:solidFill>
              </a:defRPr>
            </a:lvl7pPr>
            <a:lvl8pPr>
              <a:buNone/>
              <a:defRPr sz="2475" b="1">
                <a:solidFill>
                  <a:srgbClr val="123B32"/>
                </a:solidFill>
              </a:defRPr>
            </a:lvl8pPr>
            <a:lvl9pPr>
              <a:buNone/>
              <a:defRPr sz="2475" b="1">
                <a:solidFill>
                  <a:srgbClr val="123B32"/>
                </a:solidFill>
              </a:defRPr>
            </a:lvl9pPr>
          </a:lstStyle>
          <a:p xmlns:a="http://schemas.openxmlformats.org/drawingml/2006/main">
            <a:pPr>
              <a:buNone/>
              <a:defRPr sz="2475" b="1">
                <a:solidFill>
                  <a:srgbClr val="123B32"/>
                </a:solidFill>
              </a:defRPr>
            </a:pPr>
            <a:r>
              <a:rPr sz="2475" b="1">
                <a:solidFill>
                  <a:srgbClr val="123B32"/>
                </a:solidFill>
              </a:rPr>
              <a:t>Before hashing or upload</a:t>
            </a:r>
          </a:p>
        </p:txBody>
      </p:sp>
      <p:sp>
        <p:nvSpPr>
          <p:cNvPr id="8" name="">
            <a:extLst xmlns:a="http://schemas.openxmlformats.org/drawingml/2006/main">
              <a:ext uri="{FF2B5EF4-FFF2-40B4-BE49-F238E27FC236}">
                <a16:creationId xmlns:a16="http://schemas.microsoft.com/office/drawing/2014/main" id="{DB03E698-9CC4-4012-877A-66837DC08638}"/>
              </a:ext>
            </a:extLst>
          </p:cNvPr>
          <p:cNvSpPr>
            <a:spLocks xmlns:a="http://schemas.openxmlformats.org/drawingml/2006/main" noGrp="1"/>
          </p:cNvSpPr>
          <p:nvPr/>
        </p:nvSpPr>
        <p:spPr>
          <a:xfrm xmlns:a="http://schemas.openxmlformats.org/drawingml/2006/main">
            <a:off x="7620000" y="1866900"/>
            <a:ext cx="394335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B85D35"/>
                </a:solidFill>
              </a:defRPr>
            </a:defPPr>
            <a:lvl1pPr>
              <a:buNone/>
              <a:defRPr sz="2250" b="0">
                <a:solidFill>
                  <a:srgbClr val="B85D35"/>
                </a:solidFill>
              </a:defRPr>
            </a:lvl1pPr>
            <a:lvl2pPr>
              <a:buNone/>
              <a:defRPr sz="2250" b="0">
                <a:solidFill>
                  <a:srgbClr val="B85D35"/>
                </a:solidFill>
              </a:defRPr>
            </a:lvl2pPr>
            <a:lvl3pPr>
              <a:buNone/>
              <a:defRPr sz="2250" b="0">
                <a:solidFill>
                  <a:srgbClr val="B85D35"/>
                </a:solidFill>
              </a:defRPr>
            </a:lvl3pPr>
            <a:lvl4pPr>
              <a:buNone/>
              <a:defRPr sz="2250" b="0">
                <a:solidFill>
                  <a:srgbClr val="B85D35"/>
                </a:solidFill>
              </a:defRPr>
            </a:lvl4pPr>
            <a:lvl5pPr>
              <a:buNone/>
              <a:defRPr sz="2250" b="0">
                <a:solidFill>
                  <a:srgbClr val="B85D35"/>
                </a:solidFill>
              </a:defRPr>
            </a:lvl5pPr>
            <a:lvl6pPr>
              <a:buNone/>
              <a:defRPr sz="2250" b="0">
                <a:solidFill>
                  <a:srgbClr val="B85D35"/>
                </a:solidFill>
              </a:defRPr>
            </a:lvl6pPr>
            <a:lvl7pPr>
              <a:buNone/>
              <a:defRPr sz="2250" b="0">
                <a:solidFill>
                  <a:srgbClr val="B85D35"/>
                </a:solidFill>
              </a:defRPr>
            </a:lvl7pPr>
            <a:lvl8pPr>
              <a:buNone/>
              <a:defRPr sz="2250" b="0">
                <a:solidFill>
                  <a:srgbClr val="B85D35"/>
                </a:solidFill>
              </a:defRPr>
            </a:lvl8pPr>
            <a:lvl9pPr>
              <a:buNone/>
              <a:defRPr sz="2250" b="0">
                <a:solidFill>
                  <a:srgbClr val="B85D35"/>
                </a:solidFill>
              </a:defRPr>
            </a:lvl9pPr>
          </a:lstStyle>
          <a:p xmlns:a="http://schemas.openxmlformats.org/drawingml/2006/main">
            <a:pPr>
              <a:buNone/>
              <a:defRPr sz="2250" b="0">
                <a:solidFill>
                  <a:srgbClr val="B85D35"/>
                </a:solidFill>
              </a:defRPr>
            </a:pPr>
            <a:r>
              <a:rPr sz="2250" b="0">
                <a:solidFill>
                  <a:srgbClr val="B85D35"/>
                </a:solidFill>
              </a:rPr>
              <a:t>Corrupt files / empty inputs</a:t>
            </a:r>
          </a:p>
          <a:p xmlns:a="http://schemas.openxmlformats.org/drawingml/2006/main">
            <a:pPr>
              <a:buNone/>
              <a:defRPr sz="2250" b="0">
                <a:solidFill>
                  <a:srgbClr val="B85D35"/>
                </a:solidFill>
              </a:defRPr>
            </a:pPr>
            <a:r>
              <a:rPr sz="2250" b="0">
                <a:solidFill>
                  <a:srgbClr val="B85D35"/>
                </a:solidFill>
              </a:rPr>
              <a:t>Archive expansion / resource limits</a:t>
            </a:r>
          </a:p>
        </p:txBody>
      </p:sp>
      <p:sp>
        <p:nvSpPr>
          <p:cNvPr id="9" name="">
            <a:extLst xmlns:a="http://schemas.openxmlformats.org/drawingml/2006/main">
              <a:ext uri="{FF2B5EF4-FFF2-40B4-BE49-F238E27FC236}">
                <a16:creationId xmlns:a16="http://schemas.microsoft.com/office/drawing/2014/main" id="{4E8BADAF-D16D-4A1C-A317-5ECF72AC32F4}"/>
              </a:ext>
            </a:extLst>
          </p:cNvPr>
          <p:cNvSpPr>
            <a:spLocks xmlns:a="http://schemas.openxmlformats.org/drawingml/2006/main" noGrp="1"/>
          </p:cNvSpPr>
          <p:nvPr/>
        </p:nvSpPr>
        <p:spPr>
          <a:xfrm xmlns:a="http://schemas.openxmlformats.org/drawingml/2006/main">
            <a:off x="7620000" y="4057650"/>
            <a:ext cx="39433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Watermark warning</a:t>
            </a:r>
          </a:p>
          <a:p xmlns:a="http://schemas.openxmlformats.org/drawingml/2006/main">
            <a:pPr>
              <a:buNone/>
              <a:defRPr sz="2325" b="1">
                <a:solidFill>
                  <a:srgbClr val="123B32"/>
                </a:solidFill>
              </a:defRPr>
            </a:pPr>
            <a:r>
              <a:rPr sz="2325" b="1">
                <a:solidFill>
                  <a:srgbClr val="123B32"/>
                </a:solidFill>
              </a:rPr>
              <a:t>retains the image</a:t>
            </a:r>
          </a:p>
        </p:txBody>
      </p:sp>
      <p:sp>
        <p:nvSpPr>
          <p:cNvPr id="10" name="">
            <a:extLst xmlns:a="http://schemas.openxmlformats.org/drawingml/2006/main">
              <a:ext uri="{FF2B5EF4-FFF2-40B4-BE49-F238E27FC236}">
                <a16:creationId xmlns:a16="http://schemas.microsoft.com/office/drawing/2014/main" id="{35530A4D-E0A8-4F65-BFE7-63236191B9B1}"/>
              </a:ext>
            </a:extLst>
          </p:cNvPr>
          <p:cNvSpPr>
            <a:spLocks xmlns:a="http://schemas.openxmlformats.org/drawingml/2006/main" noGrp="1"/>
          </p:cNvSpPr>
          <p:nvPr/>
        </p:nvSpPr>
        <p:spPr>
          <a:xfrm xmlns:a="http://schemas.openxmlformats.org/drawingml/2006/main">
            <a:off x="609600" y="60579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5C"/>
                </a:solidFill>
              </a:defRPr>
            </a:defPPr>
            <a:lvl1pPr>
              <a:buNone/>
              <a:defRPr sz="1800" b="0">
                <a:solidFill>
                  <a:srgbClr val="52675C"/>
                </a:solidFill>
              </a:defRPr>
            </a:lvl1pPr>
            <a:lvl2pPr>
              <a:buNone/>
              <a:defRPr sz="1800" b="0">
                <a:solidFill>
                  <a:srgbClr val="52675C"/>
                </a:solidFill>
              </a:defRPr>
            </a:lvl2pPr>
            <a:lvl3pPr>
              <a:buNone/>
              <a:defRPr sz="1800" b="0">
                <a:solidFill>
                  <a:srgbClr val="52675C"/>
                </a:solidFill>
              </a:defRPr>
            </a:lvl3pPr>
            <a:lvl4pPr>
              <a:buNone/>
              <a:defRPr sz="1800" b="0">
                <a:solidFill>
                  <a:srgbClr val="52675C"/>
                </a:solidFill>
              </a:defRPr>
            </a:lvl4pPr>
            <a:lvl5pPr>
              <a:buNone/>
              <a:defRPr sz="1800" b="0">
                <a:solidFill>
                  <a:srgbClr val="52675C"/>
                </a:solidFill>
              </a:defRPr>
            </a:lvl5pPr>
            <a:lvl6pPr>
              <a:buNone/>
              <a:defRPr sz="1800" b="0">
                <a:solidFill>
                  <a:srgbClr val="52675C"/>
                </a:solidFill>
              </a:defRPr>
            </a:lvl6pPr>
            <a:lvl7pPr>
              <a:buNone/>
              <a:defRPr sz="1800" b="0">
                <a:solidFill>
                  <a:srgbClr val="52675C"/>
                </a:solidFill>
              </a:defRPr>
            </a:lvl7pPr>
            <a:lvl8pPr>
              <a:buNone/>
              <a:defRPr sz="1800" b="0">
                <a:solidFill>
                  <a:srgbClr val="52675C"/>
                </a:solidFill>
              </a:defRPr>
            </a:lvl8pPr>
            <a:lvl9pPr>
              <a:buNone/>
              <a:defRPr sz="1800" b="0">
                <a:solidFill>
                  <a:srgbClr val="52675C"/>
                </a:solidFill>
              </a:defRPr>
            </a:lvl9pPr>
          </a:lstStyle>
          <a:p xmlns:a="http://schemas.openxmlformats.org/drawingml/2006/main">
            <a:pPr>
              <a:buNone/>
              <a:defRPr sz="1800" b="0">
                <a:solidFill>
                  <a:srgbClr val="52675C"/>
                </a:solidFill>
              </a:defRPr>
            </a:pPr>
            <a:r>
              <a:rPr sz="1800" b="0">
                <a:solidFill>
                  <a:srgbClr val="52675C"/>
                </a:solidFill>
              </a:rPr>
              <a:t>72.37% offline statement coverage / input screening does not replace antivirus</a:t>
            </a:r>
          </a:p>
        </p:txBody>
      </p:sp>
    </p:spTree>
    <p:extLst>
      <p:ext uri="{BB962C8B-B14F-4D97-AF65-F5344CB8AC3E}">
        <p14:creationId xmlns:p14="http://schemas.microsoft.com/office/powerpoint/2010/main" val="1860958344"/>
      </p:ext>
    </p:extLst>
  </p:cSld>
</p:sld>
</file>

<file path=ppt/slides/slide25.xml><?xml version="1.0" encoding="utf-8"?>
<p:sld xmlns:p="http://schemas.openxmlformats.org/presentationml/2006/main">
  <p:cSld>
    <p:bg>
      <p:bgPr>
        <a:solidFill xmlns:a="http://schemas.openxmlformats.org/drawingml/2006/main">
          <a:srgbClr val="123B32"/>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6F8942E4-20A2-4224-AE07-C8A9E92CCA2E}"/>
              </a:ext>
            </a:extLst>
          </p:cNvPr>
          <p:cNvCxnSpPr>
            <a:stCxn xmlns:a="http://schemas.openxmlformats.org/drawingml/2006/main" id="9" idx="3"/>
            <a:endCxn xmlns:a="http://schemas.openxmlformats.org/drawingml/2006/main" id="12" idx="1"/>
          </p:cNvCxnSpPr>
          <p:nvPr/>
        </p:nvCxnSpPr>
        <p:spPr>
          <a:xfrm xmlns:a="http://schemas.openxmlformats.org/drawingml/2006/main">
            <a:off x="8667750" y="465296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454928F-B339-4681-B3EF-AE999A1D3F60}"/>
              </a:ext>
            </a:extLst>
          </p:cNvPr>
          <p:cNvCxnSpPr>
            <a:stCxn xmlns:a="http://schemas.openxmlformats.org/drawingml/2006/main" id="6" idx="3"/>
            <a:endCxn xmlns:a="http://schemas.openxmlformats.org/drawingml/2006/main" id="9" idx="1"/>
          </p:cNvCxnSpPr>
          <p:nvPr/>
        </p:nvCxnSpPr>
        <p:spPr>
          <a:xfrm xmlns:a="http://schemas.openxmlformats.org/drawingml/2006/main">
            <a:off x="5895975" y="465296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cxnSp>
        <p:nvCxnSpPr>
          <p:cNvPr id="8" name="">
            <a:extLst xmlns:a="http://schemas.openxmlformats.org/drawingml/2006/main">
              <a:ext uri="{FF2B5EF4-FFF2-40B4-BE49-F238E27FC236}">
                <a16:creationId xmlns:a16="http://schemas.microsoft.com/office/drawing/2014/main" id="{265C7700-690A-4F6F-9EEF-3653F9D6C105}"/>
              </a:ext>
            </a:extLst>
          </p:cNvPr>
          <p:cNvCxnSpPr>
            <a:stCxn xmlns:a="http://schemas.openxmlformats.org/drawingml/2006/main" id="4" idx="3"/>
            <a:endCxn xmlns:a="http://schemas.openxmlformats.org/drawingml/2006/main" id="6" idx="1"/>
          </p:cNvCxnSpPr>
          <p:nvPr/>
        </p:nvCxnSpPr>
        <p:spPr>
          <a:xfrm xmlns:a="http://schemas.openxmlformats.org/drawingml/2006/main">
            <a:off x="3124200" y="4652963"/>
            <a:ext cx="257175" cy="0"/>
          </a:xfrm>
          <a:prstGeom xmlns:a="http://schemas.openxmlformats.org/drawingml/2006/main" prst="straightConnector1">
            <a:avLst/>
          </a:prstGeom>
          <a:ln xmlns:a="http://schemas.openxmlformats.org/drawingml/2006/main" w="25718">
            <a:solidFill>
              <a:srgbClr val="B85D35"/>
            </a:solidFill>
            <a:prstDash val="solid"/>
            <a:tailEnd type="arrow" w="med" len="med"/>
          </a:ln>
        </p:spPr>
      </p:cxnSp>
      <p:sp>
        <p:nvSpPr>
          <p:cNvPr id="16" name="">
            <a:extLst xmlns:a="http://schemas.openxmlformats.org/drawingml/2006/main">
              <a:ext uri="{FF2B5EF4-FFF2-40B4-BE49-F238E27FC236}">
                <a16:creationId xmlns:a16="http://schemas.microsoft.com/office/drawing/2014/main" id="{38B12A5D-A054-479F-A99F-A4F22F4367EF}"/>
              </a:ext>
            </a:extLst>
          </p:cNvPr>
          <p:cNvSpPr>
            <a:spLocks xmlns:a="http://schemas.openxmlformats.org/drawingml/2006/main" noGrp="1"/>
          </p:cNvSpPr>
          <p:nvPr/>
        </p:nvSpPr>
        <p:spPr>
          <a:xfrm xmlns:a="http://schemas.openxmlformats.org/drawingml/2006/main">
            <a:off x="533400" y="428625"/>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5F1E7"/>
                </a:solidFill>
              </a:defRPr>
            </a:defPPr>
            <a:lvl1pPr>
              <a:buNone/>
              <a:defRPr sz="3375" b="1">
                <a:solidFill>
                  <a:srgbClr val="F5F1E7"/>
                </a:solidFill>
              </a:defRPr>
            </a:lvl1pPr>
            <a:lvl2pPr>
              <a:buNone/>
              <a:defRPr sz="3375" b="1">
                <a:solidFill>
                  <a:srgbClr val="F5F1E7"/>
                </a:solidFill>
              </a:defRPr>
            </a:lvl2pPr>
            <a:lvl3pPr>
              <a:buNone/>
              <a:defRPr sz="3375" b="1">
                <a:solidFill>
                  <a:srgbClr val="F5F1E7"/>
                </a:solidFill>
              </a:defRPr>
            </a:lvl3pPr>
            <a:lvl4pPr>
              <a:buNone/>
              <a:defRPr sz="3375" b="1">
                <a:solidFill>
                  <a:srgbClr val="F5F1E7"/>
                </a:solidFill>
              </a:defRPr>
            </a:lvl4pPr>
            <a:lvl5pPr>
              <a:buNone/>
              <a:defRPr sz="3375" b="1">
                <a:solidFill>
                  <a:srgbClr val="F5F1E7"/>
                </a:solidFill>
              </a:defRPr>
            </a:lvl5pPr>
            <a:lvl6pPr>
              <a:buNone/>
              <a:defRPr sz="3375" b="1">
                <a:solidFill>
                  <a:srgbClr val="F5F1E7"/>
                </a:solidFill>
              </a:defRPr>
            </a:lvl6pPr>
            <a:lvl7pPr>
              <a:buNone/>
              <a:defRPr sz="3375" b="1">
                <a:solidFill>
                  <a:srgbClr val="F5F1E7"/>
                </a:solidFill>
              </a:defRPr>
            </a:lvl7pPr>
            <a:lvl8pPr>
              <a:buNone/>
              <a:defRPr sz="3375" b="1">
                <a:solidFill>
                  <a:srgbClr val="F5F1E7"/>
                </a:solidFill>
              </a:defRPr>
            </a:lvl8pPr>
            <a:lvl9pPr>
              <a:buNone/>
              <a:defRPr sz="3375" b="1">
                <a:solidFill>
                  <a:srgbClr val="F5F1E7"/>
                </a:solidFill>
              </a:defRPr>
            </a:lvl9pPr>
          </a:lstStyle>
          <a:p xmlns:a="http://schemas.openxmlformats.org/drawingml/2006/main">
            <a:pPr>
              <a:buNone/>
              <a:defRPr sz="3375" b="1">
                <a:solidFill>
                  <a:srgbClr val="F5F1E7"/>
                </a:solidFill>
              </a:defRPr>
            </a:pPr>
            <a:r>
              <a:rPr sz="3375" b="1">
                <a:solidFill>
                  <a:srgbClr val="F5F1E7"/>
                </a:solidFill>
              </a:rPr>
              <a:t>A query with a traceable answer</a:t>
            </a:r>
          </a:p>
        </p:txBody>
      </p:sp>
      <p:sp>
        <p:nvSpPr>
          <p:cNvPr id="2" name="">
            <a:extLst xmlns:a="http://schemas.openxmlformats.org/drawingml/2006/main">
              <a:ext uri="{FF2B5EF4-FFF2-40B4-BE49-F238E27FC236}">
                <a16:creationId xmlns:a16="http://schemas.microsoft.com/office/drawing/2014/main" id="{67EDCE64-6CD5-4D01-B2A7-93BCE02B5F6C}"/>
              </a:ext>
            </a:extLst>
          </p:cNvPr>
          <p:cNvSpPr>
            <a:spLocks xmlns:a="http://schemas.openxmlformats.org/drawingml/2006/main" noGrp="1"/>
          </p:cNvSpPr>
          <p:nvPr/>
        </p:nvSpPr>
        <p:spPr>
          <a:xfrm xmlns:a="http://schemas.openxmlformats.org/drawingml/2006/main">
            <a:off x="11239500" y="64579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CE5D2"/>
                </a:solidFill>
              </a:defRPr>
            </a:defPPr>
            <a:lvl1pPr>
              <a:buNone/>
              <a:defRPr sz="1425" b="0">
                <a:solidFill>
                  <a:srgbClr val="DCE5D2"/>
                </a:solidFill>
              </a:defRPr>
            </a:lvl1pPr>
            <a:lvl2pPr>
              <a:buNone/>
              <a:defRPr sz="1425" b="0">
                <a:solidFill>
                  <a:srgbClr val="DCE5D2"/>
                </a:solidFill>
              </a:defRPr>
            </a:lvl2pPr>
            <a:lvl3pPr>
              <a:buNone/>
              <a:defRPr sz="1425" b="0">
                <a:solidFill>
                  <a:srgbClr val="DCE5D2"/>
                </a:solidFill>
              </a:defRPr>
            </a:lvl3pPr>
            <a:lvl4pPr>
              <a:buNone/>
              <a:defRPr sz="1425" b="0">
                <a:solidFill>
                  <a:srgbClr val="DCE5D2"/>
                </a:solidFill>
              </a:defRPr>
            </a:lvl4pPr>
            <a:lvl5pPr>
              <a:buNone/>
              <a:defRPr sz="1425" b="0">
                <a:solidFill>
                  <a:srgbClr val="DCE5D2"/>
                </a:solidFill>
              </a:defRPr>
            </a:lvl5pPr>
            <a:lvl6pPr>
              <a:buNone/>
              <a:defRPr sz="1425" b="0">
                <a:solidFill>
                  <a:srgbClr val="DCE5D2"/>
                </a:solidFill>
              </a:defRPr>
            </a:lvl6pPr>
            <a:lvl7pPr>
              <a:buNone/>
              <a:defRPr sz="1425" b="0">
                <a:solidFill>
                  <a:srgbClr val="DCE5D2"/>
                </a:solidFill>
              </a:defRPr>
            </a:lvl7pPr>
            <a:lvl8pPr>
              <a:buNone/>
              <a:defRPr sz="1425" b="0">
                <a:solidFill>
                  <a:srgbClr val="DCE5D2"/>
                </a:solidFill>
              </a:defRPr>
            </a:lvl8pPr>
            <a:lvl9pPr>
              <a:buNone/>
              <a:defRPr sz="1425" b="0">
                <a:solidFill>
                  <a:srgbClr val="DCE5D2"/>
                </a:solidFill>
              </a:defRPr>
            </a:lvl9pPr>
          </a:lstStyle>
          <a:p xmlns:a="http://schemas.openxmlformats.org/drawingml/2006/main">
            <a:pPr>
              <a:buNone/>
              <a:defRPr sz="1425" b="0">
                <a:solidFill>
                  <a:srgbClr val="DCE5D2"/>
                </a:solidFill>
              </a:defRPr>
            </a:pPr>
            <a:r>
              <a:rPr sz="1425" b="0">
                <a:solidFill>
                  <a:srgbClr val="DCE5D2"/>
                </a:solidFill>
              </a:rPr>
              <a:t>25</a:t>
            </a:r>
          </a:p>
        </p:txBody>
      </p:sp>
      <p:sp>
        <p:nvSpPr>
          <p:cNvPr id="3" name="">
            <a:extLst xmlns:a="http://schemas.openxmlformats.org/drawingml/2006/main">
              <a:ext uri="{FF2B5EF4-FFF2-40B4-BE49-F238E27FC236}">
                <a16:creationId xmlns:a16="http://schemas.microsoft.com/office/drawing/2014/main" id="{3F823542-7BC1-42B6-98DB-54E57266AF4D}"/>
              </a:ext>
            </a:extLst>
          </p:cNvPr>
          <p:cNvSpPr>
            <a:spLocks xmlns:a="http://schemas.openxmlformats.org/drawingml/2006/main" noGrp="1"/>
          </p:cNvSpPr>
          <p:nvPr/>
        </p:nvSpPr>
        <p:spPr>
          <a:xfrm xmlns:a="http://schemas.openxmlformats.org/drawingml/2006/main">
            <a:off x="609600" y="1819275"/>
            <a:ext cx="10953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5F1E7"/>
                </a:solidFill>
              </a:defRPr>
            </a:defPPr>
            <a:lvl1pPr>
              <a:buNone/>
              <a:defRPr sz="4875" b="1">
                <a:solidFill>
                  <a:srgbClr val="F5F1E7"/>
                </a:solidFill>
              </a:defRPr>
            </a:lvl1pPr>
            <a:lvl2pPr>
              <a:buNone/>
              <a:defRPr sz="4875" b="1">
                <a:solidFill>
                  <a:srgbClr val="F5F1E7"/>
                </a:solidFill>
              </a:defRPr>
            </a:lvl2pPr>
            <a:lvl3pPr>
              <a:buNone/>
              <a:defRPr sz="4875" b="1">
                <a:solidFill>
                  <a:srgbClr val="F5F1E7"/>
                </a:solidFill>
              </a:defRPr>
            </a:lvl3pPr>
            <a:lvl4pPr>
              <a:buNone/>
              <a:defRPr sz="4875" b="1">
                <a:solidFill>
                  <a:srgbClr val="F5F1E7"/>
                </a:solidFill>
              </a:defRPr>
            </a:lvl4pPr>
            <a:lvl5pPr>
              <a:buNone/>
              <a:defRPr sz="4875" b="1">
                <a:solidFill>
                  <a:srgbClr val="F5F1E7"/>
                </a:solidFill>
              </a:defRPr>
            </a:lvl5pPr>
            <a:lvl6pPr>
              <a:buNone/>
              <a:defRPr sz="4875" b="1">
                <a:solidFill>
                  <a:srgbClr val="F5F1E7"/>
                </a:solidFill>
              </a:defRPr>
            </a:lvl6pPr>
            <a:lvl7pPr>
              <a:buNone/>
              <a:defRPr sz="4875" b="1">
                <a:solidFill>
                  <a:srgbClr val="F5F1E7"/>
                </a:solidFill>
              </a:defRPr>
            </a:lvl7pPr>
            <a:lvl8pPr>
              <a:buNone/>
              <a:defRPr sz="4875" b="1">
                <a:solidFill>
                  <a:srgbClr val="F5F1E7"/>
                </a:solidFill>
              </a:defRPr>
            </a:lvl8pPr>
            <a:lvl9pPr>
              <a:buNone/>
              <a:defRPr sz="4875" b="1">
                <a:solidFill>
                  <a:srgbClr val="F5F1E7"/>
                </a:solidFill>
              </a:defRPr>
            </a:lvl9pPr>
          </a:lstStyle>
          <a:p xmlns:a="http://schemas.openxmlformats.org/drawingml/2006/main">
            <a:pPr>
              <a:buNone/>
              <a:defRPr sz="4875" b="1">
                <a:solidFill>
                  <a:srgbClr val="F5F1E7"/>
                </a:solidFill>
              </a:defRPr>
            </a:pPr>
            <a:r>
              <a:rPr sz="4875" b="1">
                <a:solidFill>
                  <a:srgbClr val="F5F1E7"/>
                </a:solidFill>
              </a:rPr>
              <a:t>A result we can trace</a:t>
            </a:r>
          </a:p>
          <a:p xmlns:a="http://schemas.openxmlformats.org/drawingml/2006/main">
            <a:pPr>
              <a:buNone/>
              <a:defRPr sz="4875" b="1">
                <a:solidFill>
                  <a:srgbClr val="F5F1E7"/>
                </a:solidFill>
              </a:defRPr>
            </a:pPr>
            <a:r>
              <a:rPr sz="4875" b="1">
                <a:solidFill>
                  <a:srgbClr val="F5F1E7"/>
                </a:solidFill>
              </a:rPr>
              <a:t>back to its source</a:t>
            </a:r>
          </a:p>
        </p:txBody>
      </p:sp>
      <p:sp>
        <p:nvSpPr>
          <p:cNvPr id="4" name="">
            <a:extLst xmlns:a="http://schemas.openxmlformats.org/drawingml/2006/main">
              <a:ext uri="{FF2B5EF4-FFF2-40B4-BE49-F238E27FC236}">
                <a16:creationId xmlns:a16="http://schemas.microsoft.com/office/drawing/2014/main" id="{7DA1DCAE-C0EA-46AE-9822-571BC72F9625}"/>
              </a:ext>
            </a:extLst>
          </p:cNvPr>
          <p:cNvSpPr>
            <a:spLocks xmlns:a="http://schemas.openxmlformats.org/drawingml/2006/main" noGrp="1"/>
          </p:cNvSpPr>
          <p:nvPr/>
        </p:nvSpPr>
        <p:spPr>
          <a:xfrm xmlns:a="http://schemas.openxmlformats.org/drawingml/2006/main">
            <a:off x="609600"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5" name="">
            <a:extLst xmlns:a="http://schemas.openxmlformats.org/drawingml/2006/main">
              <a:ext uri="{FF2B5EF4-FFF2-40B4-BE49-F238E27FC236}">
                <a16:creationId xmlns:a16="http://schemas.microsoft.com/office/drawing/2014/main" id="{26D74B43-EF58-4037-AE3E-EE9911204E2C}"/>
              </a:ext>
            </a:extLst>
          </p:cNvPr>
          <p:cNvSpPr>
            <a:spLocks xmlns:a="http://schemas.openxmlformats.org/drawingml/2006/main" noGrp="1"/>
          </p:cNvSpPr>
          <p:nvPr/>
        </p:nvSpPr>
        <p:spPr>
          <a:xfrm xmlns:a="http://schemas.openxmlformats.org/drawingml/2006/main">
            <a:off x="771525"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Preserve</a:t>
            </a:r>
          </a:p>
        </p:txBody>
      </p:sp>
      <p:sp>
        <p:nvSpPr>
          <p:cNvPr id="6" name="">
            <a:extLst xmlns:a="http://schemas.openxmlformats.org/drawingml/2006/main">
              <a:ext uri="{FF2B5EF4-FFF2-40B4-BE49-F238E27FC236}">
                <a16:creationId xmlns:a16="http://schemas.microsoft.com/office/drawing/2014/main" id="{13F717C1-2B49-455A-98A3-8CCA5756869B}"/>
              </a:ext>
            </a:extLst>
          </p:cNvPr>
          <p:cNvSpPr>
            <a:spLocks xmlns:a="http://schemas.openxmlformats.org/drawingml/2006/main" noGrp="1"/>
          </p:cNvSpPr>
          <p:nvPr/>
        </p:nvSpPr>
        <p:spPr>
          <a:xfrm xmlns:a="http://schemas.openxmlformats.org/drawingml/2006/main">
            <a:off x="3381375"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7" name="">
            <a:extLst xmlns:a="http://schemas.openxmlformats.org/drawingml/2006/main">
              <a:ext uri="{FF2B5EF4-FFF2-40B4-BE49-F238E27FC236}">
                <a16:creationId xmlns:a16="http://schemas.microsoft.com/office/drawing/2014/main" id="{B0656393-B79D-4473-B71C-8BDAC4229736}"/>
              </a:ext>
            </a:extLst>
          </p:cNvPr>
          <p:cNvSpPr>
            <a:spLocks xmlns:a="http://schemas.openxmlformats.org/drawingml/2006/main" noGrp="1"/>
          </p:cNvSpPr>
          <p:nvPr/>
        </p:nvSpPr>
        <p:spPr>
          <a:xfrm xmlns:a="http://schemas.openxmlformats.org/drawingml/2006/main">
            <a:off x="3543300"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Standardise</a:t>
            </a:r>
          </a:p>
        </p:txBody>
      </p:sp>
      <p:sp>
        <p:nvSpPr>
          <p:cNvPr id="9" name="">
            <a:extLst xmlns:a="http://schemas.openxmlformats.org/drawingml/2006/main">
              <a:ext uri="{FF2B5EF4-FFF2-40B4-BE49-F238E27FC236}">
                <a16:creationId xmlns:a16="http://schemas.microsoft.com/office/drawing/2014/main" id="{E6B49092-F12E-4800-AC60-468E74A5096C}"/>
              </a:ext>
            </a:extLst>
          </p:cNvPr>
          <p:cNvSpPr>
            <a:spLocks xmlns:a="http://schemas.openxmlformats.org/drawingml/2006/main" noGrp="1"/>
          </p:cNvSpPr>
          <p:nvPr/>
        </p:nvSpPr>
        <p:spPr>
          <a:xfrm xmlns:a="http://schemas.openxmlformats.org/drawingml/2006/main">
            <a:off x="6153150"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0" name="">
            <a:extLst xmlns:a="http://schemas.openxmlformats.org/drawingml/2006/main">
              <a:ext uri="{FF2B5EF4-FFF2-40B4-BE49-F238E27FC236}">
                <a16:creationId xmlns:a16="http://schemas.microsoft.com/office/drawing/2014/main" id="{E4AC773D-A2E7-4FE9-80B8-A06A6CCCF572}"/>
              </a:ext>
            </a:extLst>
          </p:cNvPr>
          <p:cNvSpPr>
            <a:spLocks xmlns:a="http://schemas.openxmlformats.org/drawingml/2006/main" noGrp="1"/>
          </p:cNvSpPr>
          <p:nvPr/>
        </p:nvSpPr>
        <p:spPr>
          <a:xfrm xmlns:a="http://schemas.openxmlformats.org/drawingml/2006/main">
            <a:off x="6315075"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Validate</a:t>
            </a:r>
          </a:p>
        </p:txBody>
      </p:sp>
      <p:sp>
        <p:nvSpPr>
          <p:cNvPr id="12" name="">
            <a:extLst xmlns:a="http://schemas.openxmlformats.org/drawingml/2006/main">
              <a:ext uri="{FF2B5EF4-FFF2-40B4-BE49-F238E27FC236}">
                <a16:creationId xmlns:a16="http://schemas.microsoft.com/office/drawing/2014/main" id="{4360AE1B-4612-437F-9E5E-13696D297538}"/>
              </a:ext>
            </a:extLst>
          </p:cNvPr>
          <p:cNvSpPr>
            <a:spLocks xmlns:a="http://schemas.openxmlformats.org/drawingml/2006/main" noGrp="1"/>
          </p:cNvSpPr>
          <p:nvPr/>
        </p:nvSpPr>
        <p:spPr>
          <a:xfrm xmlns:a="http://schemas.openxmlformats.org/drawingml/2006/main">
            <a:off x="8924925" y="4257675"/>
            <a:ext cx="2514600" cy="790575"/>
          </a:xfrm>
          <a:prstGeom xmlns:a="http://schemas.openxmlformats.org/drawingml/2006/main" prst="rect">
            <a:avLst/>
          </a:prstGeom>
          <a:solidFill xmlns:a="http://schemas.openxmlformats.org/drawingml/2006/main">
            <a:srgbClr val="F5F1E7"/>
          </a:solidFill>
          <a:ln xmlns:a="http://schemas.openxmlformats.org/drawingml/2006/main" w="12383">
            <a:solidFill>
              <a:srgbClr val="A2B5A4"/>
            </a:solidFill>
          </a:ln>
        </p:spPr>
      </p:sp>
      <p:sp>
        <p:nvSpPr>
          <p:cNvPr id="13" name="">
            <a:extLst xmlns:a="http://schemas.openxmlformats.org/drawingml/2006/main">
              <a:ext uri="{FF2B5EF4-FFF2-40B4-BE49-F238E27FC236}">
                <a16:creationId xmlns:a16="http://schemas.microsoft.com/office/drawing/2014/main" id="{0E0BDE0D-9064-49EE-AB78-DD255A8EFE55}"/>
              </a:ext>
            </a:extLst>
          </p:cNvPr>
          <p:cNvSpPr>
            <a:spLocks xmlns:a="http://schemas.openxmlformats.org/drawingml/2006/main" noGrp="1"/>
          </p:cNvSpPr>
          <p:nvPr/>
        </p:nvSpPr>
        <p:spPr>
          <a:xfrm xmlns:a="http://schemas.openxmlformats.org/drawingml/2006/main">
            <a:off x="9086850" y="4410075"/>
            <a:ext cx="2190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23B32"/>
                </a:solidFill>
              </a:defRPr>
            </a:defPPr>
            <a:lvl1pPr>
              <a:buNone/>
              <a:defRPr sz="2325" b="1">
                <a:solidFill>
                  <a:srgbClr val="123B32"/>
                </a:solidFill>
              </a:defRPr>
            </a:lvl1pPr>
            <a:lvl2pPr>
              <a:buNone/>
              <a:defRPr sz="2325" b="1">
                <a:solidFill>
                  <a:srgbClr val="123B32"/>
                </a:solidFill>
              </a:defRPr>
            </a:lvl2pPr>
            <a:lvl3pPr>
              <a:buNone/>
              <a:defRPr sz="2325" b="1">
                <a:solidFill>
                  <a:srgbClr val="123B32"/>
                </a:solidFill>
              </a:defRPr>
            </a:lvl3pPr>
            <a:lvl4pPr>
              <a:buNone/>
              <a:defRPr sz="2325" b="1">
                <a:solidFill>
                  <a:srgbClr val="123B32"/>
                </a:solidFill>
              </a:defRPr>
            </a:lvl4pPr>
            <a:lvl5pPr>
              <a:buNone/>
              <a:defRPr sz="2325" b="1">
                <a:solidFill>
                  <a:srgbClr val="123B32"/>
                </a:solidFill>
              </a:defRPr>
            </a:lvl5pPr>
            <a:lvl6pPr>
              <a:buNone/>
              <a:defRPr sz="2325" b="1">
                <a:solidFill>
                  <a:srgbClr val="123B32"/>
                </a:solidFill>
              </a:defRPr>
            </a:lvl6pPr>
            <a:lvl7pPr>
              <a:buNone/>
              <a:defRPr sz="2325" b="1">
                <a:solidFill>
                  <a:srgbClr val="123B32"/>
                </a:solidFill>
              </a:defRPr>
            </a:lvl7pPr>
            <a:lvl8pPr>
              <a:buNone/>
              <a:defRPr sz="2325" b="1">
                <a:solidFill>
                  <a:srgbClr val="123B32"/>
                </a:solidFill>
              </a:defRPr>
            </a:lvl8pPr>
            <a:lvl9pPr>
              <a:buNone/>
              <a:defRPr sz="2325" b="1">
                <a:solidFill>
                  <a:srgbClr val="123B32"/>
                </a:solidFill>
              </a:defRPr>
            </a:lvl9pPr>
          </a:lstStyle>
          <a:p xmlns:a="http://schemas.openxmlformats.org/drawingml/2006/main">
            <a:pPr>
              <a:buNone/>
              <a:defRPr sz="2325" b="1">
                <a:solidFill>
                  <a:srgbClr val="123B32"/>
                </a:solidFill>
              </a:defRPr>
            </a:pPr>
            <a:r>
              <a:rPr sz="2325" b="1">
                <a:solidFill>
                  <a:srgbClr val="123B32"/>
                </a:solidFill>
              </a:rPr>
              <a:t>Retrieve</a:t>
            </a:r>
          </a:p>
        </p:txBody>
      </p:sp>
      <p:sp>
        <p:nvSpPr>
          <p:cNvPr id="15" name="">
            <a:extLst xmlns:a="http://schemas.openxmlformats.org/drawingml/2006/main">
              <a:ext uri="{FF2B5EF4-FFF2-40B4-BE49-F238E27FC236}">
                <a16:creationId xmlns:a16="http://schemas.microsoft.com/office/drawing/2014/main" id="{0963B07A-6A9A-4350-A28D-1CBDCEDA8FF9}"/>
              </a:ext>
            </a:extLst>
          </p:cNvPr>
          <p:cNvSpPr>
            <a:spLocks xmlns:a="http://schemas.openxmlformats.org/drawingml/2006/main" noGrp="1"/>
          </p:cNvSpPr>
          <p:nvPr/>
        </p:nvSpPr>
        <p:spPr>
          <a:xfrm xmlns:a="http://schemas.openxmlformats.org/drawingml/2006/main">
            <a:off x="609600" y="57340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DCE5D2"/>
                </a:solidFill>
              </a:defRPr>
            </a:defPPr>
            <a:lvl1pPr>
              <a:buNone/>
              <a:defRPr sz="2250" b="0">
                <a:solidFill>
                  <a:srgbClr val="DCE5D2"/>
                </a:solidFill>
              </a:defRPr>
            </a:lvl1pPr>
            <a:lvl2pPr>
              <a:buNone/>
              <a:defRPr sz="2250" b="0">
                <a:solidFill>
                  <a:srgbClr val="DCE5D2"/>
                </a:solidFill>
              </a:defRPr>
            </a:lvl2pPr>
            <a:lvl3pPr>
              <a:buNone/>
              <a:defRPr sz="2250" b="0">
                <a:solidFill>
                  <a:srgbClr val="DCE5D2"/>
                </a:solidFill>
              </a:defRPr>
            </a:lvl3pPr>
            <a:lvl4pPr>
              <a:buNone/>
              <a:defRPr sz="2250" b="0">
                <a:solidFill>
                  <a:srgbClr val="DCE5D2"/>
                </a:solidFill>
              </a:defRPr>
            </a:lvl4pPr>
            <a:lvl5pPr>
              <a:buNone/>
              <a:defRPr sz="2250" b="0">
                <a:solidFill>
                  <a:srgbClr val="DCE5D2"/>
                </a:solidFill>
              </a:defRPr>
            </a:lvl5pPr>
            <a:lvl6pPr>
              <a:buNone/>
              <a:defRPr sz="2250" b="0">
                <a:solidFill>
                  <a:srgbClr val="DCE5D2"/>
                </a:solidFill>
              </a:defRPr>
            </a:lvl6pPr>
            <a:lvl7pPr>
              <a:buNone/>
              <a:defRPr sz="2250" b="0">
                <a:solidFill>
                  <a:srgbClr val="DCE5D2"/>
                </a:solidFill>
              </a:defRPr>
            </a:lvl7pPr>
            <a:lvl8pPr>
              <a:buNone/>
              <a:defRPr sz="2250" b="0">
                <a:solidFill>
                  <a:srgbClr val="DCE5D2"/>
                </a:solidFill>
              </a:defRPr>
            </a:lvl8pPr>
            <a:lvl9pPr>
              <a:buNone/>
              <a:defRPr sz="2250" b="0">
                <a:solidFill>
                  <a:srgbClr val="DCE5D2"/>
                </a:solidFill>
              </a:defRPr>
            </a:lvl9pPr>
          </a:lstStyle>
          <a:p xmlns:a="http://schemas.openxmlformats.org/drawingml/2006/main">
            <a:pPr>
              <a:buNone/>
              <a:defRPr sz="2250" b="0">
                <a:solidFill>
                  <a:srgbClr val="DCE5D2"/>
                </a:solidFill>
              </a:defRPr>
            </a:pPr>
            <a:r>
              <a:rPr sz="2250" b="0">
                <a:solidFill>
                  <a:srgbClr val="DCE5D2"/>
                </a:solidFill>
              </a:rPr>
              <a:t>Next: labelled retrieval and answer evaluation with specialist review</a:t>
            </a:r>
          </a:p>
        </p:txBody>
      </p:sp>
    </p:spTree>
    <p:extLst>
      <p:ext uri="{BB962C8B-B14F-4D97-AF65-F5344CB8AC3E}">
        <p14:creationId xmlns:p14="http://schemas.microsoft.com/office/powerpoint/2010/main" val="6077727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2026-10-29T08:32:52.9060000Z</dcterms:created>
  <dcterms:modified xsi:type="dcterms:W3CDTF">2026-10-29T08:32:52.9070000Z</dcterms:modified>
</coreProperties>
</file>