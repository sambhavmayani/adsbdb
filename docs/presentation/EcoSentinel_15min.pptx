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0a0e59a579451f" /><Relationship Type="http://schemas.openxmlformats.org/officeDocument/2006/relationships/extended-properties" Target="/docProps/app.xml" Id="Raaa107fab9134e78" /><Relationship Type="http://schemas.openxmlformats.org/officeDocument/2006/relationships/officeDocument" Target="/ppt/presentation.xml" Id="Rba6cef4561fc46f2" /></Relationships>
</file>

<file path=ppt/presentation.xml><?xml version="1.0" encoding="utf-8"?>
<p:presentation xmlns:p="http://schemas.openxmlformats.org/presentationml/2006/main">
  <p:sldMasterIdLst>
    <p:sldMasterId xmlns:r="http://schemas.openxmlformats.org/officeDocument/2006/relationships" id="2147483648" r:id="R389646b3a49946dd"/>
  </p:sldMasterIdLst>
  <p:notesMasterIdLst>
    <p:notesMasterId xmlns:r="http://schemas.openxmlformats.org/officeDocument/2006/relationships" r:id="R9071ae783c904320"/>
  </p:notesMasterIdLst>
  <p:sldIdLst>
    <p:sldId xmlns:r="http://schemas.openxmlformats.org/officeDocument/2006/relationships" id="256" r:id="Re29ceeeb27294782"/>
    <p:sldId xmlns:r="http://schemas.openxmlformats.org/officeDocument/2006/relationships" id="257" r:id="Rc5764c31025d4e87"/>
    <p:sldId xmlns:r="http://schemas.openxmlformats.org/officeDocument/2006/relationships" id="258" r:id="R499ea8d98c0740e7"/>
    <p:sldId xmlns:r="http://schemas.openxmlformats.org/officeDocument/2006/relationships" id="259" r:id="R10ba73d3e3674fd3"/>
    <p:sldId xmlns:r="http://schemas.openxmlformats.org/officeDocument/2006/relationships" id="260" r:id="Ra286da39ec144adb"/>
    <p:sldId xmlns:r="http://schemas.openxmlformats.org/officeDocument/2006/relationships" id="261" r:id="R6d416e340d5d4cb0"/>
    <p:sldId xmlns:r="http://schemas.openxmlformats.org/officeDocument/2006/relationships" id="262" r:id="Rda24b178b53d4cf6"/>
    <p:sldId xmlns:r="http://schemas.openxmlformats.org/officeDocument/2006/relationships" id="263" r:id="R47fdde0f1d1b45fa"/>
    <p:sldId xmlns:r="http://schemas.openxmlformats.org/officeDocument/2006/relationships" id="264" r:id="Rbd990f642a794cee"/>
    <p:sldId xmlns:r="http://schemas.openxmlformats.org/officeDocument/2006/relationships" id="265" r:id="R0209fe3d1b0b486a"/>
    <p:sldId xmlns:r="http://schemas.openxmlformats.org/officeDocument/2006/relationships" id="266" r:id="R8d0d8239526940f8"/>
    <p:sldId xmlns:r="http://schemas.openxmlformats.org/officeDocument/2006/relationships" id="267" r:id="Rc07d50e0771f4bb3"/>
    <p:sldId xmlns:r="http://schemas.openxmlformats.org/officeDocument/2006/relationships" id="268" r:id="Re8621a29efbc4ced"/>
    <p:sldId xmlns:r="http://schemas.openxmlformats.org/officeDocument/2006/relationships" id="269" r:id="R3c8f6414612a425a"/>
    <p:sldId xmlns:r="http://schemas.openxmlformats.org/officeDocument/2006/relationships" id="270" r:id="Rf203962056184e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fb99aa95a94385" /><Relationship Type="http://schemas.openxmlformats.org/officeDocument/2006/relationships/slideMaster" Target="/ppt/slideMasters/slideMaster1.xml" Id="R389646b3a49946dd" /><Relationship Type="http://schemas.openxmlformats.org/officeDocument/2006/relationships/notesMaster" Target="/ppt/notesMasters/notesMaster1.xml" Id="R9071ae783c904320" /><Relationship Type="http://schemas.openxmlformats.org/officeDocument/2006/relationships/presProps" Target="/ppt/presProps.xml" Id="R58f7c1e8bf2e484c" /><Relationship Type="http://schemas.openxmlformats.org/officeDocument/2006/relationships/tableStyles" Target="/ppt/tableStyles.xml" Id="R60561cf3b05443ff" /><Relationship Type="http://schemas.openxmlformats.org/officeDocument/2006/relationships/slide" Target="/ppt/slides/slide1.xml" Id="Re29ceeeb27294782" /><Relationship Type="http://schemas.openxmlformats.org/officeDocument/2006/relationships/slide" Target="/ppt/slides/slide2.xml" Id="Rc5764c31025d4e87" /><Relationship Type="http://schemas.openxmlformats.org/officeDocument/2006/relationships/slide" Target="/ppt/slides/slide3.xml" Id="R499ea8d98c0740e7" /><Relationship Type="http://schemas.openxmlformats.org/officeDocument/2006/relationships/slide" Target="/ppt/slides/slide4.xml" Id="R10ba73d3e3674fd3" /><Relationship Type="http://schemas.openxmlformats.org/officeDocument/2006/relationships/slide" Target="/ppt/slides/slide5.xml" Id="Ra286da39ec144adb" /><Relationship Type="http://schemas.openxmlformats.org/officeDocument/2006/relationships/slide" Target="/ppt/slides/slide6.xml" Id="R6d416e340d5d4cb0" /><Relationship Type="http://schemas.openxmlformats.org/officeDocument/2006/relationships/slide" Target="/ppt/slides/slide7.xml" Id="Rda24b178b53d4cf6" /><Relationship Type="http://schemas.openxmlformats.org/officeDocument/2006/relationships/slide" Target="/ppt/slides/slide8.xml" Id="R47fdde0f1d1b45fa" /><Relationship Type="http://schemas.openxmlformats.org/officeDocument/2006/relationships/slide" Target="/ppt/slides/slide9.xml" Id="Rbd990f642a794cee" /><Relationship Type="http://schemas.openxmlformats.org/officeDocument/2006/relationships/slide" Target="/ppt/slides/slide10.xml" Id="R0209fe3d1b0b486a" /><Relationship Type="http://schemas.openxmlformats.org/officeDocument/2006/relationships/slide" Target="/ppt/slides/slide11.xml" Id="R8d0d8239526940f8" /><Relationship Type="http://schemas.openxmlformats.org/officeDocument/2006/relationships/slide" Target="/ppt/slides/slide12.xml" Id="Rc07d50e0771f4bb3" /><Relationship Type="http://schemas.openxmlformats.org/officeDocument/2006/relationships/slide" Target="/ppt/slides/slide13.xml" Id="Re8621a29efbc4ced" /><Relationship Type="http://schemas.openxmlformats.org/officeDocument/2006/relationships/slide" Target="/ppt/slides/slide14.xml" Id="R3c8f6414612a425a" /><Relationship Type="http://schemas.openxmlformats.org/officeDocument/2006/relationships/slide" Target="/ppt/slides/slide15.xml" Id="Rf203962056184e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c1bb3e7d1844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740389ee96497c" /><Relationship Type="http://schemas.openxmlformats.org/officeDocument/2006/relationships/notesMaster" Target="/ppt/notesMasters/notesMaster1.xml" Id="Raa8dd71412da47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453df16d904014" /><Relationship Type="http://schemas.openxmlformats.org/officeDocument/2006/relationships/notesMaster" Target="/ppt/notesMasters/notesMaster1.xml" Id="R2b519ea87c3947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dd434268be41db" /><Relationship Type="http://schemas.openxmlformats.org/officeDocument/2006/relationships/notesMaster" Target="/ppt/notesMasters/notesMaster1.xml" Id="R58e0ec7b1dc34e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6e19bafad445fa" /><Relationship Type="http://schemas.openxmlformats.org/officeDocument/2006/relationships/notesMaster" Target="/ppt/notesMasters/notesMaster1.xml" Id="R597c919145fc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73fe40510c44f8" /><Relationship Type="http://schemas.openxmlformats.org/officeDocument/2006/relationships/notesMaster" Target="/ppt/notesMasters/notesMaster1.xml" Id="R22fd974711924e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d1fb7a0a1b46f4" /><Relationship Type="http://schemas.openxmlformats.org/officeDocument/2006/relationships/notesMaster" Target="/ppt/notesMasters/notesMaster1.xml" Id="R875afe4342f64f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4638807477462e" /><Relationship Type="http://schemas.openxmlformats.org/officeDocument/2006/relationships/notesMaster" Target="/ppt/notesMasters/notesMaster1.xml" Id="R4dc5a23edc404c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3d5063a54740e0" /><Relationship Type="http://schemas.openxmlformats.org/officeDocument/2006/relationships/notesMaster" Target="/ppt/notesMasters/notesMaster1.xml" Id="R337421fd76fd4e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6d68731e5f4ce2" /><Relationship Type="http://schemas.openxmlformats.org/officeDocument/2006/relationships/notesMaster" Target="/ppt/notesMasters/notesMaster1.xml" Id="Re6ae214610f443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db005c69d24bd3" /><Relationship Type="http://schemas.openxmlformats.org/officeDocument/2006/relationships/notesMaster" Target="/ppt/notesMasters/notesMaster1.xml" Id="Re97879b16f9342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35fffff24144c5" /><Relationship Type="http://schemas.openxmlformats.org/officeDocument/2006/relationships/notesMaster" Target="/ppt/notesMasters/notesMaster1.xml" Id="Rb35ec6bf20e74e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3ee6e52adf4462" /><Relationship Type="http://schemas.openxmlformats.org/officeDocument/2006/relationships/notesMaster" Target="/ppt/notesMasters/notesMaster1.xml" Id="Rad494ba9dd0440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503c93974b4015" /><Relationship Type="http://schemas.openxmlformats.org/officeDocument/2006/relationships/notesMaster" Target="/ppt/notesMasters/notesMaster1.xml" Id="Rfc4fdb1f8a9148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099c081e234e01" /><Relationship Type="http://schemas.openxmlformats.org/officeDocument/2006/relationships/notesMaster" Target="/ppt/notesMasters/notesMaster1.xml" Id="R755e085d1a8242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403c88744544f3" /><Relationship Type="http://schemas.openxmlformats.org/officeDocument/2006/relationships/notesMaster" Target="/ppt/notesMasters/notesMaster1.xml" Id="Re7d50cb6f0a04c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30 seconds</a:t>
            </a:r>
          </a:p>
          <a:p xmlns:a="http://schemas.openxmlformats.org/drawingml/2006/main">
            <a:r>
              <a:t/>
            </a:r>
          </a:p>
          <a:p xmlns:a="http://schemas.openxmlformats.org/drawingml/2006/main">
            <a:r>
              <a:t>A photograph, a field recording and a species description may all refer to the same animal, yet they usually live in separate catalogues. EcoSentinel connects those materials and keeps their sources accessible. We are Mario Rodrigo, Sambhav and Wassim. Today we will explain how we built the system, why we made these choices, and what our validation actually demonstrates.</a:t>
            </a:r>
          </a:p>
          <a:p xmlns:a="http://schemas.openxmlformats.org/drawingml/2006/main">
            <a:r>
              <a:t/>
            </a:r>
          </a:p>
          <a:p xmlns:a="http://schemas.openxmlformats.org/drawingml/2006/main">
            <a:r>
              <a:t>Project sources: docs/final_report.md, docs/user_guide.md.</a:t>
            </a:r>
          </a:p>
          <a:p xmlns:a="http://schemas.openxmlformats.org/drawingml/2006/main">
            <a:r>
              <a:t>Photograph: https://commons.wikimedia.org/wiki/File:Iberian_Lynx_front_(cropped).jpg</a:t>
            </a:r>
          </a:p>
          <a:p xmlns:a="http://schemas.openxmlformats.org/drawingml/2006/main">
            <a:r>
              <a:t>Author: http://www.lynxexsitu.es. Licence: CC BY 3.0 es (https://creativecommons.org/licenses/by/3.0/es/deed.en). Content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60 seconds</a:t>
            </a:r>
          </a:p>
          <a:p xmlns:a="http://schemas.openxmlformats.org/drawingml/2006/main">
            <a:r>
              <a:t/>
            </a:r>
          </a:p>
          <a:p xmlns:a="http://schemas.openxmlformats.org/drawingml/2006/main">
            <a:r>
              <a:t>Imagine someone preparing an educational activity about Iberian wildlife. They have a photograph and want to find related material, listen to recordings and understand the animal's habitat. Usually, that means moving between catalogues, repeating searches and checking where each piece of information came from. Our proposal brings that journey into one tool. It could support education or help someone explore a biodiversity collection before specialist review. The intended value is easier discovery, with a traceable path back to the original evidence. These are potential benefits of the prototype. We have not measured time savings or tested adoption in an organisation. That distinction runs through the project: we show what the system does, and we keep the remaining evaluation visible.</a:t>
            </a:r>
          </a:p>
          <a:p xmlns:a="http://schemas.openxmlformats.org/drawingml/2006/main">
            <a:r>
              <a:t/>
            </a:r>
          </a:p>
          <a:p xmlns:a="http://schemas.openxmlformats.org/drawingml/2006/main">
            <a:r>
              <a:t>Project sources: docs/data_sources.md.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55 seconds</a:t>
            </a:r>
          </a:p>
          <a:p xmlns:a="http://schemas.openxmlformats.org/drawingml/2006/main">
            <a:r>
              <a:t/>
            </a:r>
          </a:p>
          <a:p xmlns:a="http://schemas.openxmlformats.org/drawingml/2006/main">
            <a:r>
              <a:t>We chose ten species of Iberian wildlife to give the project a clear scope. Our reference corpus contains one hundred images from Wikimedia Commons, thirty-four recordings from Xeno-canto, and sixty-four texts from Wikipedia and GBIF. Together, these are one hundred and ninety-eight accepted assets. Images are balanced across species, but the other modalities depend on source availability. For example, we have no audio for the ocellated lizard. That matters because availability affects what a search can retrieve. We retain source identifiers, attribution and available licence information alongside the files. These numbers describe the collection we audited. A new download may produce different material, so its counts and quality need a separate evaluation.</a:t>
            </a:r>
          </a:p>
          <a:p xmlns:a="http://schemas.openxmlformats.org/drawingml/2006/main">
            <a:r>
              <a:t/>
            </a:r>
          </a:p>
          <a:p xmlns:a="http://schemas.openxmlformats.org/drawingml/2006/main">
            <a:r>
              <a:t>Project sources: docs/evidence/quality_images.json, docs/evidence/quality_audio.json, docs/evidence/quality_text.json.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80 seconds</a:t>
            </a:r>
          </a:p>
          <a:p xmlns:a="http://schemas.openxmlformats.org/drawingml/2006/main">
            <a:r>
              <a:t/>
            </a:r>
          </a:p>
          <a:p xmlns:a="http://schemas.openxmlformats.org/drawingml/2006/main">
            <a:r>
              <a:t>The architecture separates four responsibilities. Landing receives and preserves originals. Formatted converts each modality into a common representation. Trusted checks quality and provenance against explicit policies. Exploitation prepares the representations used by retrieval. This separation gives us a practical recovery path. If we change an encoder, we can start again from Trusted. If a quality rule changes, we can revisit Formatted without downloading the source again. Landing, Formatted and Trusted use S3-compatible object storage deployed in Docker. Object storage fits photographs, recordings and documents with different formats and sizes. Chroma then stores vectors and references to those assets. The Python packages follow the same boundaries, so each stage can run and be tested independently. Internet acquisition is optional. Once the files and model weights are prepared, the pipeline can operate locally. Model-specific choices stay downstream, while the original evidence remains available for inspection.</a:t>
            </a:r>
          </a:p>
          <a:p xmlns:a="http://schemas.openxmlformats.org/drawingml/2006/main">
            <a:r>
              <a:t/>
            </a:r>
          </a:p>
          <a:p xmlns:a="http://schemas.openxmlformats.org/drawingml/2006/main">
            <a:r>
              <a:t>Project sources: docs/pipeline_orchestration.md.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Mario · 75 seconds</a:t>
            </a:r>
          </a:p>
          <a:p xmlns:a="http://schemas.openxmlformats.org/drawingml/2006/main">
            <a:r>
              <a:t/>
            </a:r>
          </a:p>
          <a:p xmlns:a="http://schemas.openxmlformats.org/drawingml/2006/main">
            <a:r>
              <a:t>Before ingestion, a Security Gate checks allowed formats, file signatures and input limits. Landing then separates temporary reception from persistent original storage. Promotion uses content identities and verifies the copy before recording completion. In Formatted, each modality has its own converter. Images become RGB JPEG, audio becomes FLAC PCM16, and text becomes UTF-8 with consistent character normalisation and line endings. These choices have trade-offs. JPEG is lossy, and PCM16 can reduce the precision of a higher-depth source. We therefore retain the original file upstream. At this stage, we also preserve audio sample rates and channels. Resampling and segmentation belong in Exploitation, where the model requirements are known. Each transformation retains source keys and hashes, so a result can be traced back to its original bytes. With that foundation in place, Sambhav will explain how we assess quality and build retrieval.</a:t>
            </a:r>
          </a:p>
          <a:p xmlns:a="http://schemas.openxmlformats.org/drawingml/2006/main">
            <a:r>
              <a:t/>
            </a:r>
          </a:p>
          <a:p xmlns:a="http://schemas.openxmlformats.org/drawingml/2006/main">
            <a:r>
              <a:t>Project sources: docs/landing_zone_documentation.md, docs/formatted_zone_documentation.md.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60 seconds</a:t>
            </a:r>
          </a:p>
          <a:p xmlns:a="http://schemas.openxmlformats.org/drawingml/2006/main">
            <a:r>
              <a:t/>
            </a:r>
          </a:p>
          <a:p xmlns:a="http://schemas.openxmlformats.org/drawingml/2006/main">
            <a:r>
              <a:t>In Trusted, we distinguish a technically invalid file from a signal that deserves review. A quiet recording might contain a useful call. A dark photograph might be the observation someone needs. We therefore avoid aggressive cleaning, automatic denoising and visual correction. We use YAML policies, independent validators and duplicate checks. Reports record accepted assets and quality warnings. In the reference corpus, thirty-two images have possible watermark flags, and nine recordings have low-energy warnings. These are heuristic signals, not confirmed defects. All one hundred and ninety-eight assets pass the technical rules for this collection. Passing those rules does not establish correct biological labels. Semantic review remains a separate responsibility, and the reports preserve enough detail to support it.</a:t>
            </a:r>
          </a:p>
          <a:p xmlns:a="http://schemas.openxmlformats.org/drawingml/2006/main">
            <a:r>
              <a:t/>
            </a:r>
          </a:p>
          <a:p xmlns:a="http://schemas.openxmlformats.org/drawingml/2006/main">
            <a:r>
              <a:t>Project sources: docs/trusted_zone_documentation.md.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70 seconds</a:t>
            </a:r>
          </a:p>
          <a:p xmlns:a="http://schemas.openxmlformats.org/drawingml/2006/main">
            <a:r>
              <a:t/>
            </a:r>
          </a:p>
          <a:p xmlns:a="http://schemas.openxmlformats.org/drawingml/2006/main">
            <a:r>
              <a:t>In Exploitation, one asset can produce several vectors. A photograph has a visual representation, while a long recording is divided into windows and a long document into passages. That is how one hundred and ninety-eight assets produce six thousand and twenty-one embeddings. We maintain five collections: three for individual modalities and two shared spaces. The image-and-text collection places aligned representations together. The audio-and-text collection does the same for sounds and language. Each record includes its asset identity, segment position, content hash and model-policy contract. This tells us what a vector represents and helps detect incomplete publication. Before computing embeddings again, we check both compatibility and exact segment coverage. A matching record count alone is insufficient: two duplicated parts could hide a missing part. Compatible reruns reuse the existing index instead of repeating inference.</a:t>
            </a:r>
          </a:p>
          <a:p xmlns:a="http://schemas.openxmlformats.org/drawingml/2006/main">
            <a:r>
              <a:t/>
            </a:r>
          </a:p>
          <a:p xmlns:a="http://schemas.openxmlformats.org/drawingml/2006/main">
            <a:r>
              <a:t>Project sources: docs/exploitation_zone_documentation.md.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60 seconds</a:t>
            </a:r>
          </a:p>
          <a:p xmlns:a="http://schemas.openxmlformats.org/drawingml/2006/main">
            <a:r>
              <a:t/>
            </a:r>
          </a:p>
          <a:p xmlns:a="http://schemas.openxmlformats.org/drawingml/2006/main">
            <a:r>
              <a:t>We do not use one encoder for every relationship. CLIP connects visual concepts with images and aligned text. CLAP connects audio with language, which lets a description retrieve relevant recordings. For text, we use multilingual E5 small, which gives us a compact representation for queries in several languages. These are practical choices for CPU execution and reuse of pretrained models. We have not established that they are the best wildlife models through a labelled comparison. Their limitations matter. English sound descriptions may work better with CLAP, and CLIP is not a specialist species classifier. Equal vector dimensions do not make two embedding spaces compatible. We keep separate contracts and compare similarity within the appropriate space, rather than mixing unrelated distances.</a:t>
            </a:r>
          </a:p>
          <a:p xmlns:a="http://schemas.openxmlformats.org/drawingml/2006/main">
            <a:r>
              <a:t/>
            </a:r>
          </a:p>
          <a:p xmlns:a="http://schemas.openxmlformats.org/drawingml/2006/main">
            <a:r>
              <a:t>Project sources: docs/data_sources.md, config/model_manifest.json.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60 seconds</a:t>
            </a:r>
          </a:p>
          <a:p xmlns:a="http://schemas.openxmlformats.org/drawingml/2006/main">
            <a:r>
              <a:t/>
            </a:r>
          </a:p>
          <a:p xmlns:a="http://schemas.openxmlformats.org/drawingml/2006/main">
            <a:r>
              <a:t>Task one answers a focused question: given an asset, which other assets of the same type resemble it? An image retrieves images, a recording retrieves recordings, and text retrieves text. The query can start from an indexed record or an external file. When we use a stored asset, we exclude all of its segments, so the system cannot return the reference as its own best match. We also group retrieved segments by asset. Otherwise, several windows from one recording could occupy the result list. The interface exposes results and provenance. The order reflects model similarity, rather than a species probability. An external file acts only as a query. Uploading it does not automatically add it to the dataset or the vector index.</a:t>
            </a:r>
          </a:p>
          <a:p xmlns:a="http://schemas.openxmlformats.org/drawingml/2006/main">
            <a:r>
              <a:t/>
            </a:r>
          </a:p>
          <a:p xmlns:a="http://schemas.openxmlformats.org/drawingml/2006/main">
            <a:r>
              <a:t>Project sources: docs/multimodal_tasks_documentation.md.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Sambhav · 50 seconds</a:t>
            </a:r>
          </a:p>
          <a:p xmlns:a="http://schemas.openxmlformats.org/drawingml/2006/main">
            <a:r>
              <a:t/>
            </a:r>
          </a:p>
          <a:p xmlns:a="http://schemas.openxmlformats.org/drawingml/2006/main">
            <a:r>
              <a:t>Task two extends that journey across modalities. A description can retrieve images and text in the shared CLIP space, or recordings and text through CLAP. The screenshot shows the actual interface for a combined search. We also offer a view across all modalities. Here we combine ranking positions using Reciprocal Rank Fusion, rather than comparing raw scores from different encoders. An explicit diversity policy gives available modalities a place in the results. The combined order therefore follows a documented policy, rather than a single global distance. With retrieval available, Wassim will explain how we use its evidence to generate an answer.</a:t>
            </a:r>
          </a:p>
          <a:p xmlns:a="http://schemas.openxmlformats.org/drawingml/2006/main">
            <a:r>
              <a:t/>
            </a:r>
          </a:p>
          <a:p xmlns:a="http://schemas.openxmlformats.org/drawingml/2006/main">
            <a:r>
              <a:t>Project sources: docs/multimodal_tasks_documentation.md, reports/validation/ui_task1.png.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75 seconds</a:t>
            </a:r>
          </a:p>
          <a:p xmlns:a="http://schemas.openxmlformats.org/drawingml/2006/main">
            <a:r>
              <a:t/>
            </a:r>
          </a:p>
          <a:p xmlns:a="http://schemas.openxmlformats.org/drawingml/2006/main">
            <a:r>
              <a:t>Task three uses retrieval-augmented generation. We first retrieve evidence from the corpus, then ask Qwen to answer using that context. If a query includes an image, CLIP provides visual matches and BLIP produces an automatic description. Qwen receives that text and retrieved passages. It does not inspect the image pixels directly. We use Qwen two point five, with three billion parameters, in a quantised GGUF format, to make CPU generation practical on our machine. The model revision and file hash are fixed. We limit the context and control model loading. The generator selects permitted evidence identifiers, and the server resolves their quotations. We then check that references and extracts belong to the retrieved sources. Missing support produces abstention or a partial answer. A generation failure produces a technical error. These states remain distinct, and the user can inspect how the response was built.</a:t>
            </a:r>
          </a:p>
          <a:p xmlns:a="http://schemas.openxmlformats.org/drawingml/2006/main">
            <a:r>
              <a:t/>
            </a:r>
          </a:p>
          <a:p xmlns:a="http://schemas.openxmlformats.org/drawingml/2006/main">
            <a:r>
              <a:t>Project sources: docs/generative_tasks_documentation.md, config/rag.yaml.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60 seconds</a:t>
            </a:r>
          </a:p>
          <a:p xmlns:a="http://schemas.openxmlformats.org/drawingml/2006/main">
            <a:r>
              <a:t/>
            </a:r>
          </a:p>
          <a:p xmlns:a="http://schemas.openxmlformats.org/drawingml/2006/main">
            <a:r>
              <a:t>This example comes from a real test using a frog image already in Trusted. We asked about habitat and diet for the retrieved candidates, without confirming the species in the photograph. The interface presented a corpus candidate and two claims with source extracts. Opening a reference lets us compare the answer with the retrieved document. The case also exposed an earlier technical failure: generation reached its time limit and left incomplete JSON. We reduced context and retrieved by aspect, keeping separate evidence for habitat and diet. Regression tests now cover those failure boundaries. This test used the real models, but it remains one example. An existing quotation does not guarantee every interpretation is correct, and visual similarity does not establish a taxonomic identification.</a:t>
            </a:r>
          </a:p>
          <a:p xmlns:a="http://schemas.openxmlformats.org/drawingml/2006/main">
            <a:r>
              <a:t/>
            </a:r>
          </a:p>
          <a:p xmlns:a="http://schemas.openxmlformats.org/drawingml/2006/main">
            <a:r>
              <a:t>Sources: reports/validation/ui_frog_rag.png, docs/evidence/native_models.json. Slide excerpts translated from Spanish for presentation. Original fragments: “zonas con escasa corriente”; “Se alimentan tanto de presas terrestres como acuáticas”.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55 seconds</a:t>
            </a:r>
          </a:p>
          <a:p xmlns:a="http://schemas.openxmlformats.org/drawingml/2006/main">
            <a:r>
              <a:t/>
            </a:r>
          </a:p>
          <a:p xmlns:a="http://schemas.openxmlformats.org/drawingml/2006/main">
            <a:r>
              <a:t>The system has a sequential orchestrator with sixteen steps. It runs the zones, writes a log for each step and finishes with reconciliation. A resource lock prevents concurrent pipeline runs. When a step fails, execution stops and preserves its report, so we can fix the cause and retry. We do not assume one transaction across all stores. Recovery checks the state at each boundary. We tested this with two complete runs using isolated storage and real CPU models. The first produced three synthetic assets and seven vectors. The second completed with zero new vectors across all five collections. This demonstrates integration and idempotent reuse. The synthetic noise image and audio tone do not evaluate wildlife retrieval quality.</a:t>
            </a:r>
          </a:p>
          <a:p xmlns:a="http://schemas.openxmlformats.org/drawingml/2006/main">
            <a:r>
              <a:t/>
            </a:r>
          </a:p>
          <a:p xmlns:a="http://schemas.openxmlformats.org/drawingml/2006/main">
            <a:r>
              <a:t>Project sources: docs/evidence/final_validation.json.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60 seconds</a:t>
            </a:r>
          </a:p>
          <a:p xmlns:a="http://schemas.openxmlformats.org/drawingml/2006/main">
            <a:r>
              <a:t/>
            </a:r>
          </a:p>
          <a:p xmlns:a="http://schemas.openxmlformats.org/drawingml/2006/main">
            <a:r>
              <a:t>Our validation has several layers because they reveal different problems. Three hundred and forty-four offline tests cover contracts, edge cases and controlled failures. One additional integration test runs all zones with real S3 storage and Chroma, using deterministic encoders. Separately, we ran the full CLI and generative examples with real CPU models. Combined statement coverage is seventy-one point two five percent. That measures executed code, not retrieval accuracy. We also verified that the original six thousand and twenty-one embeddings retain identical files and hashes, and that the MinIO inventory remains unchanged. GitHub Actions configures checks on Windows and Linux. Its remote result must be checked for the submitted commit. A labelled evaluation set is still needed to measure retrieval relevance and semantic answer quality systematically.</a:t>
            </a:r>
          </a:p>
          <a:p xmlns:a="http://schemas.openxmlformats.org/drawingml/2006/main">
            <a:r>
              <a:t/>
            </a:r>
          </a:p>
          <a:p xmlns:a="http://schemas.openxmlformats.org/drawingml/2006/main">
            <a:r>
              <a:t>Project sources: docs/evidence/final_validation.json.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Wassim · 50 seconds</a:t>
            </a:r>
          </a:p>
          <a:p xmlns:a="http://schemas.openxmlformats.org/drawingml/2006/main">
            <a:r>
              <a:t/>
            </a:r>
          </a:p>
          <a:p xmlns:a="http://schemas.openxmlformats.org/drawingml/2006/main">
            <a:r>
              <a:t>Let us return to the person who started with a photograph. They can now explore related assets, move across modalities and ask a question linked to its sources. That experience rests on preserved originals, explicit transformations, quality policies and model contracts. This is EcoSentinel's contribution: connecting a useful query workflow with a data backbone we can explain and check. The repository includes a user guide, design decisions and selected validation evidence. The next evaluation would use labelled examples and specialist review before considering operational deployment. That is the scope of our prototype and the evidence behind it. Thank you. We are ready to discuss the system or show the workflow in the interface.</a:t>
            </a:r>
          </a:p>
          <a:p xmlns:a="http://schemas.openxmlformats.org/drawingml/2006/main">
            <a:r>
              <a:t/>
            </a:r>
          </a:p>
          <a:p xmlns:a="http://schemas.openxmlformats.org/drawingml/2006/main">
            <a:r>
              <a:t>Project sources: docs/final_report.md.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f4c1a074c44f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3ee8a6207944b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5db25069e545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74c4f108bd42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381e000a894a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0069ccb1ce43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7EBBEE-AAE6-40AC-8A32-323894AD02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F1841D-A262-44F0-8BA0-5912E64ADA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8FF650-FF8B-42F5-AB01-270FDE9CE83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F627E9-1C72-450D-8CB2-94190E46F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25EE49-C716-42A6-BBF3-F9BBB1CBFB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527EAC-DCAA-4C83-8710-322D4EB12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E2AAF0-DB71-4549-99FB-D58FB6CD8E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43DE54-2E86-4E82-BE1B-037BCDA004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3B1BF4-3053-42C6-BD5F-6A80B5ADC3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250D3B-0E7C-4CD3-844C-E32567B0BB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d6d988507d414f" /><Relationship Type="http://schemas.openxmlformats.org/officeDocument/2006/relationships/slideLayout" Target="/ppt/slideLayouts/slideLayout1.xml" Id="R7b5fa8fe4ab94293" /><Relationship Type="http://schemas.openxmlformats.org/officeDocument/2006/relationships/slideLayout" Target="/ppt/slideLayouts/slideLayout2.xml" Id="Rd2fa4de254554e26" /><Relationship Type="http://schemas.openxmlformats.org/officeDocument/2006/relationships/slideLayout" Target="/ppt/slideLayouts/slideLayout3.xml" Id="R1ee50adff8dd442e" /><Relationship Type="http://schemas.openxmlformats.org/officeDocument/2006/relationships/slideLayout" Target="/ppt/slideLayouts/slideLayout4.xml" Id="R2d15f7b8bcbc4d0b" /><Relationship Type="http://schemas.openxmlformats.org/officeDocument/2006/relationships/slideLayout" Target="/ppt/slideLayouts/slideLayout5.xml" Id="R3925df4e0e754098" /><Relationship Type="http://schemas.openxmlformats.org/officeDocument/2006/relationships/slideLayout" Target="/ppt/slideLayouts/slideLayout6.xml" Id="Re15d807d4e704f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5fa8fe4ab94293"/>
    <p:sldLayoutId xmlns:r="http://schemas.openxmlformats.org/officeDocument/2006/relationships" id="2147483650" r:id="Rd2fa4de254554e26"/>
    <p:sldLayoutId xmlns:r="http://schemas.openxmlformats.org/officeDocument/2006/relationships" id="2147483651" r:id="R1ee50adff8dd442e"/>
    <p:sldLayoutId xmlns:r="http://schemas.openxmlformats.org/officeDocument/2006/relationships" id="2147483652" r:id="R2d15f7b8bcbc4d0b"/>
    <p:sldLayoutId xmlns:r="http://schemas.openxmlformats.org/officeDocument/2006/relationships" id="2147483653" r:id="R3925df4e0e754098"/>
    <p:sldLayoutId xmlns:r="http://schemas.openxmlformats.org/officeDocument/2006/relationships" id="2147483654" r:id="Re15d807d4e704f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9e622b655f4462" /><Relationship Type="http://schemas.openxmlformats.org/officeDocument/2006/relationships/image" Target="/ppt/media/image.jpeg" Id="R62e1a46c0bae4946" /><Relationship Type="http://schemas.openxmlformats.org/officeDocument/2006/relationships/notesSlide" Target="/ppt/notesSlides/notesSlide1.xml" Id="Rba8eb2c2b0c14e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e9856c8f144411" /><Relationship Type="http://schemas.openxmlformats.org/officeDocument/2006/relationships/notesSlide" Target="/ppt/notesSlides/notesSlide2.xml" Id="R3dd513906dfa46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82a9d55c5da4d49" /><Relationship Type="http://schemas.openxmlformats.org/officeDocument/2006/relationships/notesSlide" Target="/ppt/notesSlides/notesSlide3.xml" Id="R26c57698d01b47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ea7d897f184a4f" /><Relationship Type="http://schemas.openxmlformats.org/officeDocument/2006/relationships/notesSlide" Target="/ppt/notesSlides/notesSlide4.xml" Id="Rafc4b24e8ee546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1f5a4a01584c14" /><Relationship Type="http://schemas.openxmlformats.org/officeDocument/2006/relationships/notesSlide" Target="/ppt/notesSlides/notesSlide5.xml" Id="Rad4a238b200b43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c14bf085ea48ef" /><Relationship Type="http://schemas.openxmlformats.org/officeDocument/2006/relationships/notesSlide" Target="/ppt/notesSlides/notesSlide6.xml" Id="Red2cfdd6a7c74b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f5def9ab4fa4e9a" /><Relationship Type="http://schemas.openxmlformats.org/officeDocument/2006/relationships/notesSlide" Target="/ppt/notesSlides/notesSlide7.xml" Id="R29cec46db75f41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b092ac0bbe4c86" /><Relationship Type="http://schemas.openxmlformats.org/officeDocument/2006/relationships/notesSlide" Target="/ppt/notesSlides/notesSlide8.xml" Id="R3149a22e755a4c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b93fae01b84cf0" /><Relationship Type="http://schemas.openxmlformats.org/officeDocument/2006/relationships/notesSlide" Target="/ppt/notesSlides/notesSlide9.xml" Id="R18b29801bf8f41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cf6615a32543af" /><Relationship Type="http://schemas.openxmlformats.org/officeDocument/2006/relationships/image" Target="/ppt/media/image2.jpeg" Id="R0c8300dc35ac491b" /><Relationship Type="http://schemas.openxmlformats.org/officeDocument/2006/relationships/notesSlide" Target="/ppt/notesSlides/notesSlide10.xml" Id="R0beea3fbe1854d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28ab2a26bf4c29" /><Relationship Type="http://schemas.openxmlformats.org/officeDocument/2006/relationships/notesSlide" Target="/ppt/notesSlides/notesSlide11.xml" Id="Reec0c3d1120c45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1ee4f3331e646d0" /><Relationship Type="http://schemas.openxmlformats.org/officeDocument/2006/relationships/notesSlide" Target="/ppt/notesSlides/notesSlide12.xml" Id="Ra60d7d16616742b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3dbe9be2d5472b" /><Relationship Type="http://schemas.openxmlformats.org/officeDocument/2006/relationships/notesSlide" Target="/ppt/notesSlides/notesSlide13.xml" Id="R87fb30b169de43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a7cb4d23934435" /><Relationship Type="http://schemas.openxmlformats.org/officeDocument/2006/relationships/notesSlide" Target="/ppt/notesSlides/notesSlide14.xml" Id="Ra46b75cfce714f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c3d1bbf63ba43e6" /><Relationship Type="http://schemas.openxmlformats.org/officeDocument/2006/relationships/notesSlide" Target="/ppt/notesSlides/notesSlide15.xml" Id="R7daf571ff3b94dd1" /></Relationships>
</file>

<file path=ppt/slides/slide1.xml><?xml version="1.0" encoding="utf-8"?>
<p:sld xmlns:p="http://schemas.openxmlformats.org/presentationml/2006/main">
  <p:cSld>
    <p:bg>
      <p:bgPr>
        <a:solidFill xmlns:a="http://schemas.openxmlformats.org/drawingml/2006/main">
          <a:srgbClr val="173C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4EE365-0126-48C4-A402-FF0A85089149}"/>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5CDBC"/>
                </a:solidFill>
              </a:defRPr>
            </a:defPPr>
            <a:lvl1pPr>
              <a:defRPr sz="1500" b="0">
                <a:solidFill>
                  <a:srgbClr val="C5CDBC"/>
                </a:solidFill>
              </a:defRPr>
            </a:lvl1pPr>
            <a:lvl2pPr>
              <a:defRPr sz="1500" b="0">
                <a:solidFill>
                  <a:srgbClr val="C5CDBC"/>
                </a:solidFill>
              </a:defRPr>
            </a:lvl2pPr>
            <a:lvl3pPr>
              <a:defRPr sz="1500" b="0">
                <a:solidFill>
                  <a:srgbClr val="C5CDBC"/>
                </a:solidFill>
              </a:defRPr>
            </a:lvl3pPr>
            <a:lvl4pPr>
              <a:defRPr sz="1500" b="0">
                <a:solidFill>
                  <a:srgbClr val="C5CDBC"/>
                </a:solidFill>
              </a:defRPr>
            </a:lvl4pPr>
            <a:lvl5pPr>
              <a:defRPr sz="1500" b="0">
                <a:solidFill>
                  <a:srgbClr val="C5CDBC"/>
                </a:solidFill>
              </a:defRPr>
            </a:lvl5pPr>
            <a:lvl6pPr>
              <a:defRPr sz="1500" b="0">
                <a:solidFill>
                  <a:srgbClr val="C5CDBC"/>
                </a:solidFill>
              </a:defRPr>
            </a:lvl6pPr>
            <a:lvl7pPr>
              <a:defRPr sz="1500" b="0">
                <a:solidFill>
                  <a:srgbClr val="C5CDBC"/>
                </a:solidFill>
              </a:defRPr>
            </a:lvl7pPr>
            <a:lvl8pPr>
              <a:defRPr sz="1500" b="0">
                <a:solidFill>
                  <a:srgbClr val="C5CDBC"/>
                </a:solidFill>
              </a:defRPr>
            </a:lvl8pPr>
            <a:lvl9pPr>
              <a:defRPr sz="1500" b="0">
                <a:solidFill>
                  <a:srgbClr val="C5CDBC"/>
                </a:solidFill>
              </a:defRPr>
            </a:lvl9pPr>
          </a:lstStyle>
          <a:p xmlns:a="http://schemas.openxmlformats.org/drawingml/2006/main">
            <a:pPr>
              <a:defRPr sz="1500" b="0">
                <a:solidFill>
                  <a:srgbClr val="C5CDBC"/>
                </a:solidFill>
              </a:defRPr>
            </a:pPr>
            <a:r>
              <a:rPr sz="1500" b="0">
                <a:solidFill>
                  <a:srgbClr val="C5CDBC"/>
                </a:solidFill>
              </a:rPr>
              <a:t>01</a:t>
            </a:r>
          </a:p>
        </p:txBody>
      </p:sp>
      <p:pic>
        <p:nvPicPr>
          <p:cNvPr id="2" name="">
            <a:extLst xmlns:a="http://schemas.openxmlformats.org/drawingml/2006/main">
              <a:ext uri="{FF2B5EF4-FFF2-40B4-BE49-F238E27FC236}">
                <a16:creationId xmlns:a16="http://schemas.microsoft.com/office/drawing/2014/main" id="{C5AF25A8-E972-4A7D-B6B4-90E78F99EAA9}"/>
              </a:ext>
            </a:extLst>
          </p:cNvPr>
          <p:cNvPicPr>
            <a:picLocks xmlns:a="http://schemas.openxmlformats.org/drawingml/2006/main" noChangeAspect="1"/>
          </p:cNvPicPr>
          <p:nvPr/>
        </p:nvPicPr>
        <p:blipFill>
          <a:blip xmlns:r="http://schemas.openxmlformats.org/officeDocument/2006/relationships" xmlns:a="http://schemas.openxmlformats.org/drawingml/2006/main" r:embed="R62e1a46c0bae4946"/>
          <a:stretch xmlns:a="http://schemas.openxmlformats.org/drawingml/2006/main"/>
        </p:blipFill>
        <p:spPr>
          <a:xfrm xmlns:a="http://schemas.openxmlformats.org/drawingml/2006/main">
            <a:off x="7572375" y="1447"/>
            <a:ext cx="4619625" cy="685510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F6FA97-9083-46EB-98F5-94E76B9E6360}"/>
              </a:ext>
            </a:extLst>
          </p:cNvPr>
          <p:cNvSpPr>
            <a:spLocks xmlns:a="http://schemas.openxmlformats.org/drawingml/2006/main" noGrp="1"/>
          </p:cNvSpPr>
          <p:nvPr/>
        </p:nvSpPr>
        <p:spPr>
          <a:xfrm xmlns:a="http://schemas.openxmlformats.org/drawingml/2006/main">
            <a:off x="619125" y="1657350"/>
            <a:ext cx="685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4F1E8"/>
                </a:solidFill>
              </a:defRPr>
            </a:defPPr>
            <a:lvl1pPr>
              <a:defRPr sz="6600" b="1">
                <a:solidFill>
                  <a:srgbClr val="F4F1E8"/>
                </a:solidFill>
              </a:defRPr>
            </a:lvl1pPr>
            <a:lvl2pPr>
              <a:defRPr sz="6600" b="1">
                <a:solidFill>
                  <a:srgbClr val="F4F1E8"/>
                </a:solidFill>
              </a:defRPr>
            </a:lvl2pPr>
            <a:lvl3pPr>
              <a:defRPr sz="6600" b="1">
                <a:solidFill>
                  <a:srgbClr val="F4F1E8"/>
                </a:solidFill>
              </a:defRPr>
            </a:lvl3pPr>
            <a:lvl4pPr>
              <a:defRPr sz="6600" b="1">
                <a:solidFill>
                  <a:srgbClr val="F4F1E8"/>
                </a:solidFill>
              </a:defRPr>
            </a:lvl4pPr>
            <a:lvl5pPr>
              <a:defRPr sz="6600" b="1">
                <a:solidFill>
                  <a:srgbClr val="F4F1E8"/>
                </a:solidFill>
              </a:defRPr>
            </a:lvl5pPr>
            <a:lvl6pPr>
              <a:defRPr sz="6600" b="1">
                <a:solidFill>
                  <a:srgbClr val="F4F1E8"/>
                </a:solidFill>
              </a:defRPr>
            </a:lvl6pPr>
            <a:lvl7pPr>
              <a:defRPr sz="6600" b="1">
                <a:solidFill>
                  <a:srgbClr val="F4F1E8"/>
                </a:solidFill>
              </a:defRPr>
            </a:lvl7pPr>
            <a:lvl8pPr>
              <a:defRPr sz="6600" b="1">
                <a:solidFill>
                  <a:srgbClr val="F4F1E8"/>
                </a:solidFill>
              </a:defRPr>
            </a:lvl8pPr>
            <a:lvl9pPr>
              <a:defRPr sz="6600" b="1">
                <a:solidFill>
                  <a:srgbClr val="F4F1E8"/>
                </a:solidFill>
              </a:defRPr>
            </a:lvl9pPr>
          </a:lstStyle>
          <a:p xmlns:a="http://schemas.openxmlformats.org/drawingml/2006/main">
            <a:pPr>
              <a:defRPr sz="6600" b="1">
                <a:solidFill>
                  <a:srgbClr val="F4F1E8"/>
                </a:solidFill>
              </a:defRPr>
            </a:pPr>
            <a:r>
              <a:rPr sz="6600" b="1">
                <a:solidFill>
                  <a:srgbClr val="F4F1E8"/>
                </a:solidFill>
              </a:rPr>
              <a:t>EcoSentinel</a:t>
            </a:r>
          </a:p>
        </p:txBody>
      </p:sp>
      <p:sp>
        <p:nvSpPr>
          <p:cNvPr id="4" name="">
            <a:extLst xmlns:a="http://schemas.openxmlformats.org/drawingml/2006/main">
              <a:ext uri="{FF2B5EF4-FFF2-40B4-BE49-F238E27FC236}">
                <a16:creationId xmlns:a16="http://schemas.microsoft.com/office/drawing/2014/main" id="{AAC8627D-BE2D-4903-9A6A-102EB120AC00}"/>
              </a:ext>
            </a:extLst>
          </p:cNvPr>
          <p:cNvSpPr>
            <a:spLocks xmlns:a="http://schemas.openxmlformats.org/drawingml/2006/main" noGrp="1"/>
          </p:cNvSpPr>
          <p:nvPr/>
        </p:nvSpPr>
        <p:spPr>
          <a:xfrm xmlns:a="http://schemas.openxmlformats.org/drawingml/2006/main">
            <a:off x="666750" y="3009900"/>
            <a:ext cx="6429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4F1E8"/>
                </a:solidFill>
              </a:defRPr>
            </a:defPPr>
            <a:lvl1pPr>
              <a:defRPr sz="3225" b="0">
                <a:solidFill>
                  <a:srgbClr val="F4F1E8"/>
                </a:solidFill>
              </a:defRPr>
            </a:lvl1pPr>
            <a:lvl2pPr>
              <a:defRPr sz="3225" b="0">
                <a:solidFill>
                  <a:srgbClr val="F4F1E8"/>
                </a:solidFill>
              </a:defRPr>
            </a:lvl2pPr>
            <a:lvl3pPr>
              <a:defRPr sz="3225" b="0">
                <a:solidFill>
                  <a:srgbClr val="F4F1E8"/>
                </a:solidFill>
              </a:defRPr>
            </a:lvl3pPr>
            <a:lvl4pPr>
              <a:defRPr sz="3225" b="0">
                <a:solidFill>
                  <a:srgbClr val="F4F1E8"/>
                </a:solidFill>
              </a:defRPr>
            </a:lvl4pPr>
            <a:lvl5pPr>
              <a:defRPr sz="3225" b="0">
                <a:solidFill>
                  <a:srgbClr val="F4F1E8"/>
                </a:solidFill>
              </a:defRPr>
            </a:lvl5pPr>
            <a:lvl6pPr>
              <a:defRPr sz="3225" b="0">
                <a:solidFill>
                  <a:srgbClr val="F4F1E8"/>
                </a:solidFill>
              </a:defRPr>
            </a:lvl6pPr>
            <a:lvl7pPr>
              <a:defRPr sz="3225" b="0">
                <a:solidFill>
                  <a:srgbClr val="F4F1E8"/>
                </a:solidFill>
              </a:defRPr>
            </a:lvl7pPr>
            <a:lvl8pPr>
              <a:defRPr sz="3225" b="0">
                <a:solidFill>
                  <a:srgbClr val="F4F1E8"/>
                </a:solidFill>
              </a:defRPr>
            </a:lvl8pPr>
            <a:lvl9pPr>
              <a:defRPr sz="3225" b="0">
                <a:solidFill>
                  <a:srgbClr val="F4F1E8"/>
                </a:solidFill>
              </a:defRPr>
            </a:lvl9pPr>
          </a:lstStyle>
          <a:p xmlns:a="http://schemas.openxmlformats.org/drawingml/2006/main">
            <a:pPr>
              <a:defRPr sz="3225" b="0">
                <a:solidFill>
                  <a:srgbClr val="F4F1E8"/>
                </a:solidFill>
              </a:defRPr>
            </a:pPr>
            <a:r>
              <a:rPr sz="3225" b="0">
                <a:solidFill>
                  <a:srgbClr val="F4F1E8"/>
                </a:solidFill>
              </a:rPr>
              <a:t>Wildlife data connected</a:t>
            </a:r>
          </a:p>
          <a:p xmlns:a="http://schemas.openxmlformats.org/drawingml/2006/main">
            <a:pPr>
              <a:defRPr sz="3225" b="0">
                <a:solidFill>
                  <a:srgbClr val="F4F1E8"/>
                </a:solidFill>
              </a:defRPr>
            </a:pPr>
            <a:r>
              <a:rPr sz="3225" b="0">
                <a:solidFill>
                  <a:srgbClr val="F4F1E8"/>
                </a:solidFill>
              </a:rPr>
              <a:t>to its sources</a:t>
            </a:r>
          </a:p>
        </p:txBody>
      </p:sp>
      <p:sp>
        <p:nvSpPr>
          <p:cNvPr id="5" name="">
            <a:extLst xmlns:a="http://schemas.openxmlformats.org/drawingml/2006/main">
              <a:ext uri="{FF2B5EF4-FFF2-40B4-BE49-F238E27FC236}">
                <a16:creationId xmlns:a16="http://schemas.microsoft.com/office/drawing/2014/main" id="{25789FE7-5A1C-400E-B588-E717E553E9E8}"/>
              </a:ext>
            </a:extLst>
          </p:cNvPr>
          <p:cNvSpPr>
            <a:spLocks xmlns:a="http://schemas.openxmlformats.org/drawingml/2006/main" noGrp="1"/>
          </p:cNvSpPr>
          <p:nvPr/>
        </p:nvSpPr>
        <p:spPr>
          <a:xfrm xmlns:a="http://schemas.openxmlformats.org/drawingml/2006/main">
            <a:off x="685800" y="5191125"/>
            <a:ext cx="609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8"/>
                </a:solidFill>
              </a:defRPr>
            </a:defPPr>
            <a:lvl1pPr>
              <a:defRPr sz="2175" b="0">
                <a:solidFill>
                  <a:srgbClr val="F4F1E8"/>
                </a:solidFill>
              </a:defRPr>
            </a:lvl1pPr>
            <a:lvl2pPr>
              <a:defRPr sz="2175" b="0">
                <a:solidFill>
                  <a:srgbClr val="F4F1E8"/>
                </a:solidFill>
              </a:defRPr>
            </a:lvl2pPr>
            <a:lvl3pPr>
              <a:defRPr sz="2175" b="0">
                <a:solidFill>
                  <a:srgbClr val="F4F1E8"/>
                </a:solidFill>
              </a:defRPr>
            </a:lvl3pPr>
            <a:lvl4pPr>
              <a:defRPr sz="2175" b="0">
                <a:solidFill>
                  <a:srgbClr val="F4F1E8"/>
                </a:solidFill>
              </a:defRPr>
            </a:lvl4pPr>
            <a:lvl5pPr>
              <a:defRPr sz="2175" b="0">
                <a:solidFill>
                  <a:srgbClr val="F4F1E8"/>
                </a:solidFill>
              </a:defRPr>
            </a:lvl5pPr>
            <a:lvl6pPr>
              <a:defRPr sz="2175" b="0">
                <a:solidFill>
                  <a:srgbClr val="F4F1E8"/>
                </a:solidFill>
              </a:defRPr>
            </a:lvl6pPr>
            <a:lvl7pPr>
              <a:defRPr sz="2175" b="0">
                <a:solidFill>
                  <a:srgbClr val="F4F1E8"/>
                </a:solidFill>
              </a:defRPr>
            </a:lvl7pPr>
            <a:lvl8pPr>
              <a:defRPr sz="2175" b="0">
                <a:solidFill>
                  <a:srgbClr val="F4F1E8"/>
                </a:solidFill>
              </a:defRPr>
            </a:lvl8pPr>
            <a:lvl9pPr>
              <a:defRPr sz="2175" b="0">
                <a:solidFill>
                  <a:srgbClr val="F4F1E8"/>
                </a:solidFill>
              </a:defRPr>
            </a:lvl9pPr>
          </a:lstStyle>
          <a:p xmlns:a="http://schemas.openxmlformats.org/drawingml/2006/main">
            <a:pPr>
              <a:defRPr sz="2175" b="0">
                <a:solidFill>
                  <a:srgbClr val="F4F1E8"/>
                </a:solidFill>
              </a:defRPr>
            </a:pPr>
            <a:r>
              <a:rPr sz="2175" b="0">
                <a:solidFill>
                  <a:srgbClr val="F4F1E8"/>
                </a:solidFill>
              </a:rPr>
              <a:t>Mario Rodrigo</a:t>
            </a:r>
          </a:p>
          <a:p xmlns:a="http://schemas.openxmlformats.org/drawingml/2006/main">
            <a:pPr>
              <a:defRPr sz="2175" b="0">
                <a:solidFill>
                  <a:srgbClr val="F4F1E8"/>
                </a:solidFill>
              </a:defRPr>
            </a:pPr>
            <a:r>
              <a:rPr sz="2175" b="0">
                <a:solidFill>
                  <a:srgbClr val="F4F1E8"/>
                </a:solidFill>
              </a:rPr>
              <a:t>Sambhav · Wassim</a:t>
            </a:r>
          </a:p>
        </p:txBody>
      </p:sp>
      <p:sp>
        <p:nvSpPr>
          <p:cNvPr id="6" name="">
            <a:extLst xmlns:a="http://schemas.openxmlformats.org/drawingml/2006/main">
              <a:ext uri="{FF2B5EF4-FFF2-40B4-BE49-F238E27FC236}">
                <a16:creationId xmlns:a16="http://schemas.microsoft.com/office/drawing/2014/main" id="{421029BF-2CAF-43F8-B307-4A6A1C0AF27E}"/>
              </a:ext>
            </a:extLst>
          </p:cNvPr>
          <p:cNvSpPr>
            <a:spLocks xmlns:a="http://schemas.openxmlformats.org/drawingml/2006/main" noGrp="1"/>
          </p:cNvSpPr>
          <p:nvPr/>
        </p:nvSpPr>
        <p:spPr>
          <a:xfrm xmlns:a="http://schemas.openxmlformats.org/drawingml/2006/main">
            <a:off x="685800" y="6858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5CDBC"/>
                </a:solidFill>
              </a:defRPr>
            </a:defPPr>
            <a:lvl1pPr>
              <a:defRPr sz="1800" b="0">
                <a:solidFill>
                  <a:srgbClr val="C5CDBC"/>
                </a:solidFill>
              </a:defRPr>
            </a:lvl1pPr>
            <a:lvl2pPr>
              <a:defRPr sz="1800" b="0">
                <a:solidFill>
                  <a:srgbClr val="C5CDBC"/>
                </a:solidFill>
              </a:defRPr>
            </a:lvl2pPr>
            <a:lvl3pPr>
              <a:defRPr sz="1800" b="0">
                <a:solidFill>
                  <a:srgbClr val="C5CDBC"/>
                </a:solidFill>
              </a:defRPr>
            </a:lvl3pPr>
            <a:lvl4pPr>
              <a:defRPr sz="1800" b="0">
                <a:solidFill>
                  <a:srgbClr val="C5CDBC"/>
                </a:solidFill>
              </a:defRPr>
            </a:lvl4pPr>
            <a:lvl5pPr>
              <a:defRPr sz="1800" b="0">
                <a:solidFill>
                  <a:srgbClr val="C5CDBC"/>
                </a:solidFill>
              </a:defRPr>
            </a:lvl5pPr>
            <a:lvl6pPr>
              <a:defRPr sz="1800" b="0">
                <a:solidFill>
                  <a:srgbClr val="C5CDBC"/>
                </a:solidFill>
              </a:defRPr>
            </a:lvl6pPr>
            <a:lvl7pPr>
              <a:defRPr sz="1800" b="0">
                <a:solidFill>
                  <a:srgbClr val="C5CDBC"/>
                </a:solidFill>
              </a:defRPr>
            </a:lvl7pPr>
            <a:lvl8pPr>
              <a:defRPr sz="1800" b="0">
                <a:solidFill>
                  <a:srgbClr val="C5CDBC"/>
                </a:solidFill>
              </a:defRPr>
            </a:lvl8pPr>
            <a:lvl9pPr>
              <a:defRPr sz="1800" b="0">
                <a:solidFill>
                  <a:srgbClr val="C5CDBC"/>
                </a:solidFill>
              </a:defRPr>
            </a:lvl9pPr>
          </a:lstStyle>
          <a:p xmlns:a="http://schemas.openxmlformats.org/drawingml/2006/main">
            <a:pPr>
              <a:defRPr sz="1800" b="0">
                <a:solidFill>
                  <a:srgbClr val="C5CDBC"/>
                </a:solidFill>
              </a:defRPr>
            </a:pPr>
            <a:r>
              <a:rPr sz="1800" b="0">
                <a:solidFill>
                  <a:srgbClr val="C5CDBC"/>
                </a:solidFill>
              </a:rPr>
              <a:t>ADSDB P1 · UPC</a:t>
            </a:r>
          </a:p>
        </p:txBody>
      </p:sp>
      <p:sp>
        <p:nvSpPr>
          <p:cNvPr id="7" name="">
            <a:extLst xmlns:a="http://schemas.openxmlformats.org/drawingml/2006/main">
              <a:ext uri="{FF2B5EF4-FFF2-40B4-BE49-F238E27FC236}">
                <a16:creationId xmlns:a16="http://schemas.microsoft.com/office/drawing/2014/main" id="{FDFA2858-6A82-4944-A871-998A895D6B93}"/>
              </a:ext>
            </a:extLst>
          </p:cNvPr>
          <p:cNvSpPr>
            <a:spLocks xmlns:a="http://schemas.openxmlformats.org/drawingml/2006/main" noGrp="1"/>
          </p:cNvSpPr>
          <p:nvPr/>
        </p:nvSpPr>
        <p:spPr>
          <a:xfrm xmlns:a="http://schemas.openxmlformats.org/drawingml/2006/main">
            <a:off x="685800" y="6429375"/>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C5CDBC"/>
                </a:solidFill>
              </a:defRPr>
            </a:defPPr>
            <a:lvl1pPr>
              <a:defRPr sz="1350" b="0">
                <a:solidFill>
                  <a:srgbClr val="C5CDBC"/>
                </a:solidFill>
              </a:defRPr>
            </a:lvl1pPr>
            <a:lvl2pPr>
              <a:defRPr sz="1350" b="0">
                <a:solidFill>
                  <a:srgbClr val="C5CDBC"/>
                </a:solidFill>
              </a:defRPr>
            </a:lvl2pPr>
            <a:lvl3pPr>
              <a:defRPr sz="1350" b="0">
                <a:solidFill>
                  <a:srgbClr val="C5CDBC"/>
                </a:solidFill>
              </a:defRPr>
            </a:lvl3pPr>
            <a:lvl4pPr>
              <a:defRPr sz="1350" b="0">
                <a:solidFill>
                  <a:srgbClr val="C5CDBC"/>
                </a:solidFill>
              </a:defRPr>
            </a:lvl4pPr>
            <a:lvl5pPr>
              <a:defRPr sz="1350" b="0">
                <a:solidFill>
                  <a:srgbClr val="C5CDBC"/>
                </a:solidFill>
              </a:defRPr>
            </a:lvl5pPr>
            <a:lvl6pPr>
              <a:defRPr sz="1350" b="0">
                <a:solidFill>
                  <a:srgbClr val="C5CDBC"/>
                </a:solidFill>
              </a:defRPr>
            </a:lvl6pPr>
            <a:lvl7pPr>
              <a:defRPr sz="1350" b="0">
                <a:solidFill>
                  <a:srgbClr val="C5CDBC"/>
                </a:solidFill>
              </a:defRPr>
            </a:lvl7pPr>
            <a:lvl8pPr>
              <a:defRPr sz="1350" b="0">
                <a:solidFill>
                  <a:srgbClr val="C5CDBC"/>
                </a:solidFill>
              </a:defRPr>
            </a:lvl8pPr>
            <a:lvl9pPr>
              <a:defRPr sz="1350" b="0">
                <a:solidFill>
                  <a:srgbClr val="C5CDBC"/>
                </a:solidFill>
              </a:defRPr>
            </a:lvl9pPr>
          </a:lstStyle>
          <a:p xmlns:a="http://schemas.openxmlformats.org/drawingml/2006/main">
            <a:pPr>
              <a:defRPr sz="1350" b="0">
                <a:solidFill>
                  <a:srgbClr val="C5CDBC"/>
                </a:solidFill>
              </a:defRPr>
            </a:pPr>
            <a:r>
              <a:rPr sz="1350" b="0">
                <a:solidFill>
                  <a:srgbClr val="C5CDBC"/>
                </a:solidFill>
              </a:rPr>
              <a:t>Photo: lynxexsitu.es · CC BY 3.0 es</a:t>
            </a:r>
          </a:p>
        </p:txBody>
      </p:sp>
    </p:spTree>
    <p:extLst>
      <p:ext uri="{BB962C8B-B14F-4D97-AF65-F5344CB8AC3E}">
        <p14:creationId xmlns:p14="http://schemas.microsoft.com/office/powerpoint/2010/main" val="1117020678"/>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2572C4-5C91-40E4-922B-CC90CB47600E}"/>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One wildlife question, several sources</a:t>
            </a:r>
          </a:p>
        </p:txBody>
      </p:sp>
      <p:sp>
        <p:nvSpPr>
          <p:cNvPr id="2" name="">
            <a:extLst xmlns:a="http://schemas.openxmlformats.org/drawingml/2006/main">
              <a:ext uri="{FF2B5EF4-FFF2-40B4-BE49-F238E27FC236}">
                <a16:creationId xmlns:a16="http://schemas.microsoft.com/office/drawing/2014/main" id="{1F3026B1-AC83-4428-AFF9-EF127CA285CB}"/>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02</a:t>
            </a:r>
          </a:p>
        </p:txBody>
      </p:sp>
      <p:sp>
        <p:nvSpPr>
          <p:cNvPr id="3" name="">
            <a:extLst xmlns:a="http://schemas.openxmlformats.org/drawingml/2006/main">
              <a:ext uri="{FF2B5EF4-FFF2-40B4-BE49-F238E27FC236}">
                <a16:creationId xmlns:a16="http://schemas.microsoft.com/office/drawing/2014/main" id="{B018AA51-96B8-40A5-8BC9-05131D49E12C}"/>
              </a:ext>
            </a:extLst>
          </p:cNvPr>
          <p:cNvSpPr>
            <a:spLocks xmlns:a="http://schemas.openxmlformats.org/drawingml/2006/main" noGrp="1"/>
          </p:cNvSpPr>
          <p:nvPr/>
        </p:nvSpPr>
        <p:spPr>
          <a:xfrm xmlns:a="http://schemas.openxmlformats.org/drawingml/2006/main">
            <a:off x="666750" y="2019300"/>
            <a:ext cx="7239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173C33"/>
                </a:solidFill>
              </a:defRPr>
            </a:defPPr>
            <a:lvl1pPr>
              <a:defRPr sz="3675" b="1">
                <a:solidFill>
                  <a:srgbClr val="173C33"/>
                </a:solidFill>
              </a:defRPr>
            </a:lvl1pPr>
            <a:lvl2pPr>
              <a:defRPr sz="3675" b="1">
                <a:solidFill>
                  <a:srgbClr val="173C33"/>
                </a:solidFill>
              </a:defRPr>
            </a:lvl2pPr>
            <a:lvl3pPr>
              <a:defRPr sz="3675" b="1">
                <a:solidFill>
                  <a:srgbClr val="173C33"/>
                </a:solidFill>
              </a:defRPr>
            </a:lvl3pPr>
            <a:lvl4pPr>
              <a:defRPr sz="3675" b="1">
                <a:solidFill>
                  <a:srgbClr val="173C33"/>
                </a:solidFill>
              </a:defRPr>
            </a:lvl4pPr>
            <a:lvl5pPr>
              <a:defRPr sz="3675" b="1">
                <a:solidFill>
                  <a:srgbClr val="173C33"/>
                </a:solidFill>
              </a:defRPr>
            </a:lvl5pPr>
            <a:lvl6pPr>
              <a:defRPr sz="3675" b="1">
                <a:solidFill>
                  <a:srgbClr val="173C33"/>
                </a:solidFill>
              </a:defRPr>
            </a:lvl6pPr>
            <a:lvl7pPr>
              <a:defRPr sz="3675" b="1">
                <a:solidFill>
                  <a:srgbClr val="173C33"/>
                </a:solidFill>
              </a:defRPr>
            </a:lvl7pPr>
            <a:lvl8pPr>
              <a:defRPr sz="3675" b="1">
                <a:solidFill>
                  <a:srgbClr val="173C33"/>
                </a:solidFill>
              </a:defRPr>
            </a:lvl8pPr>
            <a:lvl9pPr>
              <a:defRPr sz="3675" b="1">
                <a:solidFill>
                  <a:srgbClr val="173C33"/>
                </a:solidFill>
              </a:defRPr>
            </a:lvl9pPr>
          </a:lstStyle>
          <a:p xmlns:a="http://schemas.openxmlformats.org/drawingml/2006/main">
            <a:pPr>
              <a:defRPr sz="3675" b="1">
                <a:solidFill>
                  <a:srgbClr val="173C33"/>
                </a:solidFill>
              </a:defRPr>
            </a:pPr>
            <a:r>
              <a:rPr sz="3675" b="1">
                <a:solidFill>
                  <a:srgbClr val="173C33"/>
                </a:solidFill>
              </a:rPr>
              <a:t>“I have a photograph.</a:t>
            </a:r>
          </a:p>
          <a:p xmlns:a="http://schemas.openxmlformats.org/drawingml/2006/main">
            <a:pPr>
              <a:defRPr sz="3675" b="1">
                <a:solidFill>
                  <a:srgbClr val="173C33"/>
                </a:solidFill>
              </a:defRPr>
            </a:pPr>
            <a:r>
              <a:rPr sz="3675" b="1">
                <a:solidFill>
                  <a:srgbClr val="173C33"/>
                </a:solidFill>
              </a:rPr>
              <a:t>What can help me</a:t>
            </a:r>
          </a:p>
          <a:p xmlns:a="http://schemas.openxmlformats.org/drawingml/2006/main">
            <a:pPr>
              <a:defRPr sz="3675" b="1">
                <a:solidFill>
                  <a:srgbClr val="173C33"/>
                </a:solidFill>
              </a:defRPr>
            </a:pPr>
            <a:r>
              <a:rPr sz="3675" b="1">
                <a:solidFill>
                  <a:srgbClr val="173C33"/>
                </a:solidFill>
              </a:rPr>
              <a:t>understand it?”</a:t>
            </a:r>
          </a:p>
        </p:txBody>
      </p:sp>
      <p:sp>
        <p:nvSpPr>
          <p:cNvPr id="4" name="">
            <a:extLst xmlns:a="http://schemas.openxmlformats.org/drawingml/2006/main">
              <a:ext uri="{FF2B5EF4-FFF2-40B4-BE49-F238E27FC236}">
                <a16:creationId xmlns:a16="http://schemas.microsoft.com/office/drawing/2014/main" id="{20FAF1B5-6634-4C7E-AE95-7A74FF139303}"/>
              </a:ext>
            </a:extLst>
          </p:cNvPr>
          <p:cNvSpPr>
            <a:spLocks xmlns:a="http://schemas.openxmlformats.org/drawingml/2006/main" noGrp="1"/>
          </p:cNvSpPr>
          <p:nvPr/>
        </p:nvSpPr>
        <p:spPr>
          <a:xfrm xmlns:a="http://schemas.openxmlformats.org/drawingml/2006/main">
            <a:off x="8191500" y="2247900"/>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3665C"/>
                </a:solidFill>
              </a:defRPr>
            </a:defPPr>
            <a:lvl1pPr>
              <a:defRPr sz="2250" b="0">
                <a:solidFill>
                  <a:srgbClr val="53665C"/>
                </a:solidFill>
              </a:defRPr>
            </a:lvl1pPr>
            <a:lvl2pPr>
              <a:defRPr sz="2250" b="0">
                <a:solidFill>
                  <a:srgbClr val="53665C"/>
                </a:solidFill>
              </a:defRPr>
            </a:lvl2pPr>
            <a:lvl3pPr>
              <a:defRPr sz="2250" b="0">
                <a:solidFill>
                  <a:srgbClr val="53665C"/>
                </a:solidFill>
              </a:defRPr>
            </a:lvl3pPr>
            <a:lvl4pPr>
              <a:defRPr sz="2250" b="0">
                <a:solidFill>
                  <a:srgbClr val="53665C"/>
                </a:solidFill>
              </a:defRPr>
            </a:lvl4pPr>
            <a:lvl5pPr>
              <a:defRPr sz="2250" b="0">
                <a:solidFill>
                  <a:srgbClr val="53665C"/>
                </a:solidFill>
              </a:defRPr>
            </a:lvl5pPr>
            <a:lvl6pPr>
              <a:defRPr sz="2250" b="0">
                <a:solidFill>
                  <a:srgbClr val="53665C"/>
                </a:solidFill>
              </a:defRPr>
            </a:lvl6pPr>
            <a:lvl7pPr>
              <a:defRPr sz="2250" b="0">
                <a:solidFill>
                  <a:srgbClr val="53665C"/>
                </a:solidFill>
              </a:defRPr>
            </a:lvl7pPr>
            <a:lvl8pPr>
              <a:defRPr sz="2250" b="0">
                <a:solidFill>
                  <a:srgbClr val="53665C"/>
                </a:solidFill>
              </a:defRPr>
            </a:lvl8pPr>
            <a:lvl9pPr>
              <a:defRPr sz="2250" b="0">
                <a:solidFill>
                  <a:srgbClr val="53665C"/>
                </a:solidFill>
              </a:defRPr>
            </a:lvl9pPr>
          </a:lstStyle>
          <a:p xmlns:a="http://schemas.openxmlformats.org/drawingml/2006/main">
            <a:pPr>
              <a:defRPr sz="2250" b="0">
                <a:solidFill>
                  <a:srgbClr val="53665C"/>
                </a:solidFill>
              </a:defRPr>
            </a:pPr>
            <a:r>
              <a:rPr sz="2250" b="0">
                <a:solidFill>
                  <a:srgbClr val="53665C"/>
                </a:solidFill>
              </a:rPr>
              <a:t>Find related images</a:t>
            </a:r>
          </a:p>
          <a:p xmlns:a="http://schemas.openxmlformats.org/drawingml/2006/main">
            <a:pPr>
              <a:defRPr sz="2250" b="0">
                <a:solidFill>
                  <a:srgbClr val="53665C"/>
                </a:solidFill>
              </a:defRPr>
            </a:pPr>
            <a:r>
              <a:rPr sz="2250" b="0">
                <a:solidFill>
                  <a:srgbClr val="53665C"/>
                </a:solidFill>
              </a:rPr>
              <a:t>Listen to recordings</a:t>
            </a:r>
          </a:p>
          <a:p xmlns:a="http://schemas.openxmlformats.org/drawingml/2006/main">
            <a:pPr>
              <a:defRPr sz="2250" b="0">
                <a:solidFill>
                  <a:srgbClr val="53665C"/>
                </a:solidFill>
              </a:defRPr>
            </a:pPr>
            <a:r>
              <a:rPr sz="2250" b="0">
                <a:solidFill>
                  <a:srgbClr val="53665C"/>
                </a:solidFill>
              </a:rPr>
              <a:t>Explore descriptions</a:t>
            </a:r>
          </a:p>
        </p:txBody>
      </p:sp>
      <p:sp>
        <p:nvSpPr>
          <p:cNvPr id="5" name="">
            <a:extLst xmlns:a="http://schemas.openxmlformats.org/drawingml/2006/main">
              <a:ext uri="{FF2B5EF4-FFF2-40B4-BE49-F238E27FC236}">
                <a16:creationId xmlns:a16="http://schemas.microsoft.com/office/drawing/2014/main" id="{5DCFDE2D-1B51-422F-8006-B83B5EC2BB0F}"/>
              </a:ext>
            </a:extLst>
          </p:cNvPr>
          <p:cNvSpPr>
            <a:spLocks xmlns:a="http://schemas.openxmlformats.org/drawingml/2006/main" noGrp="1"/>
          </p:cNvSpPr>
          <p:nvPr/>
        </p:nvSpPr>
        <p:spPr>
          <a:xfrm xmlns:a="http://schemas.openxmlformats.org/drawingml/2006/main">
            <a:off x="685800" y="55340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75A32"/>
                </a:solidFill>
              </a:defRPr>
            </a:defPPr>
            <a:lvl1pPr>
              <a:defRPr sz="2175" b="0">
                <a:solidFill>
                  <a:srgbClr val="B75A32"/>
                </a:solidFill>
              </a:defRPr>
            </a:lvl1pPr>
            <a:lvl2pPr>
              <a:defRPr sz="2175" b="0">
                <a:solidFill>
                  <a:srgbClr val="B75A32"/>
                </a:solidFill>
              </a:defRPr>
            </a:lvl2pPr>
            <a:lvl3pPr>
              <a:defRPr sz="2175" b="0">
                <a:solidFill>
                  <a:srgbClr val="B75A32"/>
                </a:solidFill>
              </a:defRPr>
            </a:lvl3pPr>
            <a:lvl4pPr>
              <a:defRPr sz="2175" b="0">
                <a:solidFill>
                  <a:srgbClr val="B75A32"/>
                </a:solidFill>
              </a:defRPr>
            </a:lvl4pPr>
            <a:lvl5pPr>
              <a:defRPr sz="2175" b="0">
                <a:solidFill>
                  <a:srgbClr val="B75A32"/>
                </a:solidFill>
              </a:defRPr>
            </a:lvl5pPr>
            <a:lvl6pPr>
              <a:defRPr sz="2175" b="0">
                <a:solidFill>
                  <a:srgbClr val="B75A32"/>
                </a:solidFill>
              </a:defRPr>
            </a:lvl6pPr>
            <a:lvl7pPr>
              <a:defRPr sz="2175" b="0">
                <a:solidFill>
                  <a:srgbClr val="B75A32"/>
                </a:solidFill>
              </a:defRPr>
            </a:lvl7pPr>
            <a:lvl8pPr>
              <a:defRPr sz="2175" b="0">
                <a:solidFill>
                  <a:srgbClr val="B75A32"/>
                </a:solidFill>
              </a:defRPr>
            </a:lvl8pPr>
            <a:lvl9pPr>
              <a:defRPr sz="2175" b="0">
                <a:solidFill>
                  <a:srgbClr val="B75A32"/>
                </a:solidFill>
              </a:defRPr>
            </a:lvl9pPr>
          </a:lstStyle>
          <a:p xmlns:a="http://schemas.openxmlformats.org/drawingml/2006/main">
            <a:pPr>
              <a:defRPr sz="2175" b="0">
                <a:solidFill>
                  <a:srgbClr val="B75A32"/>
                </a:solidFill>
              </a:defRPr>
            </a:pPr>
            <a:r>
              <a:rPr sz="2175" b="0">
                <a:solidFill>
                  <a:srgbClr val="B75A32"/>
                </a:solidFill>
              </a:rPr>
              <a:t>Proposed use: education and biodiversity exploration</a:t>
            </a:r>
          </a:p>
        </p:txBody>
      </p:sp>
    </p:spTree>
    <p:extLst>
      <p:ext uri="{BB962C8B-B14F-4D97-AF65-F5344CB8AC3E}">
        <p14:creationId xmlns:p14="http://schemas.microsoft.com/office/powerpoint/2010/main" val="43262111"/>
      </p:ext>
    </p:extLst>
  </p:cSld>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24A8F4-B485-4189-BD30-307DB6BB04E4}"/>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The reference corpus</a:t>
            </a:r>
          </a:p>
        </p:txBody>
      </p:sp>
      <p:sp>
        <p:nvSpPr>
          <p:cNvPr id="2" name="">
            <a:extLst xmlns:a="http://schemas.openxmlformats.org/drawingml/2006/main">
              <a:ext uri="{FF2B5EF4-FFF2-40B4-BE49-F238E27FC236}">
                <a16:creationId xmlns:a16="http://schemas.microsoft.com/office/drawing/2014/main" id="{31C19398-B874-4F5D-8F2E-9F10392F21C6}"/>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03</a:t>
            </a:r>
          </a:p>
        </p:txBody>
      </p:sp>
      <p:sp>
        <p:nvSpPr>
          <p:cNvPr id="3" name="">
            <a:extLst xmlns:a="http://schemas.openxmlformats.org/drawingml/2006/main">
              <a:ext uri="{FF2B5EF4-FFF2-40B4-BE49-F238E27FC236}">
                <a16:creationId xmlns:a16="http://schemas.microsoft.com/office/drawing/2014/main" id="{7D00AD24-425A-4659-B296-E9C4FC6D5683}"/>
              </a:ext>
            </a:extLst>
          </p:cNvPr>
          <p:cNvSpPr>
            <a:spLocks xmlns:a="http://schemas.openxmlformats.org/drawingml/2006/main" noGrp="1"/>
          </p:cNvSpPr>
          <p:nvPr/>
        </p:nvSpPr>
        <p:spPr>
          <a:xfrm xmlns:a="http://schemas.openxmlformats.org/drawingml/2006/main">
            <a:off x="609600" y="1933575"/>
            <a:ext cx="4095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900" b="1">
                <a:solidFill>
                  <a:srgbClr val="173C33"/>
                </a:solidFill>
              </a:defRPr>
            </a:defPPr>
            <a:lvl1pPr>
              <a:defRPr sz="9900" b="1">
                <a:solidFill>
                  <a:srgbClr val="173C33"/>
                </a:solidFill>
              </a:defRPr>
            </a:lvl1pPr>
            <a:lvl2pPr>
              <a:defRPr sz="9900" b="1">
                <a:solidFill>
                  <a:srgbClr val="173C33"/>
                </a:solidFill>
              </a:defRPr>
            </a:lvl2pPr>
            <a:lvl3pPr>
              <a:defRPr sz="9900" b="1">
                <a:solidFill>
                  <a:srgbClr val="173C33"/>
                </a:solidFill>
              </a:defRPr>
            </a:lvl3pPr>
            <a:lvl4pPr>
              <a:defRPr sz="9900" b="1">
                <a:solidFill>
                  <a:srgbClr val="173C33"/>
                </a:solidFill>
              </a:defRPr>
            </a:lvl4pPr>
            <a:lvl5pPr>
              <a:defRPr sz="9900" b="1">
                <a:solidFill>
                  <a:srgbClr val="173C33"/>
                </a:solidFill>
              </a:defRPr>
            </a:lvl5pPr>
            <a:lvl6pPr>
              <a:defRPr sz="9900" b="1">
                <a:solidFill>
                  <a:srgbClr val="173C33"/>
                </a:solidFill>
              </a:defRPr>
            </a:lvl6pPr>
            <a:lvl7pPr>
              <a:defRPr sz="9900" b="1">
                <a:solidFill>
                  <a:srgbClr val="173C33"/>
                </a:solidFill>
              </a:defRPr>
            </a:lvl7pPr>
            <a:lvl8pPr>
              <a:defRPr sz="9900" b="1">
                <a:solidFill>
                  <a:srgbClr val="173C33"/>
                </a:solidFill>
              </a:defRPr>
            </a:lvl8pPr>
            <a:lvl9pPr>
              <a:defRPr sz="9900" b="1">
                <a:solidFill>
                  <a:srgbClr val="173C33"/>
                </a:solidFill>
              </a:defRPr>
            </a:lvl9pPr>
          </a:lstStyle>
          <a:p xmlns:a="http://schemas.openxmlformats.org/drawingml/2006/main">
            <a:pPr>
              <a:defRPr sz="9900" b="1">
                <a:solidFill>
                  <a:srgbClr val="173C33"/>
                </a:solidFill>
              </a:defRPr>
            </a:pPr>
            <a:r>
              <a:rPr sz="9900" b="1">
                <a:solidFill>
                  <a:srgbClr val="173C33"/>
                </a:solidFill>
              </a:rPr>
              <a:t>198</a:t>
            </a:r>
          </a:p>
        </p:txBody>
      </p:sp>
      <p:sp>
        <p:nvSpPr>
          <p:cNvPr id="4" name="">
            <a:extLst xmlns:a="http://schemas.openxmlformats.org/drawingml/2006/main">
              <a:ext uri="{FF2B5EF4-FFF2-40B4-BE49-F238E27FC236}">
                <a16:creationId xmlns:a16="http://schemas.microsoft.com/office/drawing/2014/main" id="{81BC519B-D9AB-4227-A203-7F5B9280909E}"/>
              </a:ext>
            </a:extLst>
          </p:cNvPr>
          <p:cNvSpPr>
            <a:spLocks xmlns:a="http://schemas.openxmlformats.org/drawingml/2006/main" noGrp="1"/>
          </p:cNvSpPr>
          <p:nvPr/>
        </p:nvSpPr>
        <p:spPr>
          <a:xfrm xmlns:a="http://schemas.openxmlformats.org/drawingml/2006/main">
            <a:off x="685800" y="3600450"/>
            <a:ext cx="395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3"/>
                </a:solidFill>
              </a:defRPr>
            </a:defPPr>
            <a:lvl1pPr>
              <a:defRPr sz="2325" b="0">
                <a:solidFill>
                  <a:srgbClr val="173C33"/>
                </a:solidFill>
              </a:defRPr>
            </a:lvl1pPr>
            <a:lvl2pPr>
              <a:defRPr sz="2325" b="0">
                <a:solidFill>
                  <a:srgbClr val="173C33"/>
                </a:solidFill>
              </a:defRPr>
            </a:lvl2pPr>
            <a:lvl3pPr>
              <a:defRPr sz="2325" b="0">
                <a:solidFill>
                  <a:srgbClr val="173C33"/>
                </a:solidFill>
              </a:defRPr>
            </a:lvl3pPr>
            <a:lvl4pPr>
              <a:defRPr sz="2325" b="0">
                <a:solidFill>
                  <a:srgbClr val="173C33"/>
                </a:solidFill>
              </a:defRPr>
            </a:lvl4pPr>
            <a:lvl5pPr>
              <a:defRPr sz="2325" b="0">
                <a:solidFill>
                  <a:srgbClr val="173C33"/>
                </a:solidFill>
              </a:defRPr>
            </a:lvl5pPr>
            <a:lvl6pPr>
              <a:defRPr sz="2325" b="0">
                <a:solidFill>
                  <a:srgbClr val="173C33"/>
                </a:solidFill>
              </a:defRPr>
            </a:lvl6pPr>
            <a:lvl7pPr>
              <a:defRPr sz="2325" b="0">
                <a:solidFill>
                  <a:srgbClr val="173C33"/>
                </a:solidFill>
              </a:defRPr>
            </a:lvl7pPr>
            <a:lvl8pPr>
              <a:defRPr sz="2325" b="0">
                <a:solidFill>
                  <a:srgbClr val="173C33"/>
                </a:solidFill>
              </a:defRPr>
            </a:lvl8pPr>
            <a:lvl9pPr>
              <a:defRPr sz="2325" b="0">
                <a:solidFill>
                  <a:srgbClr val="173C33"/>
                </a:solidFill>
              </a:defRPr>
            </a:lvl9pPr>
          </a:lstStyle>
          <a:p xmlns:a="http://schemas.openxmlformats.org/drawingml/2006/main">
            <a:pPr>
              <a:defRPr sz="2325" b="0">
                <a:solidFill>
                  <a:srgbClr val="173C33"/>
                </a:solidFill>
              </a:defRPr>
            </a:pPr>
            <a:r>
              <a:rPr sz="2325" b="0">
                <a:solidFill>
                  <a:srgbClr val="173C33"/>
                </a:solidFill>
              </a:rPr>
              <a:t>accepted assets</a:t>
            </a:r>
          </a:p>
          <a:p xmlns:a="http://schemas.openxmlformats.org/drawingml/2006/main">
            <a:pPr>
              <a:defRPr sz="2325" b="0">
                <a:solidFill>
                  <a:srgbClr val="173C33"/>
                </a:solidFill>
              </a:defRPr>
            </a:pPr>
            <a:r>
              <a:rPr sz="2325" b="0">
                <a:solidFill>
                  <a:srgbClr val="173C33"/>
                </a:solidFill>
              </a:rPr>
              <a:t>10 Iberian wildlife species</a:t>
            </a:r>
          </a:p>
        </p:txBody>
      </p:sp>
      <p:graphicFrame>
        <p:nvGraphicFramePr>
          <p:cNvPr id="5" name="">
            <a:extLst xmlns:a="http://schemas.openxmlformats.org/drawingml/2006/main">
              <a:ext uri="{FF2B5EF4-FFF2-40B4-BE49-F238E27FC236}">
                <a16:creationId xmlns:a16="http://schemas.microsoft.com/office/drawing/2014/main" id="{48C3132E-D37B-4F5C-8DDB-30ADA9BDD354}"/>
              </a:ext>
            </a:extLst>
          </p:cNvPr>
          <p:cNvGraphicFramePr/>
          <p:nvPr/>
        </p:nvGraphicFramePr>
        <p:xfrm>
          <a:off xmlns:a="http://schemas.openxmlformats.org/drawingml/2006/main" x="5048250" y="2047875"/>
          <a:ext xmlns:a="http://schemas.openxmlformats.org/drawingml/2006/main" cx="6477000" cy="3048000"/>
        </p:xfrm>
        <a:graphic xmlns:a="http://schemas.openxmlformats.org/drawingml/2006/main">
          <a:graphicData uri="http://schemas.openxmlformats.org/drawingml/2006/table">
            <a:tbl>
              <a:tblPr/>
              <a:tblGrid>
                <a:gridCol w="2095500"/>
                <a:gridCol w="1238250"/>
                <a:gridCol w="3143250"/>
              </a:tblGrid>
              <a:tr h="762000">
                <a:tc>
                  <a:txBody>
                    <a:bodyPr/>
                    <a:lstStyle/>
                    <a:p>
                      <a:r>
                        <a:rPr sz="1875" b="1">
                          <a:solidFill>
                            <a:srgbClr val="FFFFFF"/>
                          </a:solidFill>
                          <a:latin typeface="Arial"/>
                          <a:ea typeface="Arial"/>
                          <a:cs typeface="Arial"/>
                        </a:rPr>
                        <a:t>Modality</a:t>
                      </a:r>
                    </a:p>
                  </a:txBody>
                  <a:tcPr marL="91440" marR="91440" marT="45720" marB="45720">
                    <a:lnL w="6668">
                      <a:solidFill>
                        <a:srgbClr val="CBD0C3"/>
                      </a:solidFill>
                      <a:prstDash val="solid"/>
                    </a:lnL>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Assets</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Source</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r>
              <a:tr h="762000">
                <a:tc>
                  <a:txBody>
                    <a:bodyPr/>
                    <a:lstStyle/>
                    <a:p>
                      <a:r>
                        <a:rPr sz="2100">
                          <a:solidFill>
                            <a:srgbClr val="173C33"/>
                          </a:solidFill>
                          <a:latin typeface="Arial"/>
                          <a:ea typeface="Arial"/>
                          <a:cs typeface="Arial"/>
                        </a:rPr>
                        <a:t>Images</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100</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Wikimedia</a:t>
                      </a:r>
                    </a:p>
                  </a:txBody>
                  <a:tcPr marL="91440" marR="91440" marT="45720" marB="45720">
                    <a:lnR w="6668">
                      <a:solidFill>
                        <a:srgbClr val="CBD0C3"/>
                      </a:solidFill>
                      <a:prstDash val="solid"/>
                    </a:lnR>
                    <a:lnB w="6668">
                      <a:solidFill>
                        <a:srgbClr val="CBD0C3"/>
                      </a:solidFill>
                      <a:prstDash val="solid"/>
                    </a:lnB>
                    <a:solidFill>
                      <a:srgbClr val="F4F1E8"/>
                    </a:solidFill>
                  </a:tcPr>
                </a:tc>
              </a:tr>
              <a:tr h="762000">
                <a:tc>
                  <a:txBody>
                    <a:bodyPr/>
                    <a:lstStyle/>
                    <a:p>
                      <a:r>
                        <a:rPr sz="2100">
                          <a:solidFill>
                            <a:srgbClr val="173C33"/>
                          </a:solidFill>
                          <a:latin typeface="Arial"/>
                          <a:ea typeface="Arial"/>
                          <a:cs typeface="Arial"/>
                        </a:rPr>
                        <a:t>Audio</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34</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Xeno-canto</a:t>
                      </a:r>
                    </a:p>
                  </a:txBody>
                  <a:tcPr marL="91440" marR="91440" marT="45720" marB="45720">
                    <a:lnR w="6668">
                      <a:solidFill>
                        <a:srgbClr val="CBD0C3"/>
                      </a:solidFill>
                      <a:prstDash val="solid"/>
                    </a:lnR>
                    <a:lnB w="6668">
                      <a:solidFill>
                        <a:srgbClr val="CBD0C3"/>
                      </a:solidFill>
                      <a:prstDash val="solid"/>
                    </a:lnB>
                    <a:solidFill>
                      <a:srgbClr val="F4F1E8"/>
                    </a:solidFill>
                  </a:tcPr>
                </a:tc>
              </a:tr>
              <a:tr h="762000">
                <a:tc>
                  <a:txBody>
                    <a:bodyPr/>
                    <a:lstStyle/>
                    <a:p>
                      <a:r>
                        <a:rPr sz="2100">
                          <a:solidFill>
                            <a:srgbClr val="173C33"/>
                          </a:solidFill>
                          <a:latin typeface="Arial"/>
                          <a:ea typeface="Arial"/>
                          <a:cs typeface="Arial"/>
                        </a:rPr>
                        <a:t>Text</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64</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Wikipedia / GBIF</a:t>
                      </a:r>
                    </a:p>
                  </a:txBody>
                  <a:tcPr marL="91440" marR="91440" marT="45720" marB="45720">
                    <a:lnR w="6668">
                      <a:solidFill>
                        <a:srgbClr val="CBD0C3"/>
                      </a:solidFill>
                      <a:prstDash val="solid"/>
                    </a:lnR>
                    <a:lnB w="6668">
                      <a:solidFill>
                        <a:srgbClr val="CBD0C3"/>
                      </a:solidFill>
                      <a:prstDash val="solid"/>
                    </a:lnB>
                    <a:solidFill>
                      <a:srgbClr val="F4F1E8"/>
                    </a:solidFill>
                  </a:tcPr>
                </a:tc>
              </a:tr>
            </a:tbl>
          </a:graphicData>
        </a:graphic>
      </p:graphicFrame>
      <p:sp>
        <p:nvSpPr>
          <p:cNvPr id="6" name="">
            <a:extLst xmlns:a="http://schemas.openxmlformats.org/drawingml/2006/main">
              <a:ext uri="{FF2B5EF4-FFF2-40B4-BE49-F238E27FC236}">
                <a16:creationId xmlns:a16="http://schemas.microsoft.com/office/drawing/2014/main" id="{5869AB8D-F29D-45BC-9539-E73AB860055C}"/>
              </a:ext>
            </a:extLst>
          </p:cNvPr>
          <p:cNvSpPr>
            <a:spLocks xmlns:a="http://schemas.openxmlformats.org/drawingml/2006/main" noGrp="1"/>
          </p:cNvSpPr>
          <p:nvPr/>
        </p:nvSpPr>
        <p:spPr>
          <a:xfrm xmlns:a="http://schemas.openxmlformats.org/drawingml/2006/main">
            <a:off x="685800" y="55816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75A32"/>
                </a:solidFill>
              </a:defRPr>
            </a:defPPr>
            <a:lvl1pPr>
              <a:defRPr sz="2175" b="0">
                <a:solidFill>
                  <a:srgbClr val="B75A32"/>
                </a:solidFill>
              </a:defRPr>
            </a:lvl1pPr>
            <a:lvl2pPr>
              <a:defRPr sz="2175" b="0">
                <a:solidFill>
                  <a:srgbClr val="B75A32"/>
                </a:solidFill>
              </a:defRPr>
            </a:lvl2pPr>
            <a:lvl3pPr>
              <a:defRPr sz="2175" b="0">
                <a:solidFill>
                  <a:srgbClr val="B75A32"/>
                </a:solidFill>
              </a:defRPr>
            </a:lvl3pPr>
            <a:lvl4pPr>
              <a:defRPr sz="2175" b="0">
                <a:solidFill>
                  <a:srgbClr val="B75A32"/>
                </a:solidFill>
              </a:defRPr>
            </a:lvl4pPr>
            <a:lvl5pPr>
              <a:defRPr sz="2175" b="0">
                <a:solidFill>
                  <a:srgbClr val="B75A32"/>
                </a:solidFill>
              </a:defRPr>
            </a:lvl5pPr>
            <a:lvl6pPr>
              <a:defRPr sz="2175" b="0">
                <a:solidFill>
                  <a:srgbClr val="B75A32"/>
                </a:solidFill>
              </a:defRPr>
            </a:lvl6pPr>
            <a:lvl7pPr>
              <a:defRPr sz="2175" b="0">
                <a:solidFill>
                  <a:srgbClr val="B75A32"/>
                </a:solidFill>
              </a:defRPr>
            </a:lvl7pPr>
            <a:lvl8pPr>
              <a:defRPr sz="2175" b="0">
                <a:solidFill>
                  <a:srgbClr val="B75A32"/>
                </a:solidFill>
              </a:defRPr>
            </a:lvl8pPr>
            <a:lvl9pPr>
              <a:defRPr sz="2175" b="0">
                <a:solidFill>
                  <a:srgbClr val="B75A32"/>
                </a:solidFill>
              </a:defRPr>
            </a:lvl9pPr>
          </a:lstStyle>
          <a:p xmlns:a="http://schemas.openxmlformats.org/drawingml/2006/main">
            <a:pPr>
              <a:defRPr sz="2175" b="0">
                <a:solidFill>
                  <a:srgbClr val="B75A32"/>
                </a:solidFill>
              </a:defRPr>
            </a:pPr>
            <a:r>
              <a:rPr sz="2175" b="0">
                <a:solidFill>
                  <a:srgbClr val="B75A32"/>
                </a:solidFill>
              </a:rPr>
              <a:t>Uneven availability: no audio for the ocellated lizard</a:t>
            </a:r>
          </a:p>
        </p:txBody>
      </p:sp>
    </p:spTree>
    <p:extLst>
      <p:ext uri="{BB962C8B-B14F-4D97-AF65-F5344CB8AC3E}">
        <p14:creationId xmlns:p14="http://schemas.microsoft.com/office/powerpoint/2010/main" val="2025353328"/>
      </p:ext>
    </p:extLst>
  </p:cSld>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21FC7E-8976-4425-8742-5D3C83ECEB9A}"/>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Four zones, four contracts</a:t>
            </a:r>
          </a:p>
        </p:txBody>
      </p:sp>
      <p:sp>
        <p:nvSpPr>
          <p:cNvPr id="2" name="">
            <a:extLst xmlns:a="http://schemas.openxmlformats.org/drawingml/2006/main">
              <a:ext uri="{FF2B5EF4-FFF2-40B4-BE49-F238E27FC236}">
                <a16:creationId xmlns:a16="http://schemas.microsoft.com/office/drawing/2014/main" id="{4645582F-96F9-43FA-9F29-0E10A09D1426}"/>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04</a:t>
            </a:r>
          </a:p>
        </p:txBody>
      </p:sp>
      <p:graphicFrame>
        <p:nvGraphicFramePr>
          <p:cNvPr id="3" name="">
            <a:extLst xmlns:a="http://schemas.openxmlformats.org/drawingml/2006/main">
              <a:ext uri="{FF2B5EF4-FFF2-40B4-BE49-F238E27FC236}">
                <a16:creationId xmlns:a16="http://schemas.microsoft.com/office/drawing/2014/main" id="{81A6B72B-223A-40F5-B5ED-3A380C4C7914}"/>
              </a:ext>
            </a:extLst>
          </p:cNvPr>
          <p:cNvGraphicFramePr/>
          <p:nvPr/>
        </p:nvGraphicFramePr>
        <p:xfrm>
          <a:off xmlns:a="http://schemas.openxmlformats.org/drawingml/2006/main" x="609600" y="1905000"/>
          <a:ext xmlns:a="http://schemas.openxmlformats.org/drawingml/2006/main" cx="10972800" cy="3429000"/>
        </p:xfrm>
        <a:graphic xmlns:a="http://schemas.openxmlformats.org/drawingml/2006/main">
          <a:graphicData uri="http://schemas.openxmlformats.org/drawingml/2006/table">
            <a:tbl>
              <a:tblPr/>
              <a:tblGrid>
                <a:gridCol w="2476500"/>
                <a:gridCol w="5857875"/>
                <a:gridCol w="2638425"/>
              </a:tblGrid>
              <a:tr h="685800">
                <a:tc>
                  <a:txBody>
                    <a:bodyPr/>
                    <a:lstStyle/>
                    <a:p>
                      <a:r>
                        <a:rPr sz="1875" b="1">
                          <a:solidFill>
                            <a:srgbClr val="FFFFFF"/>
                          </a:solidFill>
                          <a:latin typeface="Arial"/>
                          <a:ea typeface="Arial"/>
                          <a:cs typeface="Arial"/>
                        </a:rPr>
                        <a:t>Zone</a:t>
                      </a:r>
                    </a:p>
                  </a:txBody>
                  <a:tcPr marL="91440" marR="91440" marT="45720" marB="45720">
                    <a:lnL w="6668">
                      <a:solidFill>
                        <a:srgbClr val="CBD0C3"/>
                      </a:solidFill>
                      <a:prstDash val="solid"/>
                    </a:lnL>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Responsibility</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Storage</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r>
              <a:tr h="685800">
                <a:tc>
                  <a:txBody>
                    <a:bodyPr/>
                    <a:lstStyle/>
                    <a:p>
                      <a:r>
                        <a:rPr sz="2100">
                          <a:solidFill>
                            <a:srgbClr val="173C33"/>
                          </a:solidFill>
                          <a:latin typeface="Arial"/>
                          <a:ea typeface="Arial"/>
                          <a:cs typeface="Arial"/>
                        </a:rPr>
                        <a:t>Landing</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Preserve originals</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S3 · Docker</a:t>
                      </a:r>
                    </a:p>
                  </a:txBody>
                  <a:tcPr marL="91440" marR="91440" marT="45720" marB="45720">
                    <a:lnR w="6668">
                      <a:solidFill>
                        <a:srgbClr val="CBD0C3"/>
                      </a:solidFill>
                      <a:prstDash val="solid"/>
                    </a:lnR>
                    <a:lnB w="6668">
                      <a:solidFill>
                        <a:srgbClr val="CBD0C3"/>
                      </a:solidFill>
                      <a:prstDash val="solid"/>
                    </a:lnB>
                    <a:solidFill>
                      <a:srgbClr val="F4F1E8"/>
                    </a:solidFill>
                  </a:tcPr>
                </a:tc>
              </a:tr>
              <a:tr h="685800">
                <a:tc>
                  <a:txBody>
                    <a:bodyPr/>
                    <a:lstStyle/>
                    <a:p>
                      <a:r>
                        <a:rPr sz="2100">
                          <a:solidFill>
                            <a:srgbClr val="173C33"/>
                          </a:solidFill>
                          <a:latin typeface="Arial"/>
                          <a:ea typeface="Arial"/>
                          <a:cs typeface="Arial"/>
                        </a:rPr>
                        <a:t>Formatted</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Standardise representation</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S3 · Docker</a:t>
                      </a:r>
                    </a:p>
                  </a:txBody>
                  <a:tcPr marL="91440" marR="91440" marT="45720" marB="45720">
                    <a:lnR w="6668">
                      <a:solidFill>
                        <a:srgbClr val="CBD0C3"/>
                      </a:solidFill>
                      <a:prstDash val="solid"/>
                    </a:lnR>
                    <a:lnB w="6668">
                      <a:solidFill>
                        <a:srgbClr val="CBD0C3"/>
                      </a:solidFill>
                      <a:prstDash val="solid"/>
                    </a:lnB>
                    <a:solidFill>
                      <a:srgbClr val="F4F1E8"/>
                    </a:solidFill>
                  </a:tcPr>
                </a:tc>
              </a:tr>
              <a:tr h="685800">
                <a:tc>
                  <a:txBody>
                    <a:bodyPr/>
                    <a:lstStyle/>
                    <a:p>
                      <a:r>
                        <a:rPr sz="2100">
                          <a:solidFill>
                            <a:srgbClr val="173C33"/>
                          </a:solidFill>
                          <a:latin typeface="Arial"/>
                          <a:ea typeface="Arial"/>
                          <a:cs typeface="Arial"/>
                        </a:rPr>
                        <a:t>Trusted</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Assess quality and provenance</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S3 · Docker</a:t>
                      </a:r>
                    </a:p>
                  </a:txBody>
                  <a:tcPr marL="91440" marR="91440" marT="45720" marB="45720">
                    <a:lnR w="6668">
                      <a:solidFill>
                        <a:srgbClr val="CBD0C3"/>
                      </a:solidFill>
                      <a:prstDash val="solid"/>
                    </a:lnR>
                    <a:lnB w="6668">
                      <a:solidFill>
                        <a:srgbClr val="CBD0C3"/>
                      </a:solidFill>
                      <a:prstDash val="solid"/>
                    </a:lnB>
                    <a:solidFill>
                      <a:srgbClr val="F4F1E8"/>
                    </a:solidFill>
                  </a:tcPr>
                </a:tc>
              </a:tr>
              <a:tr h="685800">
                <a:tc>
                  <a:txBody>
                    <a:bodyPr/>
                    <a:lstStyle/>
                    <a:p>
                      <a:r>
                        <a:rPr sz="2100">
                          <a:solidFill>
                            <a:srgbClr val="173C33"/>
                          </a:solidFill>
                          <a:latin typeface="Arial"/>
                          <a:ea typeface="Arial"/>
                          <a:cs typeface="Arial"/>
                        </a:rPr>
                        <a:t>Exploitation</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Prepare vector retrieval</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Persistent Chroma</a:t>
                      </a:r>
                    </a:p>
                  </a:txBody>
                  <a:tcPr marL="91440" marR="91440" marT="45720" marB="45720">
                    <a:lnR w="6668">
                      <a:solidFill>
                        <a:srgbClr val="CBD0C3"/>
                      </a:solidFill>
                      <a:prstDash val="solid"/>
                    </a:lnR>
                    <a:lnB w="6668">
                      <a:solidFill>
                        <a:srgbClr val="CBD0C3"/>
                      </a:solidFill>
                      <a:prstDash val="solid"/>
                    </a:lnB>
                    <a:solidFill>
                      <a:srgbClr val="F4F1E8"/>
                    </a:solidFill>
                  </a:tcPr>
                </a:tc>
              </a:tr>
            </a:tbl>
          </a:graphicData>
        </a:graphic>
      </p:graphicFrame>
      <p:sp>
        <p:nvSpPr>
          <p:cNvPr id="4" name="">
            <a:extLst xmlns:a="http://schemas.openxmlformats.org/drawingml/2006/main">
              <a:ext uri="{FF2B5EF4-FFF2-40B4-BE49-F238E27FC236}">
                <a16:creationId xmlns:a16="http://schemas.microsoft.com/office/drawing/2014/main" id="{6F0B1BC0-3DA5-402F-BB12-E416237BDDE6}"/>
              </a:ext>
            </a:extLst>
          </p:cNvPr>
          <p:cNvSpPr>
            <a:spLocks xmlns:a="http://schemas.openxmlformats.org/drawingml/2006/main" noGrp="1"/>
          </p:cNvSpPr>
          <p:nvPr/>
        </p:nvSpPr>
        <p:spPr>
          <a:xfrm xmlns:a="http://schemas.openxmlformats.org/drawingml/2006/main">
            <a:off x="685800"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75A32"/>
                </a:solidFill>
              </a:defRPr>
            </a:defPPr>
            <a:lvl1pPr>
              <a:defRPr sz="2250" b="0">
                <a:solidFill>
                  <a:srgbClr val="B75A32"/>
                </a:solidFill>
              </a:defRPr>
            </a:lvl1pPr>
            <a:lvl2pPr>
              <a:defRPr sz="2250" b="0">
                <a:solidFill>
                  <a:srgbClr val="B75A32"/>
                </a:solidFill>
              </a:defRPr>
            </a:lvl2pPr>
            <a:lvl3pPr>
              <a:defRPr sz="2250" b="0">
                <a:solidFill>
                  <a:srgbClr val="B75A32"/>
                </a:solidFill>
              </a:defRPr>
            </a:lvl3pPr>
            <a:lvl4pPr>
              <a:defRPr sz="2250" b="0">
                <a:solidFill>
                  <a:srgbClr val="B75A32"/>
                </a:solidFill>
              </a:defRPr>
            </a:lvl4pPr>
            <a:lvl5pPr>
              <a:defRPr sz="2250" b="0">
                <a:solidFill>
                  <a:srgbClr val="B75A32"/>
                </a:solidFill>
              </a:defRPr>
            </a:lvl5pPr>
            <a:lvl6pPr>
              <a:defRPr sz="2250" b="0">
                <a:solidFill>
                  <a:srgbClr val="B75A32"/>
                </a:solidFill>
              </a:defRPr>
            </a:lvl6pPr>
            <a:lvl7pPr>
              <a:defRPr sz="2250" b="0">
                <a:solidFill>
                  <a:srgbClr val="B75A32"/>
                </a:solidFill>
              </a:defRPr>
            </a:lvl7pPr>
            <a:lvl8pPr>
              <a:defRPr sz="2250" b="0">
                <a:solidFill>
                  <a:srgbClr val="B75A32"/>
                </a:solidFill>
              </a:defRPr>
            </a:lvl8pPr>
            <a:lvl9pPr>
              <a:defRPr sz="2250" b="0">
                <a:solidFill>
                  <a:srgbClr val="B75A32"/>
                </a:solidFill>
              </a:defRPr>
            </a:lvl9pPr>
          </a:lstStyle>
          <a:p xmlns:a="http://schemas.openxmlformats.org/drawingml/2006/main">
            <a:pPr>
              <a:defRPr sz="2250" b="0">
                <a:solidFill>
                  <a:srgbClr val="B75A32"/>
                </a:solidFill>
              </a:defRPr>
            </a:pPr>
            <a:r>
              <a:rPr sz="2250" b="0">
                <a:solidFill>
                  <a:srgbClr val="B75A32"/>
                </a:solidFill>
              </a:rPr>
              <a:t>Queries use an independent snapshot of the index</a:t>
            </a:r>
          </a:p>
        </p:txBody>
      </p:sp>
    </p:spTree>
    <p:extLst>
      <p:ext uri="{BB962C8B-B14F-4D97-AF65-F5344CB8AC3E}">
        <p14:creationId xmlns:p14="http://schemas.microsoft.com/office/powerpoint/2010/main" val="784384937"/>
      </p:ext>
    </p:extLst>
  </p:cSld>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4A7839-1FEC-482E-B993-68C16B824E18}"/>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Preserving originals, standardising formats</a:t>
            </a:r>
          </a:p>
        </p:txBody>
      </p:sp>
      <p:sp>
        <p:nvSpPr>
          <p:cNvPr id="2" name="">
            <a:extLst xmlns:a="http://schemas.openxmlformats.org/drawingml/2006/main">
              <a:ext uri="{FF2B5EF4-FFF2-40B4-BE49-F238E27FC236}">
                <a16:creationId xmlns:a16="http://schemas.microsoft.com/office/drawing/2014/main" id="{D27F8CB9-14BD-4CE1-B076-E01CC6211F08}"/>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05</a:t>
            </a:r>
          </a:p>
        </p:txBody>
      </p:sp>
      <p:sp>
        <p:nvSpPr>
          <p:cNvPr id="3" name="">
            <a:extLst xmlns:a="http://schemas.openxmlformats.org/drawingml/2006/main">
              <a:ext uri="{FF2B5EF4-FFF2-40B4-BE49-F238E27FC236}">
                <a16:creationId xmlns:a16="http://schemas.microsoft.com/office/drawing/2014/main" id="{55EFD793-4755-49FD-93D8-4A84B07C555A}"/>
              </a:ext>
            </a:extLst>
          </p:cNvPr>
          <p:cNvSpPr>
            <a:spLocks xmlns:a="http://schemas.openxmlformats.org/drawingml/2006/main" noGrp="1"/>
          </p:cNvSpPr>
          <p:nvPr/>
        </p:nvSpPr>
        <p:spPr>
          <a:xfrm xmlns:a="http://schemas.openxmlformats.org/drawingml/2006/main">
            <a:off x="685800" y="19335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33"/>
                </a:solidFill>
              </a:defRPr>
            </a:defPPr>
            <a:lvl1pPr>
              <a:defRPr sz="2850" b="1">
                <a:solidFill>
                  <a:srgbClr val="173C33"/>
                </a:solidFill>
              </a:defRPr>
            </a:lvl1pPr>
            <a:lvl2pPr>
              <a:defRPr sz="2850" b="1">
                <a:solidFill>
                  <a:srgbClr val="173C33"/>
                </a:solidFill>
              </a:defRPr>
            </a:lvl2pPr>
            <a:lvl3pPr>
              <a:defRPr sz="2850" b="1">
                <a:solidFill>
                  <a:srgbClr val="173C33"/>
                </a:solidFill>
              </a:defRPr>
            </a:lvl3pPr>
            <a:lvl4pPr>
              <a:defRPr sz="2850" b="1">
                <a:solidFill>
                  <a:srgbClr val="173C33"/>
                </a:solidFill>
              </a:defRPr>
            </a:lvl4pPr>
            <a:lvl5pPr>
              <a:defRPr sz="2850" b="1">
                <a:solidFill>
                  <a:srgbClr val="173C33"/>
                </a:solidFill>
              </a:defRPr>
            </a:lvl5pPr>
            <a:lvl6pPr>
              <a:defRPr sz="2850" b="1">
                <a:solidFill>
                  <a:srgbClr val="173C33"/>
                </a:solidFill>
              </a:defRPr>
            </a:lvl6pPr>
            <a:lvl7pPr>
              <a:defRPr sz="2850" b="1">
                <a:solidFill>
                  <a:srgbClr val="173C33"/>
                </a:solidFill>
              </a:defRPr>
            </a:lvl7pPr>
            <a:lvl8pPr>
              <a:defRPr sz="2850" b="1">
                <a:solidFill>
                  <a:srgbClr val="173C33"/>
                </a:solidFill>
              </a:defRPr>
            </a:lvl8pPr>
            <a:lvl9pPr>
              <a:defRPr sz="2850" b="1">
                <a:solidFill>
                  <a:srgbClr val="173C33"/>
                </a:solidFill>
              </a:defRPr>
            </a:lvl9pPr>
          </a:lstStyle>
          <a:p xmlns:a="http://schemas.openxmlformats.org/drawingml/2006/main">
            <a:pPr>
              <a:defRPr sz="2850" b="1">
                <a:solidFill>
                  <a:srgbClr val="173C33"/>
                </a:solidFill>
              </a:defRPr>
            </a:pPr>
            <a:r>
              <a:rPr sz="2850" b="1">
                <a:solidFill>
                  <a:srgbClr val="173C33"/>
                </a:solidFill>
              </a:rPr>
              <a:t>Preserved original</a:t>
            </a:r>
          </a:p>
        </p:txBody>
      </p:sp>
      <p:sp>
        <p:nvSpPr>
          <p:cNvPr id="4" name="">
            <a:extLst xmlns:a="http://schemas.openxmlformats.org/drawingml/2006/main">
              <a:ext uri="{FF2B5EF4-FFF2-40B4-BE49-F238E27FC236}">
                <a16:creationId xmlns:a16="http://schemas.microsoft.com/office/drawing/2014/main" id="{F90971CA-81DA-4528-9675-83BF38A6DD96}"/>
              </a:ext>
            </a:extLst>
          </p:cNvPr>
          <p:cNvSpPr>
            <a:spLocks xmlns:a="http://schemas.openxmlformats.org/drawingml/2006/main" noGrp="1"/>
          </p:cNvSpPr>
          <p:nvPr/>
        </p:nvSpPr>
        <p:spPr>
          <a:xfrm xmlns:a="http://schemas.openxmlformats.org/drawingml/2006/main">
            <a:off x="685800" y="27146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3"/>
                </a:solidFill>
              </a:defRPr>
            </a:defPPr>
            <a:lvl1pPr>
              <a:defRPr sz="2250" b="0">
                <a:solidFill>
                  <a:srgbClr val="173C33"/>
                </a:solidFill>
              </a:defRPr>
            </a:lvl1pPr>
            <a:lvl2pPr>
              <a:defRPr sz="2250" b="0">
                <a:solidFill>
                  <a:srgbClr val="173C33"/>
                </a:solidFill>
              </a:defRPr>
            </a:lvl2pPr>
            <a:lvl3pPr>
              <a:defRPr sz="2250" b="0">
                <a:solidFill>
                  <a:srgbClr val="173C33"/>
                </a:solidFill>
              </a:defRPr>
            </a:lvl3pPr>
            <a:lvl4pPr>
              <a:defRPr sz="2250" b="0">
                <a:solidFill>
                  <a:srgbClr val="173C33"/>
                </a:solidFill>
              </a:defRPr>
            </a:lvl4pPr>
            <a:lvl5pPr>
              <a:defRPr sz="2250" b="0">
                <a:solidFill>
                  <a:srgbClr val="173C33"/>
                </a:solidFill>
              </a:defRPr>
            </a:lvl5pPr>
            <a:lvl6pPr>
              <a:defRPr sz="2250" b="0">
                <a:solidFill>
                  <a:srgbClr val="173C33"/>
                </a:solidFill>
              </a:defRPr>
            </a:lvl6pPr>
            <a:lvl7pPr>
              <a:defRPr sz="2250" b="0">
                <a:solidFill>
                  <a:srgbClr val="173C33"/>
                </a:solidFill>
              </a:defRPr>
            </a:lvl7pPr>
            <a:lvl8pPr>
              <a:defRPr sz="2250" b="0">
                <a:solidFill>
                  <a:srgbClr val="173C33"/>
                </a:solidFill>
              </a:defRPr>
            </a:lvl8pPr>
            <a:lvl9pPr>
              <a:defRPr sz="2250" b="0">
                <a:solidFill>
                  <a:srgbClr val="173C33"/>
                </a:solidFill>
              </a:defRPr>
            </a:lvl9pPr>
          </a:lstStyle>
          <a:p xmlns:a="http://schemas.openxmlformats.org/drawingml/2006/main">
            <a:pPr>
              <a:defRPr sz="2250" b="0">
                <a:solidFill>
                  <a:srgbClr val="173C33"/>
                </a:solidFill>
              </a:defRPr>
            </a:pPr>
            <a:r>
              <a:rPr sz="2250" b="0">
                <a:solidFill>
                  <a:srgbClr val="173C33"/>
                </a:solidFill>
              </a:rPr>
              <a:t>Temporal and Persistent Landing</a:t>
            </a:r>
          </a:p>
          <a:p xmlns:a="http://schemas.openxmlformats.org/drawingml/2006/main">
            <a:pPr>
              <a:defRPr sz="2250" b="0">
                <a:solidFill>
                  <a:srgbClr val="173C33"/>
                </a:solidFill>
              </a:defRPr>
            </a:pPr>
            <a:r>
              <a:rPr sz="2250" b="0">
                <a:solidFill>
                  <a:srgbClr val="173C33"/>
                </a:solidFill>
              </a:rPr>
              <a:t>Copy verified with SHA-256</a:t>
            </a:r>
          </a:p>
          <a:p xmlns:a="http://schemas.openxmlformats.org/drawingml/2006/main">
            <a:pPr>
              <a:defRPr sz="2250" b="0">
                <a:solidFill>
                  <a:srgbClr val="173C33"/>
                </a:solidFill>
              </a:defRPr>
            </a:pPr>
            <a:r>
              <a:rPr sz="2250" b="0">
                <a:solidFill>
                  <a:srgbClr val="173C33"/>
                </a:solidFill>
              </a:rPr>
              <a:t>Content identity</a:t>
            </a:r>
          </a:p>
        </p:txBody>
      </p:sp>
      <p:sp>
        <p:nvSpPr>
          <p:cNvPr id="5" name="">
            <a:extLst xmlns:a="http://schemas.openxmlformats.org/drawingml/2006/main">
              <a:ext uri="{FF2B5EF4-FFF2-40B4-BE49-F238E27FC236}">
                <a16:creationId xmlns:a16="http://schemas.microsoft.com/office/drawing/2014/main" id="{D1E13430-A760-4780-AEE0-3963A7579AAE}"/>
              </a:ext>
            </a:extLst>
          </p:cNvPr>
          <p:cNvSpPr>
            <a:spLocks xmlns:a="http://schemas.openxmlformats.org/drawingml/2006/main" noGrp="1"/>
          </p:cNvSpPr>
          <p:nvPr/>
        </p:nvSpPr>
        <p:spPr>
          <a:xfrm xmlns:a="http://schemas.openxmlformats.org/drawingml/2006/main">
            <a:off x="6524625" y="19335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33"/>
                </a:solidFill>
              </a:defRPr>
            </a:defPPr>
            <a:lvl1pPr>
              <a:defRPr sz="2850" b="1">
                <a:solidFill>
                  <a:srgbClr val="173C33"/>
                </a:solidFill>
              </a:defRPr>
            </a:lvl1pPr>
            <a:lvl2pPr>
              <a:defRPr sz="2850" b="1">
                <a:solidFill>
                  <a:srgbClr val="173C33"/>
                </a:solidFill>
              </a:defRPr>
            </a:lvl2pPr>
            <a:lvl3pPr>
              <a:defRPr sz="2850" b="1">
                <a:solidFill>
                  <a:srgbClr val="173C33"/>
                </a:solidFill>
              </a:defRPr>
            </a:lvl3pPr>
            <a:lvl4pPr>
              <a:defRPr sz="2850" b="1">
                <a:solidFill>
                  <a:srgbClr val="173C33"/>
                </a:solidFill>
              </a:defRPr>
            </a:lvl4pPr>
            <a:lvl5pPr>
              <a:defRPr sz="2850" b="1">
                <a:solidFill>
                  <a:srgbClr val="173C33"/>
                </a:solidFill>
              </a:defRPr>
            </a:lvl5pPr>
            <a:lvl6pPr>
              <a:defRPr sz="2850" b="1">
                <a:solidFill>
                  <a:srgbClr val="173C33"/>
                </a:solidFill>
              </a:defRPr>
            </a:lvl6pPr>
            <a:lvl7pPr>
              <a:defRPr sz="2850" b="1">
                <a:solidFill>
                  <a:srgbClr val="173C33"/>
                </a:solidFill>
              </a:defRPr>
            </a:lvl7pPr>
            <a:lvl8pPr>
              <a:defRPr sz="2850" b="1">
                <a:solidFill>
                  <a:srgbClr val="173C33"/>
                </a:solidFill>
              </a:defRPr>
            </a:lvl8pPr>
            <a:lvl9pPr>
              <a:defRPr sz="2850" b="1">
                <a:solidFill>
                  <a:srgbClr val="173C33"/>
                </a:solidFill>
              </a:defRPr>
            </a:lvl9pPr>
          </a:lstStyle>
          <a:p xmlns:a="http://schemas.openxmlformats.org/drawingml/2006/main">
            <a:pPr>
              <a:defRPr sz="2850" b="1">
                <a:solidFill>
                  <a:srgbClr val="173C33"/>
                </a:solidFill>
              </a:defRPr>
            </a:pPr>
            <a:r>
              <a:rPr sz="2850" b="1">
                <a:solidFill>
                  <a:srgbClr val="173C33"/>
                </a:solidFill>
              </a:rPr>
              <a:t>Common representation</a:t>
            </a:r>
          </a:p>
        </p:txBody>
      </p:sp>
      <p:sp>
        <p:nvSpPr>
          <p:cNvPr id="6" name="">
            <a:extLst xmlns:a="http://schemas.openxmlformats.org/drawingml/2006/main">
              <a:ext uri="{FF2B5EF4-FFF2-40B4-BE49-F238E27FC236}">
                <a16:creationId xmlns:a16="http://schemas.microsoft.com/office/drawing/2014/main" id="{E9F2692F-3F07-4621-8F39-4D3C4234938C}"/>
              </a:ext>
            </a:extLst>
          </p:cNvPr>
          <p:cNvSpPr>
            <a:spLocks xmlns:a="http://schemas.openxmlformats.org/drawingml/2006/main" noGrp="1"/>
          </p:cNvSpPr>
          <p:nvPr/>
        </p:nvSpPr>
        <p:spPr>
          <a:xfrm xmlns:a="http://schemas.openxmlformats.org/drawingml/2006/main">
            <a:off x="6524625" y="27146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3"/>
                </a:solidFill>
              </a:defRPr>
            </a:defPPr>
            <a:lvl1pPr>
              <a:defRPr sz="2250" b="0">
                <a:solidFill>
                  <a:srgbClr val="173C33"/>
                </a:solidFill>
              </a:defRPr>
            </a:lvl1pPr>
            <a:lvl2pPr>
              <a:defRPr sz="2250" b="0">
                <a:solidFill>
                  <a:srgbClr val="173C33"/>
                </a:solidFill>
              </a:defRPr>
            </a:lvl2pPr>
            <a:lvl3pPr>
              <a:defRPr sz="2250" b="0">
                <a:solidFill>
                  <a:srgbClr val="173C33"/>
                </a:solidFill>
              </a:defRPr>
            </a:lvl3pPr>
            <a:lvl4pPr>
              <a:defRPr sz="2250" b="0">
                <a:solidFill>
                  <a:srgbClr val="173C33"/>
                </a:solidFill>
              </a:defRPr>
            </a:lvl4pPr>
            <a:lvl5pPr>
              <a:defRPr sz="2250" b="0">
                <a:solidFill>
                  <a:srgbClr val="173C33"/>
                </a:solidFill>
              </a:defRPr>
            </a:lvl5pPr>
            <a:lvl6pPr>
              <a:defRPr sz="2250" b="0">
                <a:solidFill>
                  <a:srgbClr val="173C33"/>
                </a:solidFill>
              </a:defRPr>
            </a:lvl6pPr>
            <a:lvl7pPr>
              <a:defRPr sz="2250" b="0">
                <a:solidFill>
                  <a:srgbClr val="173C33"/>
                </a:solidFill>
              </a:defRPr>
            </a:lvl7pPr>
            <a:lvl8pPr>
              <a:defRPr sz="2250" b="0">
                <a:solidFill>
                  <a:srgbClr val="173C33"/>
                </a:solidFill>
              </a:defRPr>
            </a:lvl8pPr>
            <a:lvl9pPr>
              <a:defRPr sz="2250" b="0">
                <a:solidFill>
                  <a:srgbClr val="173C33"/>
                </a:solidFill>
              </a:defRPr>
            </a:lvl9pPr>
          </a:lstStyle>
          <a:p xmlns:a="http://schemas.openxmlformats.org/drawingml/2006/main">
            <a:pPr>
              <a:defRPr sz="2250" b="0">
                <a:solidFill>
                  <a:srgbClr val="173C33"/>
                </a:solidFill>
              </a:defRPr>
            </a:pPr>
            <a:r>
              <a:rPr sz="2250" b="0">
                <a:solidFill>
                  <a:srgbClr val="173C33"/>
                </a:solidFill>
              </a:rPr>
              <a:t>Image: RGB JPEG</a:t>
            </a:r>
          </a:p>
          <a:p xmlns:a="http://schemas.openxmlformats.org/drawingml/2006/main">
            <a:pPr>
              <a:defRPr sz="2250" b="0">
                <a:solidFill>
                  <a:srgbClr val="173C33"/>
                </a:solidFill>
              </a:defRPr>
            </a:pPr>
            <a:r>
              <a:rPr sz="2250" b="0">
                <a:solidFill>
                  <a:srgbClr val="173C33"/>
                </a:solidFill>
              </a:rPr>
              <a:t>Audio: FLAC PCM16</a:t>
            </a:r>
          </a:p>
          <a:p xmlns:a="http://schemas.openxmlformats.org/drawingml/2006/main">
            <a:pPr>
              <a:defRPr sz="2250" b="0">
                <a:solidFill>
                  <a:srgbClr val="173C33"/>
                </a:solidFill>
              </a:defRPr>
            </a:pPr>
            <a:r>
              <a:rPr sz="2250" b="0">
                <a:solidFill>
                  <a:srgbClr val="173C33"/>
                </a:solidFill>
              </a:rPr>
              <a:t>Text: UTF-8, NFC and LF</a:t>
            </a:r>
          </a:p>
        </p:txBody>
      </p:sp>
      <p:sp>
        <p:nvSpPr>
          <p:cNvPr id="7" name="">
            <a:extLst xmlns:a="http://schemas.openxmlformats.org/drawingml/2006/main">
              <a:ext uri="{FF2B5EF4-FFF2-40B4-BE49-F238E27FC236}">
                <a16:creationId xmlns:a16="http://schemas.microsoft.com/office/drawing/2014/main" id="{94FB15ED-94DD-4D18-954E-FEDBF3C29DA8}"/>
              </a:ext>
            </a:extLst>
          </p:cNvPr>
          <p:cNvSpPr>
            <a:spLocks xmlns:a="http://schemas.openxmlformats.org/drawingml/2006/main" noGrp="1"/>
          </p:cNvSpPr>
          <p:nvPr/>
        </p:nvSpPr>
        <p:spPr>
          <a:xfrm xmlns:a="http://schemas.openxmlformats.org/drawingml/2006/main">
            <a:off x="685800" y="5524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75A32"/>
                </a:solidFill>
              </a:defRPr>
            </a:defPPr>
            <a:lvl1pPr>
              <a:defRPr sz="2250" b="0">
                <a:solidFill>
                  <a:srgbClr val="B75A32"/>
                </a:solidFill>
              </a:defRPr>
            </a:lvl1pPr>
            <a:lvl2pPr>
              <a:defRPr sz="2250" b="0">
                <a:solidFill>
                  <a:srgbClr val="B75A32"/>
                </a:solidFill>
              </a:defRPr>
            </a:lvl2pPr>
            <a:lvl3pPr>
              <a:defRPr sz="2250" b="0">
                <a:solidFill>
                  <a:srgbClr val="B75A32"/>
                </a:solidFill>
              </a:defRPr>
            </a:lvl3pPr>
            <a:lvl4pPr>
              <a:defRPr sz="2250" b="0">
                <a:solidFill>
                  <a:srgbClr val="B75A32"/>
                </a:solidFill>
              </a:defRPr>
            </a:lvl4pPr>
            <a:lvl5pPr>
              <a:defRPr sz="2250" b="0">
                <a:solidFill>
                  <a:srgbClr val="B75A32"/>
                </a:solidFill>
              </a:defRPr>
            </a:lvl5pPr>
            <a:lvl6pPr>
              <a:defRPr sz="2250" b="0">
                <a:solidFill>
                  <a:srgbClr val="B75A32"/>
                </a:solidFill>
              </a:defRPr>
            </a:lvl6pPr>
            <a:lvl7pPr>
              <a:defRPr sz="2250" b="0">
                <a:solidFill>
                  <a:srgbClr val="B75A32"/>
                </a:solidFill>
              </a:defRPr>
            </a:lvl7pPr>
            <a:lvl8pPr>
              <a:defRPr sz="2250" b="0">
                <a:solidFill>
                  <a:srgbClr val="B75A32"/>
                </a:solidFill>
              </a:defRPr>
            </a:lvl8pPr>
            <a:lvl9pPr>
              <a:defRPr sz="2250" b="0">
                <a:solidFill>
                  <a:srgbClr val="B75A32"/>
                </a:solidFill>
              </a:defRPr>
            </a:lvl9pPr>
          </a:lstStyle>
          <a:p xmlns:a="http://schemas.openxmlformats.org/drawingml/2006/main">
            <a:pPr>
              <a:defRPr sz="2250" b="0">
                <a:solidFill>
                  <a:srgbClr val="B75A32"/>
                </a:solidFill>
              </a:defRPr>
            </a:pPr>
            <a:r>
              <a:rPr sz="2250" b="0">
                <a:solidFill>
                  <a:srgbClr val="B75A32"/>
                </a:solidFill>
              </a:rPr>
              <a:t>Model-specific segmentation and resampling happen later</a:t>
            </a:r>
          </a:p>
        </p:txBody>
      </p:sp>
    </p:spTree>
    <p:extLst>
      <p:ext uri="{BB962C8B-B14F-4D97-AF65-F5344CB8AC3E}">
        <p14:creationId xmlns:p14="http://schemas.microsoft.com/office/powerpoint/2010/main" val="571836392"/>
      </p:ext>
    </p:extLst>
  </p:cSld>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82E182-BE2B-4AB6-BE63-21EB73F4B7B0}"/>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Trusted retains potentially useful signals</a:t>
            </a:r>
          </a:p>
        </p:txBody>
      </p:sp>
      <p:sp>
        <p:nvSpPr>
          <p:cNvPr id="2" name="">
            <a:extLst xmlns:a="http://schemas.openxmlformats.org/drawingml/2006/main">
              <a:ext uri="{FF2B5EF4-FFF2-40B4-BE49-F238E27FC236}">
                <a16:creationId xmlns:a16="http://schemas.microsoft.com/office/drawing/2014/main" id="{AB2325CA-0C3A-484E-A588-0CD0FE1D67CC}"/>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06</a:t>
            </a:r>
          </a:p>
        </p:txBody>
      </p:sp>
      <p:sp>
        <p:nvSpPr>
          <p:cNvPr id="3" name="">
            <a:extLst xmlns:a="http://schemas.openxmlformats.org/drawingml/2006/main">
              <a:ext uri="{FF2B5EF4-FFF2-40B4-BE49-F238E27FC236}">
                <a16:creationId xmlns:a16="http://schemas.microsoft.com/office/drawing/2014/main" id="{45B8D189-FF6B-464F-A788-3BCC9A987718}"/>
              </a:ext>
            </a:extLst>
          </p:cNvPr>
          <p:cNvSpPr>
            <a:spLocks xmlns:a="http://schemas.openxmlformats.org/drawingml/2006/main" noGrp="1"/>
          </p:cNvSpPr>
          <p:nvPr/>
        </p:nvSpPr>
        <p:spPr>
          <a:xfrm xmlns:a="http://schemas.openxmlformats.org/drawingml/2006/main">
            <a:off x="685800" y="1924050"/>
            <a:ext cx="5429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525" b="1">
                <a:solidFill>
                  <a:srgbClr val="173C33"/>
                </a:solidFill>
              </a:defRPr>
            </a:defPPr>
            <a:lvl1pPr>
              <a:defRPr sz="6525" b="1">
                <a:solidFill>
                  <a:srgbClr val="173C33"/>
                </a:solidFill>
              </a:defRPr>
            </a:lvl1pPr>
            <a:lvl2pPr>
              <a:defRPr sz="6525" b="1">
                <a:solidFill>
                  <a:srgbClr val="173C33"/>
                </a:solidFill>
              </a:defRPr>
            </a:lvl2pPr>
            <a:lvl3pPr>
              <a:defRPr sz="6525" b="1">
                <a:solidFill>
                  <a:srgbClr val="173C33"/>
                </a:solidFill>
              </a:defRPr>
            </a:lvl3pPr>
            <a:lvl4pPr>
              <a:defRPr sz="6525" b="1">
                <a:solidFill>
                  <a:srgbClr val="173C33"/>
                </a:solidFill>
              </a:defRPr>
            </a:lvl4pPr>
            <a:lvl5pPr>
              <a:defRPr sz="6525" b="1">
                <a:solidFill>
                  <a:srgbClr val="173C33"/>
                </a:solidFill>
              </a:defRPr>
            </a:lvl5pPr>
            <a:lvl6pPr>
              <a:defRPr sz="6525" b="1">
                <a:solidFill>
                  <a:srgbClr val="173C33"/>
                </a:solidFill>
              </a:defRPr>
            </a:lvl6pPr>
            <a:lvl7pPr>
              <a:defRPr sz="6525" b="1">
                <a:solidFill>
                  <a:srgbClr val="173C33"/>
                </a:solidFill>
              </a:defRPr>
            </a:lvl7pPr>
            <a:lvl8pPr>
              <a:defRPr sz="6525" b="1">
                <a:solidFill>
                  <a:srgbClr val="173C33"/>
                </a:solidFill>
              </a:defRPr>
            </a:lvl8pPr>
            <a:lvl9pPr>
              <a:defRPr sz="6525" b="1">
                <a:solidFill>
                  <a:srgbClr val="173C33"/>
                </a:solidFill>
              </a:defRPr>
            </a:lvl9pPr>
          </a:lstStyle>
          <a:p xmlns:a="http://schemas.openxmlformats.org/drawingml/2006/main">
            <a:pPr>
              <a:defRPr sz="6525" b="1">
                <a:solidFill>
                  <a:srgbClr val="173C33"/>
                </a:solidFill>
              </a:defRPr>
            </a:pPr>
            <a:r>
              <a:rPr sz="6525" b="1">
                <a:solidFill>
                  <a:srgbClr val="173C33"/>
                </a:solidFill>
              </a:rPr>
              <a:t>198 / 198</a:t>
            </a:r>
          </a:p>
        </p:txBody>
      </p:sp>
      <p:sp>
        <p:nvSpPr>
          <p:cNvPr id="4" name="">
            <a:extLst xmlns:a="http://schemas.openxmlformats.org/drawingml/2006/main">
              <a:ext uri="{FF2B5EF4-FFF2-40B4-BE49-F238E27FC236}">
                <a16:creationId xmlns:a16="http://schemas.microsoft.com/office/drawing/2014/main" id="{3DAAC59B-520C-4FA0-8D2B-1FB50DC1F63E}"/>
              </a:ext>
            </a:extLst>
          </p:cNvPr>
          <p:cNvSpPr>
            <a:spLocks xmlns:a="http://schemas.openxmlformats.org/drawingml/2006/main" noGrp="1"/>
          </p:cNvSpPr>
          <p:nvPr/>
        </p:nvSpPr>
        <p:spPr>
          <a:xfrm xmlns:a="http://schemas.openxmlformats.org/drawingml/2006/main">
            <a:off x="762000" y="33623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3"/>
                </a:solidFill>
              </a:defRPr>
            </a:defPPr>
            <a:lvl1pPr>
              <a:defRPr sz="2325" b="0">
                <a:solidFill>
                  <a:srgbClr val="173C33"/>
                </a:solidFill>
              </a:defRPr>
            </a:lvl1pPr>
            <a:lvl2pPr>
              <a:defRPr sz="2325" b="0">
                <a:solidFill>
                  <a:srgbClr val="173C33"/>
                </a:solidFill>
              </a:defRPr>
            </a:lvl2pPr>
            <a:lvl3pPr>
              <a:defRPr sz="2325" b="0">
                <a:solidFill>
                  <a:srgbClr val="173C33"/>
                </a:solidFill>
              </a:defRPr>
            </a:lvl3pPr>
            <a:lvl4pPr>
              <a:defRPr sz="2325" b="0">
                <a:solidFill>
                  <a:srgbClr val="173C33"/>
                </a:solidFill>
              </a:defRPr>
            </a:lvl4pPr>
            <a:lvl5pPr>
              <a:defRPr sz="2325" b="0">
                <a:solidFill>
                  <a:srgbClr val="173C33"/>
                </a:solidFill>
              </a:defRPr>
            </a:lvl5pPr>
            <a:lvl6pPr>
              <a:defRPr sz="2325" b="0">
                <a:solidFill>
                  <a:srgbClr val="173C33"/>
                </a:solidFill>
              </a:defRPr>
            </a:lvl6pPr>
            <a:lvl7pPr>
              <a:defRPr sz="2325" b="0">
                <a:solidFill>
                  <a:srgbClr val="173C33"/>
                </a:solidFill>
              </a:defRPr>
            </a:lvl7pPr>
            <a:lvl8pPr>
              <a:defRPr sz="2325" b="0">
                <a:solidFill>
                  <a:srgbClr val="173C33"/>
                </a:solidFill>
              </a:defRPr>
            </a:lvl8pPr>
            <a:lvl9pPr>
              <a:defRPr sz="2325" b="0">
                <a:solidFill>
                  <a:srgbClr val="173C33"/>
                </a:solidFill>
              </a:defRPr>
            </a:lvl9pPr>
          </a:lstStyle>
          <a:p xmlns:a="http://schemas.openxmlformats.org/drawingml/2006/main">
            <a:pPr>
              <a:defRPr sz="2325" b="0">
                <a:solidFill>
                  <a:srgbClr val="173C33"/>
                </a:solidFill>
              </a:defRPr>
            </a:pPr>
            <a:r>
              <a:rPr sz="2325" b="0">
                <a:solidFill>
                  <a:srgbClr val="173C33"/>
                </a:solidFill>
              </a:rPr>
              <a:t>accepted under the corpus</a:t>
            </a:r>
          </a:p>
          <a:p xmlns:a="http://schemas.openxmlformats.org/drawingml/2006/main">
            <a:pPr>
              <a:defRPr sz="2325" b="0">
                <a:solidFill>
                  <a:srgbClr val="173C33"/>
                </a:solidFill>
              </a:defRPr>
            </a:pPr>
            <a:r>
              <a:rPr sz="2325" b="0">
                <a:solidFill>
                  <a:srgbClr val="173C33"/>
                </a:solidFill>
              </a:rPr>
              <a:t>technical policies</a:t>
            </a:r>
          </a:p>
        </p:txBody>
      </p:sp>
      <p:sp>
        <p:nvSpPr>
          <p:cNvPr id="5" name="">
            <a:extLst xmlns:a="http://schemas.openxmlformats.org/drawingml/2006/main">
              <a:ext uri="{FF2B5EF4-FFF2-40B4-BE49-F238E27FC236}">
                <a16:creationId xmlns:a16="http://schemas.microsoft.com/office/drawing/2014/main" id="{B0FD0CA1-1E9C-40EB-9A47-5C4DEA1D20B2}"/>
              </a:ext>
            </a:extLst>
          </p:cNvPr>
          <p:cNvSpPr>
            <a:spLocks xmlns:a="http://schemas.openxmlformats.org/drawingml/2006/main" noGrp="1"/>
          </p:cNvSpPr>
          <p:nvPr/>
        </p:nvSpPr>
        <p:spPr>
          <a:xfrm xmlns:a="http://schemas.openxmlformats.org/drawingml/2006/main">
            <a:off x="6905625" y="1971675"/>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B75A32"/>
                </a:solidFill>
              </a:defRPr>
            </a:defPPr>
            <a:lvl1pPr>
              <a:defRPr sz="4800" b="1">
                <a:solidFill>
                  <a:srgbClr val="B75A32"/>
                </a:solidFill>
              </a:defRPr>
            </a:lvl1pPr>
            <a:lvl2pPr>
              <a:defRPr sz="4800" b="1">
                <a:solidFill>
                  <a:srgbClr val="B75A32"/>
                </a:solidFill>
              </a:defRPr>
            </a:lvl2pPr>
            <a:lvl3pPr>
              <a:defRPr sz="4800" b="1">
                <a:solidFill>
                  <a:srgbClr val="B75A32"/>
                </a:solidFill>
              </a:defRPr>
            </a:lvl3pPr>
            <a:lvl4pPr>
              <a:defRPr sz="4800" b="1">
                <a:solidFill>
                  <a:srgbClr val="B75A32"/>
                </a:solidFill>
              </a:defRPr>
            </a:lvl4pPr>
            <a:lvl5pPr>
              <a:defRPr sz="4800" b="1">
                <a:solidFill>
                  <a:srgbClr val="B75A32"/>
                </a:solidFill>
              </a:defRPr>
            </a:lvl5pPr>
            <a:lvl6pPr>
              <a:defRPr sz="4800" b="1">
                <a:solidFill>
                  <a:srgbClr val="B75A32"/>
                </a:solidFill>
              </a:defRPr>
            </a:lvl6pPr>
            <a:lvl7pPr>
              <a:defRPr sz="4800" b="1">
                <a:solidFill>
                  <a:srgbClr val="B75A32"/>
                </a:solidFill>
              </a:defRPr>
            </a:lvl7pPr>
            <a:lvl8pPr>
              <a:defRPr sz="4800" b="1">
                <a:solidFill>
                  <a:srgbClr val="B75A32"/>
                </a:solidFill>
              </a:defRPr>
            </a:lvl8pPr>
            <a:lvl9pPr>
              <a:defRPr sz="4800" b="1">
                <a:solidFill>
                  <a:srgbClr val="B75A32"/>
                </a:solidFill>
              </a:defRPr>
            </a:lvl9pPr>
          </a:lstStyle>
          <a:p xmlns:a="http://schemas.openxmlformats.org/drawingml/2006/main">
            <a:pPr>
              <a:defRPr sz="4800" b="1">
                <a:solidFill>
                  <a:srgbClr val="B75A32"/>
                </a:solidFill>
              </a:defRPr>
            </a:pPr>
            <a:r>
              <a:rPr sz="4800" b="1">
                <a:solidFill>
                  <a:srgbClr val="B75A32"/>
                </a:solidFill>
              </a:rPr>
              <a:t>32</a:t>
            </a:r>
          </a:p>
        </p:txBody>
      </p:sp>
      <p:sp>
        <p:nvSpPr>
          <p:cNvPr id="6" name="">
            <a:extLst xmlns:a="http://schemas.openxmlformats.org/drawingml/2006/main">
              <a:ext uri="{FF2B5EF4-FFF2-40B4-BE49-F238E27FC236}">
                <a16:creationId xmlns:a16="http://schemas.microsoft.com/office/drawing/2014/main" id="{2B966E10-7172-4CC1-88AB-6DDAFE5853D8}"/>
              </a:ext>
            </a:extLst>
          </p:cNvPr>
          <p:cNvSpPr>
            <a:spLocks xmlns:a="http://schemas.openxmlformats.org/drawingml/2006/main" noGrp="1"/>
          </p:cNvSpPr>
          <p:nvPr/>
        </p:nvSpPr>
        <p:spPr>
          <a:xfrm xmlns:a="http://schemas.openxmlformats.org/drawingml/2006/main">
            <a:off x="6905625" y="285750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3"/>
                </a:solidFill>
              </a:defRPr>
            </a:defPPr>
            <a:lvl1pPr>
              <a:defRPr sz="2250" b="0">
                <a:solidFill>
                  <a:srgbClr val="173C33"/>
                </a:solidFill>
              </a:defRPr>
            </a:lvl1pPr>
            <a:lvl2pPr>
              <a:defRPr sz="2250" b="0">
                <a:solidFill>
                  <a:srgbClr val="173C33"/>
                </a:solidFill>
              </a:defRPr>
            </a:lvl2pPr>
            <a:lvl3pPr>
              <a:defRPr sz="2250" b="0">
                <a:solidFill>
                  <a:srgbClr val="173C33"/>
                </a:solidFill>
              </a:defRPr>
            </a:lvl3pPr>
            <a:lvl4pPr>
              <a:defRPr sz="2250" b="0">
                <a:solidFill>
                  <a:srgbClr val="173C33"/>
                </a:solidFill>
              </a:defRPr>
            </a:lvl4pPr>
            <a:lvl5pPr>
              <a:defRPr sz="2250" b="0">
                <a:solidFill>
                  <a:srgbClr val="173C33"/>
                </a:solidFill>
              </a:defRPr>
            </a:lvl5pPr>
            <a:lvl6pPr>
              <a:defRPr sz="2250" b="0">
                <a:solidFill>
                  <a:srgbClr val="173C33"/>
                </a:solidFill>
              </a:defRPr>
            </a:lvl6pPr>
            <a:lvl7pPr>
              <a:defRPr sz="2250" b="0">
                <a:solidFill>
                  <a:srgbClr val="173C33"/>
                </a:solidFill>
              </a:defRPr>
            </a:lvl7pPr>
            <a:lvl8pPr>
              <a:defRPr sz="2250" b="0">
                <a:solidFill>
                  <a:srgbClr val="173C33"/>
                </a:solidFill>
              </a:defRPr>
            </a:lvl8pPr>
            <a:lvl9pPr>
              <a:defRPr sz="2250" b="0">
                <a:solidFill>
                  <a:srgbClr val="173C33"/>
                </a:solidFill>
              </a:defRPr>
            </a:lvl9pPr>
          </a:lstStyle>
          <a:p xmlns:a="http://schemas.openxmlformats.org/drawingml/2006/main">
            <a:pPr>
              <a:defRPr sz="2250" b="0">
                <a:solidFill>
                  <a:srgbClr val="173C33"/>
                </a:solidFill>
              </a:defRPr>
            </a:pPr>
            <a:r>
              <a:rPr sz="2250" b="0">
                <a:solidFill>
                  <a:srgbClr val="173C33"/>
                </a:solidFill>
              </a:rPr>
              <a:t>possible watermark flags</a:t>
            </a:r>
          </a:p>
        </p:txBody>
      </p:sp>
      <p:sp>
        <p:nvSpPr>
          <p:cNvPr id="7" name="">
            <a:extLst xmlns:a="http://schemas.openxmlformats.org/drawingml/2006/main">
              <a:ext uri="{FF2B5EF4-FFF2-40B4-BE49-F238E27FC236}">
                <a16:creationId xmlns:a16="http://schemas.microsoft.com/office/drawing/2014/main" id="{CB6DDD76-F67F-431E-98BD-6C8C42FD57FF}"/>
              </a:ext>
            </a:extLst>
          </p:cNvPr>
          <p:cNvSpPr>
            <a:spLocks xmlns:a="http://schemas.openxmlformats.org/drawingml/2006/main" noGrp="1"/>
          </p:cNvSpPr>
          <p:nvPr/>
        </p:nvSpPr>
        <p:spPr>
          <a:xfrm xmlns:a="http://schemas.openxmlformats.org/drawingml/2006/main">
            <a:off x="6905625" y="3762375"/>
            <a:ext cx="161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B75A32"/>
                </a:solidFill>
              </a:defRPr>
            </a:defPPr>
            <a:lvl1pPr>
              <a:defRPr sz="4800" b="1">
                <a:solidFill>
                  <a:srgbClr val="B75A32"/>
                </a:solidFill>
              </a:defRPr>
            </a:lvl1pPr>
            <a:lvl2pPr>
              <a:defRPr sz="4800" b="1">
                <a:solidFill>
                  <a:srgbClr val="B75A32"/>
                </a:solidFill>
              </a:defRPr>
            </a:lvl2pPr>
            <a:lvl3pPr>
              <a:defRPr sz="4800" b="1">
                <a:solidFill>
                  <a:srgbClr val="B75A32"/>
                </a:solidFill>
              </a:defRPr>
            </a:lvl3pPr>
            <a:lvl4pPr>
              <a:defRPr sz="4800" b="1">
                <a:solidFill>
                  <a:srgbClr val="B75A32"/>
                </a:solidFill>
              </a:defRPr>
            </a:lvl4pPr>
            <a:lvl5pPr>
              <a:defRPr sz="4800" b="1">
                <a:solidFill>
                  <a:srgbClr val="B75A32"/>
                </a:solidFill>
              </a:defRPr>
            </a:lvl5pPr>
            <a:lvl6pPr>
              <a:defRPr sz="4800" b="1">
                <a:solidFill>
                  <a:srgbClr val="B75A32"/>
                </a:solidFill>
              </a:defRPr>
            </a:lvl6pPr>
            <a:lvl7pPr>
              <a:defRPr sz="4800" b="1">
                <a:solidFill>
                  <a:srgbClr val="B75A32"/>
                </a:solidFill>
              </a:defRPr>
            </a:lvl7pPr>
            <a:lvl8pPr>
              <a:defRPr sz="4800" b="1">
                <a:solidFill>
                  <a:srgbClr val="B75A32"/>
                </a:solidFill>
              </a:defRPr>
            </a:lvl8pPr>
            <a:lvl9pPr>
              <a:defRPr sz="4800" b="1">
                <a:solidFill>
                  <a:srgbClr val="B75A32"/>
                </a:solidFill>
              </a:defRPr>
            </a:lvl9pPr>
          </a:lstStyle>
          <a:p xmlns:a="http://schemas.openxmlformats.org/drawingml/2006/main">
            <a:pPr>
              <a:defRPr sz="4800" b="1">
                <a:solidFill>
                  <a:srgbClr val="B75A32"/>
                </a:solidFill>
              </a:defRPr>
            </a:pPr>
            <a:r>
              <a:rPr sz="4800" b="1">
                <a:solidFill>
                  <a:srgbClr val="B75A32"/>
                </a:solidFill>
              </a:rPr>
              <a:t>9</a:t>
            </a:r>
          </a:p>
        </p:txBody>
      </p:sp>
      <p:sp>
        <p:nvSpPr>
          <p:cNvPr id="8" name="">
            <a:extLst xmlns:a="http://schemas.openxmlformats.org/drawingml/2006/main">
              <a:ext uri="{FF2B5EF4-FFF2-40B4-BE49-F238E27FC236}">
                <a16:creationId xmlns:a16="http://schemas.microsoft.com/office/drawing/2014/main" id="{C2D9CE38-33CD-4DBA-BB77-7172A6DD905D}"/>
              </a:ext>
            </a:extLst>
          </p:cNvPr>
          <p:cNvSpPr>
            <a:spLocks xmlns:a="http://schemas.openxmlformats.org/drawingml/2006/main" noGrp="1"/>
          </p:cNvSpPr>
          <p:nvPr/>
        </p:nvSpPr>
        <p:spPr>
          <a:xfrm xmlns:a="http://schemas.openxmlformats.org/drawingml/2006/main">
            <a:off x="6905625" y="4619625"/>
            <a:ext cx="466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3"/>
                </a:solidFill>
              </a:defRPr>
            </a:defPPr>
            <a:lvl1pPr>
              <a:defRPr sz="2175" b="0">
                <a:solidFill>
                  <a:srgbClr val="173C33"/>
                </a:solidFill>
              </a:defRPr>
            </a:lvl1pPr>
            <a:lvl2pPr>
              <a:defRPr sz="2175" b="0">
                <a:solidFill>
                  <a:srgbClr val="173C33"/>
                </a:solidFill>
              </a:defRPr>
            </a:lvl2pPr>
            <a:lvl3pPr>
              <a:defRPr sz="2175" b="0">
                <a:solidFill>
                  <a:srgbClr val="173C33"/>
                </a:solidFill>
              </a:defRPr>
            </a:lvl3pPr>
            <a:lvl4pPr>
              <a:defRPr sz="2175" b="0">
                <a:solidFill>
                  <a:srgbClr val="173C33"/>
                </a:solidFill>
              </a:defRPr>
            </a:lvl4pPr>
            <a:lvl5pPr>
              <a:defRPr sz="2175" b="0">
                <a:solidFill>
                  <a:srgbClr val="173C33"/>
                </a:solidFill>
              </a:defRPr>
            </a:lvl5pPr>
            <a:lvl6pPr>
              <a:defRPr sz="2175" b="0">
                <a:solidFill>
                  <a:srgbClr val="173C33"/>
                </a:solidFill>
              </a:defRPr>
            </a:lvl6pPr>
            <a:lvl7pPr>
              <a:defRPr sz="2175" b="0">
                <a:solidFill>
                  <a:srgbClr val="173C33"/>
                </a:solidFill>
              </a:defRPr>
            </a:lvl7pPr>
            <a:lvl8pPr>
              <a:defRPr sz="2175" b="0">
                <a:solidFill>
                  <a:srgbClr val="173C33"/>
                </a:solidFill>
              </a:defRPr>
            </a:lvl8pPr>
            <a:lvl9pPr>
              <a:defRPr sz="2175" b="0">
                <a:solidFill>
                  <a:srgbClr val="173C33"/>
                </a:solidFill>
              </a:defRPr>
            </a:lvl9pPr>
          </a:lstStyle>
          <a:p xmlns:a="http://schemas.openxmlformats.org/drawingml/2006/main">
            <a:pPr>
              <a:defRPr sz="2175" b="0">
                <a:solidFill>
                  <a:srgbClr val="173C33"/>
                </a:solidFill>
              </a:defRPr>
            </a:pPr>
            <a:r>
              <a:rPr sz="2175" b="0">
                <a:solidFill>
                  <a:srgbClr val="173C33"/>
                </a:solidFill>
              </a:rPr>
              <a:t>low-energy audio warnings</a:t>
            </a:r>
          </a:p>
        </p:txBody>
      </p:sp>
      <p:sp>
        <p:nvSpPr>
          <p:cNvPr id="9" name="">
            <a:extLst xmlns:a="http://schemas.openxmlformats.org/drawingml/2006/main">
              <a:ext uri="{FF2B5EF4-FFF2-40B4-BE49-F238E27FC236}">
                <a16:creationId xmlns:a16="http://schemas.microsoft.com/office/drawing/2014/main" id="{58899642-B24C-4F63-9980-B67879D4CDDF}"/>
              </a:ext>
            </a:extLst>
          </p:cNvPr>
          <p:cNvSpPr>
            <a:spLocks xmlns:a="http://schemas.openxmlformats.org/drawingml/2006/main" noGrp="1"/>
          </p:cNvSpPr>
          <p:nvPr/>
        </p:nvSpPr>
        <p:spPr>
          <a:xfrm xmlns:a="http://schemas.openxmlformats.org/drawingml/2006/main">
            <a:off x="685800" y="5734050"/>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3665C"/>
                </a:solidFill>
              </a:defRPr>
            </a:defPPr>
            <a:lvl1pPr>
              <a:defRPr sz="2175" b="0">
                <a:solidFill>
                  <a:srgbClr val="53665C"/>
                </a:solidFill>
              </a:defRPr>
            </a:lvl1pPr>
            <a:lvl2pPr>
              <a:defRPr sz="2175" b="0">
                <a:solidFill>
                  <a:srgbClr val="53665C"/>
                </a:solidFill>
              </a:defRPr>
            </a:lvl2pPr>
            <a:lvl3pPr>
              <a:defRPr sz="2175" b="0">
                <a:solidFill>
                  <a:srgbClr val="53665C"/>
                </a:solidFill>
              </a:defRPr>
            </a:lvl3pPr>
            <a:lvl4pPr>
              <a:defRPr sz="2175" b="0">
                <a:solidFill>
                  <a:srgbClr val="53665C"/>
                </a:solidFill>
              </a:defRPr>
            </a:lvl4pPr>
            <a:lvl5pPr>
              <a:defRPr sz="2175" b="0">
                <a:solidFill>
                  <a:srgbClr val="53665C"/>
                </a:solidFill>
              </a:defRPr>
            </a:lvl5pPr>
            <a:lvl6pPr>
              <a:defRPr sz="2175" b="0">
                <a:solidFill>
                  <a:srgbClr val="53665C"/>
                </a:solidFill>
              </a:defRPr>
            </a:lvl6pPr>
            <a:lvl7pPr>
              <a:defRPr sz="2175" b="0">
                <a:solidFill>
                  <a:srgbClr val="53665C"/>
                </a:solidFill>
              </a:defRPr>
            </a:lvl7pPr>
            <a:lvl8pPr>
              <a:defRPr sz="2175" b="0">
                <a:solidFill>
                  <a:srgbClr val="53665C"/>
                </a:solidFill>
              </a:defRPr>
            </a:lvl8pPr>
            <a:lvl9pPr>
              <a:defRPr sz="2175" b="0">
                <a:solidFill>
                  <a:srgbClr val="53665C"/>
                </a:solidFill>
              </a:defRPr>
            </a:lvl9pPr>
          </a:lstStyle>
          <a:p xmlns:a="http://schemas.openxmlformats.org/drawingml/2006/main">
            <a:pPr>
              <a:defRPr sz="2175" b="0">
                <a:solidFill>
                  <a:srgbClr val="53665C"/>
                </a:solidFill>
              </a:defRPr>
            </a:pPr>
            <a:r>
              <a:rPr sz="2175" b="0">
                <a:solidFill>
                  <a:srgbClr val="53665C"/>
                </a:solidFill>
              </a:rPr>
              <a:t>Weak signals remain available for review</a:t>
            </a:r>
          </a:p>
        </p:txBody>
      </p:sp>
    </p:spTree>
    <p:extLst>
      <p:ext uri="{BB962C8B-B14F-4D97-AF65-F5344CB8AC3E}">
        <p14:creationId xmlns:p14="http://schemas.microsoft.com/office/powerpoint/2010/main" val="587246431"/>
      </p:ext>
    </p:extLst>
  </p:cSld>
</p:sld>
</file>

<file path=ppt/slides/slide7.xml><?xml version="1.0" encoding="utf-8"?>
<p:sld xmlns:p="http://schemas.openxmlformats.org/presentationml/2006/main">
  <p:cSld>
    <p:bg>
      <p:bgPr>
        <a:solidFill xmlns:a="http://schemas.openxmlformats.org/drawingml/2006/main">
          <a:srgbClr val="173C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2C7E05-4A63-4875-BF90-2E2AAA789A3A}"/>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4F1E8"/>
                </a:solidFill>
              </a:defRPr>
            </a:defPPr>
            <a:lvl1pPr>
              <a:defRPr sz="3450" b="1">
                <a:solidFill>
                  <a:srgbClr val="F4F1E8"/>
                </a:solidFill>
              </a:defRPr>
            </a:lvl1pPr>
            <a:lvl2pPr>
              <a:defRPr sz="3450" b="1">
                <a:solidFill>
                  <a:srgbClr val="F4F1E8"/>
                </a:solidFill>
              </a:defRPr>
            </a:lvl2pPr>
            <a:lvl3pPr>
              <a:defRPr sz="3450" b="1">
                <a:solidFill>
                  <a:srgbClr val="F4F1E8"/>
                </a:solidFill>
              </a:defRPr>
            </a:lvl3pPr>
            <a:lvl4pPr>
              <a:defRPr sz="3450" b="1">
                <a:solidFill>
                  <a:srgbClr val="F4F1E8"/>
                </a:solidFill>
              </a:defRPr>
            </a:lvl4pPr>
            <a:lvl5pPr>
              <a:defRPr sz="3450" b="1">
                <a:solidFill>
                  <a:srgbClr val="F4F1E8"/>
                </a:solidFill>
              </a:defRPr>
            </a:lvl5pPr>
            <a:lvl6pPr>
              <a:defRPr sz="3450" b="1">
                <a:solidFill>
                  <a:srgbClr val="F4F1E8"/>
                </a:solidFill>
              </a:defRPr>
            </a:lvl6pPr>
            <a:lvl7pPr>
              <a:defRPr sz="3450" b="1">
                <a:solidFill>
                  <a:srgbClr val="F4F1E8"/>
                </a:solidFill>
              </a:defRPr>
            </a:lvl7pPr>
            <a:lvl8pPr>
              <a:defRPr sz="3450" b="1">
                <a:solidFill>
                  <a:srgbClr val="F4F1E8"/>
                </a:solidFill>
              </a:defRPr>
            </a:lvl8pPr>
            <a:lvl9pPr>
              <a:defRPr sz="3450" b="1">
                <a:solidFill>
                  <a:srgbClr val="F4F1E8"/>
                </a:solidFill>
              </a:defRPr>
            </a:lvl9pPr>
          </a:lstStyle>
          <a:p xmlns:a="http://schemas.openxmlformats.org/drawingml/2006/main">
            <a:pPr>
              <a:defRPr sz="3450" b="1">
                <a:solidFill>
                  <a:srgbClr val="F4F1E8"/>
                </a:solidFill>
              </a:defRPr>
            </a:pPr>
            <a:r>
              <a:rPr sz="3450" b="1">
                <a:solidFill>
                  <a:srgbClr val="F4F1E8"/>
                </a:solidFill>
              </a:rPr>
              <a:t>198 assets, 6,021 embeddings</a:t>
            </a:r>
          </a:p>
        </p:txBody>
      </p:sp>
      <p:sp>
        <p:nvSpPr>
          <p:cNvPr id="2" name="">
            <a:extLst xmlns:a="http://schemas.openxmlformats.org/drawingml/2006/main">
              <a:ext uri="{FF2B5EF4-FFF2-40B4-BE49-F238E27FC236}">
                <a16:creationId xmlns:a16="http://schemas.microsoft.com/office/drawing/2014/main" id="{B447FC20-C040-4A60-BF66-E3D06100A7CF}"/>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5CDBC"/>
                </a:solidFill>
              </a:defRPr>
            </a:defPPr>
            <a:lvl1pPr>
              <a:defRPr sz="1500" b="0">
                <a:solidFill>
                  <a:srgbClr val="C5CDBC"/>
                </a:solidFill>
              </a:defRPr>
            </a:lvl1pPr>
            <a:lvl2pPr>
              <a:defRPr sz="1500" b="0">
                <a:solidFill>
                  <a:srgbClr val="C5CDBC"/>
                </a:solidFill>
              </a:defRPr>
            </a:lvl2pPr>
            <a:lvl3pPr>
              <a:defRPr sz="1500" b="0">
                <a:solidFill>
                  <a:srgbClr val="C5CDBC"/>
                </a:solidFill>
              </a:defRPr>
            </a:lvl3pPr>
            <a:lvl4pPr>
              <a:defRPr sz="1500" b="0">
                <a:solidFill>
                  <a:srgbClr val="C5CDBC"/>
                </a:solidFill>
              </a:defRPr>
            </a:lvl4pPr>
            <a:lvl5pPr>
              <a:defRPr sz="1500" b="0">
                <a:solidFill>
                  <a:srgbClr val="C5CDBC"/>
                </a:solidFill>
              </a:defRPr>
            </a:lvl5pPr>
            <a:lvl6pPr>
              <a:defRPr sz="1500" b="0">
                <a:solidFill>
                  <a:srgbClr val="C5CDBC"/>
                </a:solidFill>
              </a:defRPr>
            </a:lvl6pPr>
            <a:lvl7pPr>
              <a:defRPr sz="1500" b="0">
                <a:solidFill>
                  <a:srgbClr val="C5CDBC"/>
                </a:solidFill>
              </a:defRPr>
            </a:lvl7pPr>
            <a:lvl8pPr>
              <a:defRPr sz="1500" b="0">
                <a:solidFill>
                  <a:srgbClr val="C5CDBC"/>
                </a:solidFill>
              </a:defRPr>
            </a:lvl8pPr>
            <a:lvl9pPr>
              <a:defRPr sz="1500" b="0">
                <a:solidFill>
                  <a:srgbClr val="C5CDBC"/>
                </a:solidFill>
              </a:defRPr>
            </a:lvl9pPr>
          </a:lstStyle>
          <a:p xmlns:a="http://schemas.openxmlformats.org/drawingml/2006/main">
            <a:pPr>
              <a:defRPr sz="1500" b="0">
                <a:solidFill>
                  <a:srgbClr val="C5CDBC"/>
                </a:solidFill>
              </a:defRPr>
            </a:pPr>
            <a:r>
              <a:rPr sz="1500" b="0">
                <a:solidFill>
                  <a:srgbClr val="C5CDBC"/>
                </a:solidFill>
              </a:rPr>
              <a:t>07</a:t>
            </a:r>
          </a:p>
        </p:txBody>
      </p:sp>
      <p:sp>
        <p:nvSpPr>
          <p:cNvPr id="3" name="">
            <a:extLst xmlns:a="http://schemas.openxmlformats.org/drawingml/2006/main">
              <a:ext uri="{FF2B5EF4-FFF2-40B4-BE49-F238E27FC236}">
                <a16:creationId xmlns:a16="http://schemas.microsoft.com/office/drawing/2014/main" id="{52D36821-C0D9-4A04-9487-853BC06705C6}"/>
              </a:ext>
            </a:extLst>
          </p:cNvPr>
          <p:cNvSpPr>
            <a:spLocks xmlns:a="http://schemas.openxmlformats.org/drawingml/2006/main" noGrp="1"/>
          </p:cNvSpPr>
          <p:nvPr/>
        </p:nvSpPr>
        <p:spPr>
          <a:xfrm xmlns:a="http://schemas.openxmlformats.org/drawingml/2006/main">
            <a:off x="685800" y="2047875"/>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100" b="1">
                <a:solidFill>
                  <a:srgbClr val="F4F1E8"/>
                </a:solidFill>
              </a:defRPr>
            </a:defPPr>
            <a:lvl1pPr>
              <a:defRPr sz="8100" b="1">
                <a:solidFill>
                  <a:srgbClr val="F4F1E8"/>
                </a:solidFill>
              </a:defRPr>
            </a:lvl1pPr>
            <a:lvl2pPr>
              <a:defRPr sz="8100" b="1">
                <a:solidFill>
                  <a:srgbClr val="F4F1E8"/>
                </a:solidFill>
              </a:defRPr>
            </a:lvl2pPr>
            <a:lvl3pPr>
              <a:defRPr sz="8100" b="1">
                <a:solidFill>
                  <a:srgbClr val="F4F1E8"/>
                </a:solidFill>
              </a:defRPr>
            </a:lvl3pPr>
            <a:lvl4pPr>
              <a:defRPr sz="8100" b="1">
                <a:solidFill>
                  <a:srgbClr val="F4F1E8"/>
                </a:solidFill>
              </a:defRPr>
            </a:lvl4pPr>
            <a:lvl5pPr>
              <a:defRPr sz="8100" b="1">
                <a:solidFill>
                  <a:srgbClr val="F4F1E8"/>
                </a:solidFill>
              </a:defRPr>
            </a:lvl5pPr>
            <a:lvl6pPr>
              <a:defRPr sz="8100" b="1">
                <a:solidFill>
                  <a:srgbClr val="F4F1E8"/>
                </a:solidFill>
              </a:defRPr>
            </a:lvl6pPr>
            <a:lvl7pPr>
              <a:defRPr sz="8100" b="1">
                <a:solidFill>
                  <a:srgbClr val="F4F1E8"/>
                </a:solidFill>
              </a:defRPr>
            </a:lvl7pPr>
            <a:lvl8pPr>
              <a:defRPr sz="8100" b="1">
                <a:solidFill>
                  <a:srgbClr val="F4F1E8"/>
                </a:solidFill>
              </a:defRPr>
            </a:lvl8pPr>
            <a:lvl9pPr>
              <a:defRPr sz="8100" b="1">
                <a:solidFill>
                  <a:srgbClr val="F4F1E8"/>
                </a:solidFill>
              </a:defRPr>
            </a:lvl9pPr>
          </a:lstStyle>
          <a:p xmlns:a="http://schemas.openxmlformats.org/drawingml/2006/main">
            <a:pPr>
              <a:defRPr sz="8100" b="1">
                <a:solidFill>
                  <a:srgbClr val="F4F1E8"/>
                </a:solidFill>
              </a:defRPr>
            </a:pPr>
            <a:r>
              <a:rPr sz="8100" b="1">
                <a:solidFill>
                  <a:srgbClr val="F4F1E8"/>
                </a:solidFill>
              </a:rPr>
              <a:t>6,021</a:t>
            </a:r>
          </a:p>
        </p:txBody>
      </p:sp>
      <p:sp>
        <p:nvSpPr>
          <p:cNvPr id="4" name="">
            <a:extLst xmlns:a="http://schemas.openxmlformats.org/drawingml/2006/main">
              <a:ext uri="{FF2B5EF4-FFF2-40B4-BE49-F238E27FC236}">
                <a16:creationId xmlns:a16="http://schemas.microsoft.com/office/drawing/2014/main" id="{49F501B3-CC17-412A-80BC-E29028E91581}"/>
              </a:ext>
            </a:extLst>
          </p:cNvPr>
          <p:cNvSpPr>
            <a:spLocks xmlns:a="http://schemas.openxmlformats.org/drawingml/2006/main" noGrp="1"/>
          </p:cNvSpPr>
          <p:nvPr/>
        </p:nvSpPr>
        <p:spPr>
          <a:xfrm xmlns:a="http://schemas.openxmlformats.org/drawingml/2006/main">
            <a:off x="742950" y="3714750"/>
            <a:ext cx="4333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4F1E8"/>
                </a:solidFill>
              </a:defRPr>
            </a:defPPr>
            <a:lvl1pPr>
              <a:defRPr sz="2325" b="0">
                <a:solidFill>
                  <a:srgbClr val="F4F1E8"/>
                </a:solidFill>
              </a:defRPr>
            </a:lvl1pPr>
            <a:lvl2pPr>
              <a:defRPr sz="2325" b="0">
                <a:solidFill>
                  <a:srgbClr val="F4F1E8"/>
                </a:solidFill>
              </a:defRPr>
            </a:lvl2pPr>
            <a:lvl3pPr>
              <a:defRPr sz="2325" b="0">
                <a:solidFill>
                  <a:srgbClr val="F4F1E8"/>
                </a:solidFill>
              </a:defRPr>
            </a:lvl3pPr>
            <a:lvl4pPr>
              <a:defRPr sz="2325" b="0">
                <a:solidFill>
                  <a:srgbClr val="F4F1E8"/>
                </a:solidFill>
              </a:defRPr>
            </a:lvl4pPr>
            <a:lvl5pPr>
              <a:defRPr sz="2325" b="0">
                <a:solidFill>
                  <a:srgbClr val="F4F1E8"/>
                </a:solidFill>
              </a:defRPr>
            </a:lvl5pPr>
            <a:lvl6pPr>
              <a:defRPr sz="2325" b="0">
                <a:solidFill>
                  <a:srgbClr val="F4F1E8"/>
                </a:solidFill>
              </a:defRPr>
            </a:lvl6pPr>
            <a:lvl7pPr>
              <a:defRPr sz="2325" b="0">
                <a:solidFill>
                  <a:srgbClr val="F4F1E8"/>
                </a:solidFill>
              </a:defRPr>
            </a:lvl7pPr>
            <a:lvl8pPr>
              <a:defRPr sz="2325" b="0">
                <a:solidFill>
                  <a:srgbClr val="F4F1E8"/>
                </a:solidFill>
              </a:defRPr>
            </a:lvl8pPr>
            <a:lvl9pPr>
              <a:defRPr sz="2325" b="0">
                <a:solidFill>
                  <a:srgbClr val="F4F1E8"/>
                </a:solidFill>
              </a:defRPr>
            </a:lvl9pPr>
          </a:lstStyle>
          <a:p xmlns:a="http://schemas.openxmlformats.org/drawingml/2006/main">
            <a:pPr>
              <a:defRPr sz="2325" b="0">
                <a:solidFill>
                  <a:srgbClr val="F4F1E8"/>
                </a:solidFill>
              </a:defRPr>
            </a:pPr>
            <a:r>
              <a:rPr sz="2325" b="0">
                <a:solidFill>
                  <a:srgbClr val="F4F1E8"/>
                </a:solidFill>
              </a:rPr>
              <a:t>persisted vectors</a:t>
            </a:r>
          </a:p>
          <a:p xmlns:a="http://schemas.openxmlformats.org/drawingml/2006/main">
            <a:pPr>
              <a:defRPr sz="2325" b="0">
                <a:solidFill>
                  <a:srgbClr val="F4F1E8"/>
                </a:solidFill>
              </a:defRPr>
            </a:pPr>
            <a:r>
              <a:rPr sz="2325" b="0">
                <a:solidFill>
                  <a:srgbClr val="F4F1E8"/>
                </a:solidFill>
              </a:rPr>
              <a:t>Segments with identity,</a:t>
            </a:r>
          </a:p>
          <a:p xmlns:a="http://schemas.openxmlformats.org/drawingml/2006/main">
            <a:pPr>
              <a:defRPr sz="2325" b="0">
                <a:solidFill>
                  <a:srgbClr val="F4F1E8"/>
                </a:solidFill>
              </a:defRPr>
            </a:pPr>
            <a:r>
              <a:rPr sz="2325" b="0">
                <a:solidFill>
                  <a:srgbClr val="F4F1E8"/>
                </a:solidFill>
              </a:rPr>
              <a:t>hash and contract</a:t>
            </a:r>
          </a:p>
        </p:txBody>
      </p:sp>
      <p:graphicFrame>
        <p:nvGraphicFramePr>
          <p:cNvPr id="5" name="">
            <a:extLst xmlns:a="http://schemas.openxmlformats.org/drawingml/2006/main">
              <a:ext uri="{FF2B5EF4-FFF2-40B4-BE49-F238E27FC236}">
                <a16:creationId xmlns:a16="http://schemas.microsoft.com/office/drawing/2014/main" id="{B0C4C6F0-9BD0-4C41-9F7B-D4321B17AA01}"/>
              </a:ext>
            </a:extLst>
          </p:cNvPr>
          <p:cNvGraphicFramePr/>
          <p:nvPr/>
        </p:nvGraphicFramePr>
        <p:xfrm>
          <a:off xmlns:a="http://schemas.openxmlformats.org/drawingml/2006/main" x="5429250" y="1971675"/>
          <a:ext xmlns:a="http://schemas.openxmlformats.org/drawingml/2006/main" cx="6096000" cy="3571875"/>
        </p:xfrm>
        <a:graphic xmlns:a="http://schemas.openxmlformats.org/drawingml/2006/main">
          <a:graphicData uri="http://schemas.openxmlformats.org/drawingml/2006/table">
            <a:tbl>
              <a:tblPr/>
              <a:tblGrid>
                <a:gridCol w="4476750"/>
                <a:gridCol w="1619250"/>
              </a:tblGrid>
              <a:tr h="595313">
                <a:tc>
                  <a:txBody>
                    <a:bodyPr/>
                    <a:lstStyle/>
                    <a:p>
                      <a:r>
                        <a:rPr sz="1875" b="1">
                          <a:solidFill>
                            <a:srgbClr val="FFFFFF"/>
                          </a:solidFill>
                          <a:latin typeface="Arial"/>
                          <a:ea typeface="Arial"/>
                          <a:cs typeface="Arial"/>
                        </a:rPr>
                        <a:t>Collection</a:t>
                      </a:r>
                    </a:p>
                  </a:txBody>
                  <a:tcPr marL="91440" marR="91440" marT="45720" marB="45720">
                    <a:lnL w="6668">
                      <a:solidFill>
                        <a:srgbClr val="CBD0C3"/>
                      </a:solidFill>
                      <a:prstDash val="solid"/>
                    </a:lnL>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Vectors</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r>
              <a:tr h="595313">
                <a:tc>
                  <a:txBody>
                    <a:bodyPr/>
                    <a:lstStyle/>
                    <a:p>
                      <a:r>
                        <a:rPr sz="2100">
                          <a:solidFill>
                            <a:srgbClr val="173C33"/>
                          </a:solidFill>
                          <a:latin typeface="Arial"/>
                          <a:ea typeface="Arial"/>
                          <a:cs typeface="Arial"/>
                        </a:rPr>
                        <a:t>Image · CLIP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100</a:t>
                      </a:r>
                    </a:p>
                  </a:txBody>
                  <a:tcPr marL="91440" marR="91440" marT="45720" marB="45720">
                    <a:lnR w="6668">
                      <a:solidFill>
                        <a:srgbClr val="CBD0C3"/>
                      </a:solidFill>
                      <a:prstDash val="solid"/>
                    </a:lnR>
                    <a:lnB w="6668">
                      <a:solidFill>
                        <a:srgbClr val="CBD0C3"/>
                      </a:solidFill>
                      <a:prstDash val="solid"/>
                    </a:lnB>
                    <a:solidFill>
                      <a:srgbClr val="F4F1E8"/>
                    </a:solidFill>
                  </a:tcPr>
                </a:tc>
              </a:tr>
              <a:tr h="595313">
                <a:tc>
                  <a:txBody>
                    <a:bodyPr/>
                    <a:lstStyle/>
                    <a:p>
                      <a:r>
                        <a:rPr sz="2100">
                          <a:solidFill>
                            <a:srgbClr val="173C33"/>
                          </a:solidFill>
                          <a:latin typeface="Arial"/>
                          <a:ea typeface="Arial"/>
                          <a:cs typeface="Arial"/>
                        </a:rPr>
                        <a:t>Audio · CLAP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357</a:t>
                      </a:r>
                    </a:p>
                  </a:txBody>
                  <a:tcPr marL="91440" marR="91440" marT="45720" marB="45720">
                    <a:lnR w="6668">
                      <a:solidFill>
                        <a:srgbClr val="CBD0C3"/>
                      </a:solidFill>
                      <a:prstDash val="solid"/>
                    </a:lnR>
                    <a:lnB w="6668">
                      <a:solidFill>
                        <a:srgbClr val="CBD0C3"/>
                      </a:solidFill>
                      <a:prstDash val="solid"/>
                    </a:lnB>
                    <a:solidFill>
                      <a:srgbClr val="F4F1E8"/>
                    </a:solidFill>
                  </a:tcPr>
                </a:tc>
              </a:tr>
              <a:tr h="595313">
                <a:tc>
                  <a:txBody>
                    <a:bodyPr/>
                    <a:lstStyle/>
                    <a:p>
                      <a:r>
                        <a:rPr sz="2100">
                          <a:solidFill>
                            <a:srgbClr val="173C33"/>
                          </a:solidFill>
                          <a:latin typeface="Arial"/>
                          <a:ea typeface="Arial"/>
                          <a:cs typeface="Arial"/>
                        </a:rPr>
                        <a:t>Text · E5</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547</a:t>
                      </a:r>
                    </a:p>
                  </a:txBody>
                  <a:tcPr marL="91440" marR="91440" marT="45720" marB="45720">
                    <a:lnR w="6668">
                      <a:solidFill>
                        <a:srgbClr val="CBD0C3"/>
                      </a:solidFill>
                      <a:prstDash val="solid"/>
                    </a:lnR>
                    <a:lnB w="6668">
                      <a:solidFill>
                        <a:srgbClr val="CBD0C3"/>
                      </a:solidFill>
                      <a:prstDash val="solid"/>
                    </a:lnB>
                    <a:solidFill>
                      <a:srgbClr val="F4F1E8"/>
                    </a:solidFill>
                  </a:tcPr>
                </a:tc>
              </a:tr>
              <a:tr h="595313">
                <a:tc>
                  <a:txBody>
                    <a:bodyPr/>
                    <a:lstStyle/>
                    <a:p>
                      <a:r>
                        <a:rPr sz="2100">
                          <a:solidFill>
                            <a:srgbClr val="173C33"/>
                          </a:solidFill>
                          <a:latin typeface="Arial"/>
                          <a:ea typeface="Arial"/>
                          <a:cs typeface="Arial"/>
                        </a:rPr>
                        <a:t>Image + text · CLIP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1,763</a:t>
                      </a:r>
                    </a:p>
                  </a:txBody>
                  <a:tcPr marL="91440" marR="91440" marT="45720" marB="45720">
                    <a:lnR w="6668">
                      <a:solidFill>
                        <a:srgbClr val="CBD0C3"/>
                      </a:solidFill>
                      <a:prstDash val="solid"/>
                    </a:lnR>
                    <a:lnB w="6668">
                      <a:solidFill>
                        <a:srgbClr val="CBD0C3"/>
                      </a:solidFill>
                      <a:prstDash val="solid"/>
                    </a:lnB>
                    <a:solidFill>
                      <a:srgbClr val="F4F1E8"/>
                    </a:solidFill>
                  </a:tcPr>
                </a:tc>
              </a:tr>
              <a:tr h="595313">
                <a:tc>
                  <a:txBody>
                    <a:bodyPr/>
                    <a:lstStyle/>
                    <a:p>
                      <a:r>
                        <a:rPr sz="2100">
                          <a:solidFill>
                            <a:srgbClr val="173C33"/>
                          </a:solidFill>
                          <a:latin typeface="Arial"/>
                          <a:ea typeface="Arial"/>
                          <a:cs typeface="Arial"/>
                        </a:rPr>
                        <a:t>Audio + text · CLAP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3,254</a:t>
                      </a:r>
                    </a:p>
                  </a:txBody>
                  <a:tcPr marL="91440" marR="91440" marT="45720" marB="45720">
                    <a:lnR w="6668">
                      <a:solidFill>
                        <a:srgbClr val="CBD0C3"/>
                      </a:solidFill>
                      <a:prstDash val="solid"/>
                    </a:lnR>
                    <a:lnB w="6668">
                      <a:solidFill>
                        <a:srgbClr val="CBD0C3"/>
                      </a:solidFill>
                      <a:prstDash val="solid"/>
                    </a:lnB>
                    <a:solidFill>
                      <a:srgbClr val="F4F1E8"/>
                    </a:solidFill>
                  </a:tcPr>
                </a:tc>
              </a:tr>
            </a:tbl>
          </a:graphicData>
        </a:graphic>
      </p:graphicFrame>
    </p:spTree>
    <p:extLst>
      <p:ext uri="{BB962C8B-B14F-4D97-AF65-F5344CB8AC3E}">
        <p14:creationId xmlns:p14="http://schemas.microsoft.com/office/powerpoint/2010/main" val="923140715"/>
      </p:ext>
    </p:extLst>
  </p:cSld>
</p:sld>
</file>

<file path=ppt/slides/slide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62508E-DE6C-42FE-ADB1-445D97B6BA52}"/>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The encoder follows the relationship</a:t>
            </a:r>
          </a:p>
        </p:txBody>
      </p:sp>
      <p:sp>
        <p:nvSpPr>
          <p:cNvPr id="2" name="">
            <a:extLst xmlns:a="http://schemas.openxmlformats.org/drawingml/2006/main">
              <a:ext uri="{FF2B5EF4-FFF2-40B4-BE49-F238E27FC236}">
                <a16:creationId xmlns:a16="http://schemas.microsoft.com/office/drawing/2014/main" id="{EB12B5CF-CA78-4FA1-A850-22C4D8EA5FEC}"/>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08</a:t>
            </a:r>
          </a:p>
        </p:txBody>
      </p:sp>
      <p:graphicFrame>
        <p:nvGraphicFramePr>
          <p:cNvPr id="3" name="">
            <a:extLst xmlns:a="http://schemas.openxmlformats.org/drawingml/2006/main">
              <a:ext uri="{FF2B5EF4-FFF2-40B4-BE49-F238E27FC236}">
                <a16:creationId xmlns:a16="http://schemas.microsoft.com/office/drawing/2014/main" id="{6A8D19A0-F2F0-45D8-97DB-26B342BB9CD6}"/>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a:tblGrid>
                <a:gridCol w="2238375"/>
                <a:gridCol w="4953000"/>
                <a:gridCol w="3781425"/>
              </a:tblGrid>
              <a:tr h="738188">
                <a:tc>
                  <a:txBody>
                    <a:bodyPr/>
                    <a:lstStyle/>
                    <a:p>
                      <a:r>
                        <a:rPr sz="1875" b="1">
                          <a:solidFill>
                            <a:srgbClr val="FFFFFF"/>
                          </a:solidFill>
                          <a:latin typeface="Arial"/>
                          <a:ea typeface="Arial"/>
                          <a:cs typeface="Arial"/>
                        </a:rPr>
                        <a:t>Encoder</a:t>
                      </a:r>
                    </a:p>
                  </a:txBody>
                  <a:tcPr marL="91440" marR="91440" marT="45720" marB="45720">
                    <a:lnL w="6668">
                      <a:solidFill>
                        <a:srgbClr val="CBD0C3"/>
                      </a:solidFill>
                      <a:prstDash val="solid"/>
                    </a:lnL>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Represented relationship</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Practical choice</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r>
              <a:tr h="738188">
                <a:tc>
                  <a:txBody>
                    <a:bodyPr/>
                    <a:lstStyle/>
                    <a:p>
                      <a:r>
                        <a:rPr sz="2100">
                          <a:solidFill>
                            <a:srgbClr val="173C33"/>
                          </a:solidFill>
                          <a:latin typeface="Arial"/>
                          <a:ea typeface="Arial"/>
                          <a:cs typeface="Arial"/>
                        </a:rPr>
                        <a:t>CLIP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Aligned image and text</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Visual concepts</a:t>
                      </a:r>
                    </a:p>
                  </a:txBody>
                  <a:tcPr marL="91440" marR="91440" marT="45720" marB="45720">
                    <a:lnR w="6668">
                      <a:solidFill>
                        <a:srgbClr val="CBD0C3"/>
                      </a:solidFill>
                      <a:prstDash val="solid"/>
                    </a:lnR>
                    <a:lnB w="6668">
                      <a:solidFill>
                        <a:srgbClr val="CBD0C3"/>
                      </a:solidFill>
                      <a:prstDash val="solid"/>
                    </a:lnB>
                    <a:solidFill>
                      <a:srgbClr val="F4F1E8"/>
                    </a:solidFill>
                  </a:tcPr>
                </a:tc>
              </a:tr>
              <a:tr h="738188">
                <a:tc>
                  <a:txBody>
                    <a:bodyPr/>
                    <a:lstStyle/>
                    <a:p>
                      <a:r>
                        <a:rPr sz="2100">
                          <a:solidFill>
                            <a:srgbClr val="173C33"/>
                          </a:solidFill>
                          <a:latin typeface="Arial"/>
                          <a:ea typeface="Arial"/>
                          <a:cs typeface="Arial"/>
                        </a:rPr>
                        <a:t>CLAP</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Aligned audio and text</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Sound descriptions</a:t>
                      </a:r>
                    </a:p>
                  </a:txBody>
                  <a:tcPr marL="91440" marR="91440" marT="45720" marB="45720">
                    <a:lnR w="6668">
                      <a:solidFill>
                        <a:srgbClr val="CBD0C3"/>
                      </a:solidFill>
                      <a:prstDash val="solid"/>
                    </a:lnR>
                    <a:lnB w="6668">
                      <a:solidFill>
                        <a:srgbClr val="CBD0C3"/>
                      </a:solidFill>
                      <a:prstDash val="solid"/>
                    </a:lnB>
                    <a:solidFill>
                      <a:srgbClr val="F4F1E8"/>
                    </a:solidFill>
                  </a:tcPr>
                </a:tc>
              </a:tr>
              <a:tr h="738188">
                <a:tc>
                  <a:txBody>
                    <a:bodyPr/>
                    <a:lstStyle/>
                    <a:p>
                      <a:r>
                        <a:rPr sz="2100">
                          <a:solidFill>
                            <a:srgbClr val="173C33"/>
                          </a:solidFill>
                          <a:latin typeface="Arial"/>
                          <a:ea typeface="Arial"/>
                          <a:cs typeface="Arial"/>
                        </a:rPr>
                        <a:t>E5 small</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Multilingual text</a:t>
                      </a:r>
                    </a:p>
                  </a:txBody>
                  <a:tcPr marL="91440" marR="91440" marT="45720" marB="45720">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Compact representation</a:t>
                      </a:r>
                    </a:p>
                  </a:txBody>
                  <a:tcPr marL="91440" marR="91440" marT="45720" marB="45720">
                    <a:lnR w="6668">
                      <a:solidFill>
                        <a:srgbClr val="CBD0C3"/>
                      </a:solidFill>
                      <a:prstDash val="solid"/>
                    </a:lnR>
                    <a:lnB w="6668">
                      <a:solidFill>
                        <a:srgbClr val="CBD0C3"/>
                      </a:solidFill>
                      <a:prstDash val="solid"/>
                    </a:lnB>
                    <a:solidFill>
                      <a:srgbClr val="F4F1E8"/>
                    </a:solidFill>
                  </a:tcPr>
                </a:tc>
              </a:tr>
            </a:tbl>
          </a:graphicData>
        </a:graphic>
      </p:graphicFrame>
      <p:sp>
        <p:nvSpPr>
          <p:cNvPr id="4" name="">
            <a:extLst xmlns:a="http://schemas.openxmlformats.org/drawingml/2006/main">
              <a:ext uri="{FF2B5EF4-FFF2-40B4-BE49-F238E27FC236}">
                <a16:creationId xmlns:a16="http://schemas.microsoft.com/office/drawing/2014/main" id="{95DBE9E9-B7E0-4F28-A596-62CD3B6C17D0}"/>
              </a:ext>
            </a:extLst>
          </p:cNvPr>
          <p:cNvSpPr>
            <a:spLocks xmlns:a="http://schemas.openxmlformats.org/drawingml/2006/main" noGrp="1"/>
          </p:cNvSpPr>
          <p:nvPr/>
        </p:nvSpPr>
        <p:spPr>
          <a:xfrm xmlns:a="http://schemas.openxmlformats.org/drawingml/2006/main">
            <a:off x="685800" y="54673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B75A32"/>
                </a:solidFill>
              </a:defRPr>
            </a:defPPr>
            <a:lvl1pPr>
              <a:defRPr sz="2400" b="0">
                <a:solidFill>
                  <a:srgbClr val="B75A32"/>
                </a:solidFill>
              </a:defRPr>
            </a:lvl1pPr>
            <a:lvl2pPr>
              <a:defRPr sz="2400" b="0">
                <a:solidFill>
                  <a:srgbClr val="B75A32"/>
                </a:solidFill>
              </a:defRPr>
            </a:lvl2pPr>
            <a:lvl3pPr>
              <a:defRPr sz="2400" b="0">
                <a:solidFill>
                  <a:srgbClr val="B75A32"/>
                </a:solidFill>
              </a:defRPr>
            </a:lvl3pPr>
            <a:lvl4pPr>
              <a:defRPr sz="2400" b="0">
                <a:solidFill>
                  <a:srgbClr val="B75A32"/>
                </a:solidFill>
              </a:defRPr>
            </a:lvl4pPr>
            <a:lvl5pPr>
              <a:defRPr sz="2400" b="0">
                <a:solidFill>
                  <a:srgbClr val="B75A32"/>
                </a:solidFill>
              </a:defRPr>
            </a:lvl5pPr>
            <a:lvl6pPr>
              <a:defRPr sz="2400" b="0">
                <a:solidFill>
                  <a:srgbClr val="B75A32"/>
                </a:solidFill>
              </a:defRPr>
            </a:lvl6pPr>
            <a:lvl7pPr>
              <a:defRPr sz="2400" b="0">
                <a:solidFill>
                  <a:srgbClr val="B75A32"/>
                </a:solidFill>
              </a:defRPr>
            </a:lvl7pPr>
            <a:lvl8pPr>
              <a:defRPr sz="2400" b="0">
                <a:solidFill>
                  <a:srgbClr val="B75A32"/>
                </a:solidFill>
              </a:defRPr>
            </a:lvl8pPr>
            <a:lvl9pPr>
              <a:defRPr sz="2400" b="0">
                <a:solidFill>
                  <a:srgbClr val="B75A32"/>
                </a:solidFill>
              </a:defRPr>
            </a:lvl9pPr>
          </a:lstStyle>
          <a:p xmlns:a="http://schemas.openxmlformats.org/drawingml/2006/main">
            <a:pPr>
              <a:defRPr sz="2400" b="0">
                <a:solidFill>
                  <a:srgbClr val="B75A32"/>
                </a:solidFill>
              </a:defRPr>
            </a:pPr>
            <a:r>
              <a:rPr sz="2400" b="0">
                <a:solidFill>
                  <a:srgbClr val="B75A32"/>
                </a:solidFill>
              </a:rPr>
              <a:t>CPU · pretrained models · separate contracts</a:t>
            </a:r>
          </a:p>
        </p:txBody>
      </p:sp>
      <p:sp>
        <p:nvSpPr>
          <p:cNvPr id="5" name="">
            <a:extLst xmlns:a="http://schemas.openxmlformats.org/drawingml/2006/main">
              <a:ext uri="{FF2B5EF4-FFF2-40B4-BE49-F238E27FC236}">
                <a16:creationId xmlns:a16="http://schemas.microsoft.com/office/drawing/2014/main" id="{70A3DEAF-234A-4AC5-810C-49BA788E85F0}"/>
              </a:ext>
            </a:extLst>
          </p:cNvPr>
          <p:cNvSpPr>
            <a:spLocks xmlns:a="http://schemas.openxmlformats.org/drawingml/2006/main" noGrp="1"/>
          </p:cNvSpPr>
          <p:nvPr/>
        </p:nvSpPr>
        <p:spPr>
          <a:xfrm xmlns:a="http://schemas.openxmlformats.org/drawingml/2006/main">
            <a:off x="685800" y="59817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5C"/>
                </a:solidFill>
              </a:defRPr>
            </a:defPPr>
            <a:lvl1pPr>
              <a:defRPr sz="1800" b="0">
                <a:solidFill>
                  <a:srgbClr val="53665C"/>
                </a:solidFill>
              </a:defRPr>
            </a:lvl1pPr>
            <a:lvl2pPr>
              <a:defRPr sz="1800" b="0">
                <a:solidFill>
                  <a:srgbClr val="53665C"/>
                </a:solidFill>
              </a:defRPr>
            </a:lvl2pPr>
            <a:lvl3pPr>
              <a:defRPr sz="1800" b="0">
                <a:solidFill>
                  <a:srgbClr val="53665C"/>
                </a:solidFill>
              </a:defRPr>
            </a:lvl3pPr>
            <a:lvl4pPr>
              <a:defRPr sz="1800" b="0">
                <a:solidFill>
                  <a:srgbClr val="53665C"/>
                </a:solidFill>
              </a:defRPr>
            </a:lvl4pPr>
            <a:lvl5pPr>
              <a:defRPr sz="1800" b="0">
                <a:solidFill>
                  <a:srgbClr val="53665C"/>
                </a:solidFill>
              </a:defRPr>
            </a:lvl5pPr>
            <a:lvl6pPr>
              <a:defRPr sz="1800" b="0">
                <a:solidFill>
                  <a:srgbClr val="53665C"/>
                </a:solidFill>
              </a:defRPr>
            </a:lvl6pPr>
            <a:lvl7pPr>
              <a:defRPr sz="1800" b="0">
                <a:solidFill>
                  <a:srgbClr val="53665C"/>
                </a:solidFill>
              </a:defRPr>
            </a:lvl7pPr>
            <a:lvl8pPr>
              <a:defRPr sz="1800" b="0">
                <a:solidFill>
                  <a:srgbClr val="53665C"/>
                </a:solidFill>
              </a:defRPr>
            </a:lvl8pPr>
            <a:lvl9pPr>
              <a:defRPr sz="1800" b="0">
                <a:solidFill>
                  <a:srgbClr val="53665C"/>
                </a:solidFill>
              </a:defRPr>
            </a:lvl9pPr>
          </a:lstStyle>
          <a:p xmlns:a="http://schemas.openxmlformats.org/drawingml/2006/main">
            <a:pPr>
              <a:defRPr sz="1800" b="0">
                <a:solidFill>
                  <a:srgbClr val="53665C"/>
                </a:solidFill>
              </a:defRPr>
            </a:pPr>
            <a:r>
              <a:rPr sz="1800" b="0">
                <a:solidFill>
                  <a:srgbClr val="53665C"/>
                </a:solidFill>
              </a:rPr>
              <a:t>No comparative model benchmark for this domain</a:t>
            </a:r>
          </a:p>
        </p:txBody>
      </p:sp>
    </p:spTree>
    <p:extLst>
      <p:ext uri="{BB962C8B-B14F-4D97-AF65-F5344CB8AC3E}">
        <p14:creationId xmlns:p14="http://schemas.microsoft.com/office/powerpoint/2010/main" val="490646290"/>
      </p:ext>
    </p:extLst>
  </p:cSld>
</p:sld>
</file>

<file path=ppt/slides/slide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13D87B-D0CE-40FF-A494-325D5EED7392}"/>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Task 1: similarity within a modality</a:t>
            </a:r>
          </a:p>
        </p:txBody>
      </p:sp>
      <p:sp>
        <p:nvSpPr>
          <p:cNvPr id="2" name="">
            <a:extLst xmlns:a="http://schemas.openxmlformats.org/drawingml/2006/main">
              <a:ext uri="{FF2B5EF4-FFF2-40B4-BE49-F238E27FC236}">
                <a16:creationId xmlns:a16="http://schemas.microsoft.com/office/drawing/2014/main" id="{A80CBE0F-0253-4CCF-9DC4-C795F8A063A5}"/>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09</a:t>
            </a:r>
          </a:p>
        </p:txBody>
      </p:sp>
      <p:graphicFrame>
        <p:nvGraphicFramePr>
          <p:cNvPr id="3" name="">
            <a:extLst xmlns:a="http://schemas.openxmlformats.org/drawingml/2006/main">
              <a:ext uri="{FF2B5EF4-FFF2-40B4-BE49-F238E27FC236}">
                <a16:creationId xmlns:a16="http://schemas.microsoft.com/office/drawing/2014/main" id="{3BA3D633-D24B-4507-A392-53ED6644708B}"/>
              </a:ext>
            </a:extLst>
          </p:cNvPr>
          <p:cNvGraphicFramePr/>
          <p:nvPr/>
        </p:nvGraphicFramePr>
        <p:xfrm>
          <a:off xmlns:a="http://schemas.openxmlformats.org/drawingml/2006/main" x="666750" y="2000250"/>
          <a:ext xmlns:a="http://schemas.openxmlformats.org/drawingml/2006/main" cx="10763250" cy="2667000"/>
        </p:xfrm>
        <a:graphic xmlns:a="http://schemas.openxmlformats.org/drawingml/2006/main">
          <a:graphicData uri="http://schemas.openxmlformats.org/drawingml/2006/table">
            <a:tbl>
              <a:tblPr/>
              <a:tblGrid>
                <a:gridCol w="5381625"/>
                <a:gridCol w="5381625"/>
              </a:tblGrid>
              <a:tr h="666750">
                <a:tc>
                  <a:txBody>
                    <a:bodyPr/>
                    <a:lstStyle/>
                    <a:p>
                      <a:r>
                        <a:rPr sz="1875" b="1">
                          <a:solidFill>
                            <a:srgbClr val="FFFFFF"/>
                          </a:solidFill>
                          <a:latin typeface="Arial"/>
                          <a:ea typeface="Arial"/>
                          <a:cs typeface="Arial"/>
                        </a:rPr>
                        <a:t>Query</a:t>
                      </a:r>
                    </a:p>
                  </a:txBody>
                  <a:tcPr marL="91440" marR="91440" marT="45720" marB="45720">
                    <a:lnL w="6668">
                      <a:solidFill>
                        <a:srgbClr val="CBD0C3"/>
                      </a:solidFill>
                      <a:prstDash val="solid"/>
                    </a:lnL>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c>
                  <a:txBody>
                    <a:bodyPr/>
                    <a:lstStyle/>
                    <a:p>
                      <a:r>
                        <a:rPr sz="1875" b="1">
                          <a:solidFill>
                            <a:srgbClr val="FFFFFF"/>
                          </a:solidFill>
                          <a:latin typeface="Arial"/>
                          <a:ea typeface="Arial"/>
                          <a:cs typeface="Arial"/>
                        </a:rPr>
                        <a:t>Results</a:t>
                      </a:r>
                    </a:p>
                  </a:txBody>
                  <a:tcPr marL="91440" marR="91440" marT="45720" marB="45720">
                    <a:lnR w="6668">
                      <a:solidFill>
                        <a:srgbClr val="CBD0C3"/>
                      </a:solidFill>
                      <a:prstDash val="solid"/>
                    </a:lnR>
                    <a:lnT w="6668">
                      <a:solidFill>
                        <a:srgbClr val="CBD0C3"/>
                      </a:solidFill>
                      <a:prstDash val="solid"/>
                    </a:lnT>
                    <a:lnB w="6668">
                      <a:solidFill>
                        <a:srgbClr val="CBD0C3"/>
                      </a:solidFill>
                      <a:prstDash val="solid"/>
                    </a:lnB>
                    <a:solidFill>
                      <a:srgbClr val="173C33"/>
                    </a:solidFill>
                  </a:tcPr>
                </a:tc>
              </a:tr>
              <a:tr h="666750">
                <a:tc>
                  <a:txBody>
                    <a:bodyPr/>
                    <a:lstStyle/>
                    <a:p>
                      <a:r>
                        <a:rPr sz="2100">
                          <a:solidFill>
                            <a:srgbClr val="173C33"/>
                          </a:solidFill>
                          <a:latin typeface="Arial"/>
                          <a:ea typeface="Arial"/>
                          <a:cs typeface="Arial"/>
                        </a:rPr>
                        <a:t>Image</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Other images</a:t>
                      </a:r>
                    </a:p>
                  </a:txBody>
                  <a:tcPr marL="91440" marR="91440" marT="45720" marB="45720">
                    <a:lnR w="6668">
                      <a:solidFill>
                        <a:srgbClr val="CBD0C3"/>
                      </a:solidFill>
                      <a:prstDash val="solid"/>
                    </a:lnR>
                    <a:lnB w="6668">
                      <a:solidFill>
                        <a:srgbClr val="CBD0C3"/>
                      </a:solidFill>
                      <a:prstDash val="solid"/>
                    </a:lnB>
                    <a:solidFill>
                      <a:srgbClr val="F4F1E8"/>
                    </a:solidFill>
                  </a:tcPr>
                </a:tc>
              </a:tr>
              <a:tr h="666750">
                <a:tc>
                  <a:txBody>
                    <a:bodyPr/>
                    <a:lstStyle/>
                    <a:p>
                      <a:r>
                        <a:rPr sz="2100">
                          <a:solidFill>
                            <a:srgbClr val="173C33"/>
                          </a:solidFill>
                          <a:latin typeface="Arial"/>
                          <a:ea typeface="Arial"/>
                          <a:cs typeface="Arial"/>
                        </a:rPr>
                        <a:t>Audio</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Other recordings</a:t>
                      </a:r>
                    </a:p>
                  </a:txBody>
                  <a:tcPr marL="91440" marR="91440" marT="45720" marB="45720">
                    <a:lnR w="6668">
                      <a:solidFill>
                        <a:srgbClr val="CBD0C3"/>
                      </a:solidFill>
                      <a:prstDash val="solid"/>
                    </a:lnR>
                    <a:lnB w="6668">
                      <a:solidFill>
                        <a:srgbClr val="CBD0C3"/>
                      </a:solidFill>
                      <a:prstDash val="solid"/>
                    </a:lnB>
                    <a:solidFill>
                      <a:srgbClr val="F4F1E8"/>
                    </a:solidFill>
                  </a:tcPr>
                </a:tc>
              </a:tr>
              <a:tr h="666750">
                <a:tc>
                  <a:txBody>
                    <a:bodyPr/>
                    <a:lstStyle/>
                    <a:p>
                      <a:r>
                        <a:rPr sz="2100">
                          <a:solidFill>
                            <a:srgbClr val="173C33"/>
                          </a:solidFill>
                          <a:latin typeface="Arial"/>
                          <a:ea typeface="Arial"/>
                          <a:cs typeface="Arial"/>
                        </a:rPr>
                        <a:t>Text</a:t>
                      </a:r>
                    </a:p>
                  </a:txBody>
                  <a:tcPr marL="91440" marR="91440" marT="45720" marB="45720">
                    <a:lnL w="6668">
                      <a:solidFill>
                        <a:srgbClr val="CBD0C3"/>
                      </a:solidFill>
                      <a:prstDash val="solid"/>
                    </a:lnL>
                    <a:lnR w="6668">
                      <a:solidFill>
                        <a:srgbClr val="CBD0C3"/>
                      </a:solidFill>
                      <a:prstDash val="solid"/>
                    </a:lnR>
                    <a:lnB w="6668">
                      <a:solidFill>
                        <a:srgbClr val="CBD0C3"/>
                      </a:solidFill>
                      <a:prstDash val="solid"/>
                    </a:lnB>
                    <a:solidFill>
                      <a:srgbClr val="F4F1E8"/>
                    </a:solidFill>
                  </a:tcPr>
                </a:tc>
                <a:tc>
                  <a:txBody>
                    <a:bodyPr/>
                    <a:lstStyle/>
                    <a:p>
                      <a:r>
                        <a:rPr sz="2100">
                          <a:solidFill>
                            <a:srgbClr val="173C33"/>
                          </a:solidFill>
                          <a:latin typeface="Arial"/>
                          <a:ea typeface="Arial"/>
                          <a:cs typeface="Arial"/>
                        </a:rPr>
                        <a:t>Other texts</a:t>
                      </a:r>
                    </a:p>
                  </a:txBody>
                  <a:tcPr marL="91440" marR="91440" marT="45720" marB="45720">
                    <a:lnR w="6668">
                      <a:solidFill>
                        <a:srgbClr val="CBD0C3"/>
                      </a:solidFill>
                      <a:prstDash val="solid"/>
                    </a:lnR>
                    <a:lnB w="6668">
                      <a:solidFill>
                        <a:srgbClr val="CBD0C3"/>
                      </a:solidFill>
                      <a:prstDash val="solid"/>
                    </a:lnB>
                    <a:solidFill>
                      <a:srgbClr val="F4F1E8"/>
                    </a:solidFill>
                  </a:tcPr>
                </a:tc>
              </a:tr>
            </a:tbl>
          </a:graphicData>
        </a:graphic>
      </p:graphicFrame>
      <p:sp>
        <p:nvSpPr>
          <p:cNvPr id="4" name="">
            <a:extLst xmlns:a="http://schemas.openxmlformats.org/drawingml/2006/main">
              <a:ext uri="{FF2B5EF4-FFF2-40B4-BE49-F238E27FC236}">
                <a16:creationId xmlns:a16="http://schemas.microsoft.com/office/drawing/2014/main" id="{A8821293-FB4A-4975-ABB3-EE3FB89C8525}"/>
              </a:ext>
            </a:extLst>
          </p:cNvPr>
          <p:cNvSpPr>
            <a:spLocks xmlns:a="http://schemas.openxmlformats.org/drawingml/2006/main" noGrp="1"/>
          </p:cNvSpPr>
          <p:nvPr/>
        </p:nvSpPr>
        <p:spPr>
          <a:xfrm xmlns:a="http://schemas.openxmlformats.org/drawingml/2006/main">
            <a:off x="685800" y="5191125"/>
            <a:ext cx="538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C33"/>
                </a:solidFill>
              </a:defRPr>
            </a:defPPr>
            <a:lvl1pPr>
              <a:defRPr sz="2550" b="1">
                <a:solidFill>
                  <a:srgbClr val="173C33"/>
                </a:solidFill>
              </a:defRPr>
            </a:lvl1pPr>
            <a:lvl2pPr>
              <a:defRPr sz="2550" b="1">
                <a:solidFill>
                  <a:srgbClr val="173C33"/>
                </a:solidFill>
              </a:defRPr>
            </a:lvl2pPr>
            <a:lvl3pPr>
              <a:defRPr sz="2550" b="1">
                <a:solidFill>
                  <a:srgbClr val="173C33"/>
                </a:solidFill>
              </a:defRPr>
            </a:lvl3pPr>
            <a:lvl4pPr>
              <a:defRPr sz="2550" b="1">
                <a:solidFill>
                  <a:srgbClr val="173C33"/>
                </a:solidFill>
              </a:defRPr>
            </a:lvl4pPr>
            <a:lvl5pPr>
              <a:defRPr sz="2550" b="1">
                <a:solidFill>
                  <a:srgbClr val="173C33"/>
                </a:solidFill>
              </a:defRPr>
            </a:lvl5pPr>
            <a:lvl6pPr>
              <a:defRPr sz="2550" b="1">
                <a:solidFill>
                  <a:srgbClr val="173C33"/>
                </a:solidFill>
              </a:defRPr>
            </a:lvl6pPr>
            <a:lvl7pPr>
              <a:defRPr sz="2550" b="1">
                <a:solidFill>
                  <a:srgbClr val="173C33"/>
                </a:solidFill>
              </a:defRPr>
            </a:lvl7pPr>
            <a:lvl8pPr>
              <a:defRPr sz="2550" b="1">
                <a:solidFill>
                  <a:srgbClr val="173C33"/>
                </a:solidFill>
              </a:defRPr>
            </a:lvl8pPr>
            <a:lvl9pPr>
              <a:defRPr sz="2550" b="1">
                <a:solidFill>
                  <a:srgbClr val="173C33"/>
                </a:solidFill>
              </a:defRPr>
            </a:lvl9pPr>
          </a:lstStyle>
          <a:p xmlns:a="http://schemas.openxmlformats.org/drawingml/2006/main">
            <a:pPr>
              <a:defRPr sz="2550" b="1">
                <a:solidFill>
                  <a:srgbClr val="173C33"/>
                </a:solidFill>
              </a:defRPr>
            </a:pPr>
            <a:r>
              <a:rPr sz="2550" b="1">
                <a:solidFill>
                  <a:srgbClr val="173C33"/>
                </a:solidFill>
              </a:rPr>
              <a:t>One result per asset</a:t>
            </a:r>
          </a:p>
        </p:txBody>
      </p:sp>
      <p:sp>
        <p:nvSpPr>
          <p:cNvPr id="5" name="">
            <a:extLst xmlns:a="http://schemas.openxmlformats.org/drawingml/2006/main">
              <a:ext uri="{FF2B5EF4-FFF2-40B4-BE49-F238E27FC236}">
                <a16:creationId xmlns:a16="http://schemas.microsoft.com/office/drawing/2014/main" id="{638B8B6D-16C5-4E7A-9904-F81D2576E9F0}"/>
              </a:ext>
            </a:extLst>
          </p:cNvPr>
          <p:cNvSpPr>
            <a:spLocks xmlns:a="http://schemas.openxmlformats.org/drawingml/2006/main" noGrp="1"/>
          </p:cNvSpPr>
          <p:nvPr/>
        </p:nvSpPr>
        <p:spPr>
          <a:xfrm xmlns:a="http://schemas.openxmlformats.org/drawingml/2006/main">
            <a:off x="6334125" y="519112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C33"/>
                </a:solidFill>
              </a:defRPr>
            </a:defPPr>
            <a:lvl1pPr>
              <a:defRPr sz="2550" b="1">
                <a:solidFill>
                  <a:srgbClr val="173C33"/>
                </a:solidFill>
              </a:defRPr>
            </a:lvl1pPr>
            <a:lvl2pPr>
              <a:defRPr sz="2550" b="1">
                <a:solidFill>
                  <a:srgbClr val="173C33"/>
                </a:solidFill>
              </a:defRPr>
            </a:lvl2pPr>
            <a:lvl3pPr>
              <a:defRPr sz="2550" b="1">
                <a:solidFill>
                  <a:srgbClr val="173C33"/>
                </a:solidFill>
              </a:defRPr>
            </a:lvl3pPr>
            <a:lvl4pPr>
              <a:defRPr sz="2550" b="1">
                <a:solidFill>
                  <a:srgbClr val="173C33"/>
                </a:solidFill>
              </a:defRPr>
            </a:lvl4pPr>
            <a:lvl5pPr>
              <a:defRPr sz="2550" b="1">
                <a:solidFill>
                  <a:srgbClr val="173C33"/>
                </a:solidFill>
              </a:defRPr>
            </a:lvl5pPr>
            <a:lvl6pPr>
              <a:defRPr sz="2550" b="1">
                <a:solidFill>
                  <a:srgbClr val="173C33"/>
                </a:solidFill>
              </a:defRPr>
            </a:lvl6pPr>
            <a:lvl7pPr>
              <a:defRPr sz="2550" b="1">
                <a:solidFill>
                  <a:srgbClr val="173C33"/>
                </a:solidFill>
              </a:defRPr>
            </a:lvl7pPr>
            <a:lvl8pPr>
              <a:defRPr sz="2550" b="1">
                <a:solidFill>
                  <a:srgbClr val="173C33"/>
                </a:solidFill>
              </a:defRPr>
            </a:lvl8pPr>
            <a:lvl9pPr>
              <a:defRPr sz="2550" b="1">
                <a:solidFill>
                  <a:srgbClr val="173C33"/>
                </a:solidFill>
              </a:defRPr>
            </a:lvl9pPr>
          </a:lstStyle>
          <a:p xmlns:a="http://schemas.openxmlformats.org/drawingml/2006/main">
            <a:pPr>
              <a:defRPr sz="2550" b="1">
                <a:solidFill>
                  <a:srgbClr val="173C33"/>
                </a:solidFill>
              </a:defRPr>
            </a:pPr>
            <a:r>
              <a:rPr sz="2550" b="1">
                <a:solidFill>
                  <a:srgbClr val="173C33"/>
                </a:solidFill>
              </a:rPr>
              <a:t>Entire reference asset excluded</a:t>
            </a:r>
          </a:p>
        </p:txBody>
      </p:sp>
      <p:sp>
        <p:nvSpPr>
          <p:cNvPr id="6" name="">
            <a:extLst xmlns:a="http://schemas.openxmlformats.org/drawingml/2006/main">
              <a:ext uri="{FF2B5EF4-FFF2-40B4-BE49-F238E27FC236}">
                <a16:creationId xmlns:a16="http://schemas.microsoft.com/office/drawing/2014/main" id="{504F33DF-85B2-43ED-9B6D-E69BE06B0072}"/>
              </a:ext>
            </a:extLst>
          </p:cNvPr>
          <p:cNvSpPr>
            <a:spLocks xmlns:a="http://schemas.openxmlformats.org/drawingml/2006/main" noGrp="1"/>
          </p:cNvSpPr>
          <p:nvPr/>
        </p:nvSpPr>
        <p:spPr>
          <a:xfrm xmlns:a="http://schemas.openxmlformats.org/drawingml/2006/main">
            <a:off x="685800" y="58483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3665C"/>
                </a:solidFill>
              </a:defRPr>
            </a:defPPr>
            <a:lvl1pPr>
              <a:defRPr sz="2100" b="0">
                <a:solidFill>
                  <a:srgbClr val="53665C"/>
                </a:solidFill>
              </a:defRPr>
            </a:lvl1pPr>
            <a:lvl2pPr>
              <a:defRPr sz="2100" b="0">
                <a:solidFill>
                  <a:srgbClr val="53665C"/>
                </a:solidFill>
              </a:defRPr>
            </a:lvl2pPr>
            <a:lvl3pPr>
              <a:defRPr sz="2100" b="0">
                <a:solidFill>
                  <a:srgbClr val="53665C"/>
                </a:solidFill>
              </a:defRPr>
            </a:lvl3pPr>
            <a:lvl4pPr>
              <a:defRPr sz="2100" b="0">
                <a:solidFill>
                  <a:srgbClr val="53665C"/>
                </a:solidFill>
              </a:defRPr>
            </a:lvl4pPr>
            <a:lvl5pPr>
              <a:defRPr sz="2100" b="0">
                <a:solidFill>
                  <a:srgbClr val="53665C"/>
                </a:solidFill>
              </a:defRPr>
            </a:lvl5pPr>
            <a:lvl6pPr>
              <a:defRPr sz="2100" b="0">
                <a:solidFill>
                  <a:srgbClr val="53665C"/>
                </a:solidFill>
              </a:defRPr>
            </a:lvl6pPr>
            <a:lvl7pPr>
              <a:defRPr sz="2100" b="0">
                <a:solidFill>
                  <a:srgbClr val="53665C"/>
                </a:solidFill>
              </a:defRPr>
            </a:lvl7pPr>
            <a:lvl8pPr>
              <a:defRPr sz="2100" b="0">
                <a:solidFill>
                  <a:srgbClr val="53665C"/>
                </a:solidFill>
              </a:defRPr>
            </a:lvl8pPr>
            <a:lvl9pPr>
              <a:defRPr sz="2100" b="0">
                <a:solidFill>
                  <a:srgbClr val="53665C"/>
                </a:solidFill>
              </a:defRPr>
            </a:lvl9pPr>
          </a:lstStyle>
          <a:p xmlns:a="http://schemas.openxmlformats.org/drawingml/2006/main">
            <a:pPr>
              <a:defRPr sz="2100" b="0">
                <a:solidFill>
                  <a:srgbClr val="53665C"/>
                </a:solidFill>
              </a:defRPr>
            </a:pPr>
            <a:r>
              <a:rPr sz="2100" b="0">
                <a:solidFill>
                  <a:srgbClr val="53665C"/>
                </a:solidFill>
              </a:rPr>
              <a:t>External files serve as queries and are not indexed</a:t>
            </a:r>
          </a:p>
        </p:txBody>
      </p:sp>
    </p:spTree>
    <p:extLst>
      <p:ext uri="{BB962C8B-B14F-4D97-AF65-F5344CB8AC3E}">
        <p14:creationId xmlns:p14="http://schemas.microsoft.com/office/powerpoint/2010/main" val="980473376"/>
      </p:ext>
    </p:extLst>
  </p:cSld>
</p:sld>
</file>

<file path=ppt/slides/slide1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40FF90-2589-462A-81FD-81E50AA1F335}"/>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Task 2: retrieval across modalities</a:t>
            </a:r>
          </a:p>
        </p:txBody>
      </p:sp>
      <p:sp>
        <p:nvSpPr>
          <p:cNvPr id="2" name="">
            <a:extLst xmlns:a="http://schemas.openxmlformats.org/drawingml/2006/main">
              <a:ext uri="{FF2B5EF4-FFF2-40B4-BE49-F238E27FC236}">
                <a16:creationId xmlns:a16="http://schemas.microsoft.com/office/drawing/2014/main" id="{2DEB65D4-265D-466D-970D-EF8BB68A51CC}"/>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10</a:t>
            </a:r>
          </a:p>
        </p:txBody>
      </p:sp>
      <p:sp>
        <p:nvSpPr>
          <p:cNvPr id="3" name="">
            <a:extLst xmlns:a="http://schemas.openxmlformats.org/drawingml/2006/main">
              <a:ext uri="{FF2B5EF4-FFF2-40B4-BE49-F238E27FC236}">
                <a16:creationId xmlns:a16="http://schemas.microsoft.com/office/drawing/2014/main" id="{4C959D8D-CB05-4C63-B8E5-A1A8E55D441B}"/>
              </a:ext>
            </a:extLst>
          </p:cNvPr>
          <p:cNvSpPr>
            <a:spLocks xmlns:a="http://schemas.openxmlformats.org/drawingml/2006/main" noGrp="1"/>
          </p:cNvSpPr>
          <p:nvPr/>
        </p:nvSpPr>
        <p:spPr>
          <a:xfrm xmlns:a="http://schemas.openxmlformats.org/drawingml/2006/main">
            <a:off x="685800" y="2000250"/>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3C33"/>
                </a:solidFill>
              </a:defRPr>
            </a:defPPr>
            <a:lvl1pPr>
              <a:defRPr sz="3600" b="1">
                <a:solidFill>
                  <a:srgbClr val="173C33"/>
                </a:solidFill>
              </a:defRPr>
            </a:lvl1pPr>
            <a:lvl2pPr>
              <a:defRPr sz="3600" b="1">
                <a:solidFill>
                  <a:srgbClr val="173C33"/>
                </a:solidFill>
              </a:defRPr>
            </a:lvl2pPr>
            <a:lvl3pPr>
              <a:defRPr sz="3600" b="1">
                <a:solidFill>
                  <a:srgbClr val="173C33"/>
                </a:solidFill>
              </a:defRPr>
            </a:lvl3pPr>
            <a:lvl4pPr>
              <a:defRPr sz="3600" b="1">
                <a:solidFill>
                  <a:srgbClr val="173C33"/>
                </a:solidFill>
              </a:defRPr>
            </a:lvl4pPr>
            <a:lvl5pPr>
              <a:defRPr sz="3600" b="1">
                <a:solidFill>
                  <a:srgbClr val="173C33"/>
                </a:solidFill>
              </a:defRPr>
            </a:lvl5pPr>
            <a:lvl6pPr>
              <a:defRPr sz="3600" b="1">
                <a:solidFill>
                  <a:srgbClr val="173C33"/>
                </a:solidFill>
              </a:defRPr>
            </a:lvl6pPr>
            <a:lvl7pPr>
              <a:defRPr sz="3600" b="1">
                <a:solidFill>
                  <a:srgbClr val="173C33"/>
                </a:solidFill>
              </a:defRPr>
            </a:lvl7pPr>
            <a:lvl8pPr>
              <a:defRPr sz="3600" b="1">
                <a:solidFill>
                  <a:srgbClr val="173C33"/>
                </a:solidFill>
              </a:defRPr>
            </a:lvl8pPr>
            <a:lvl9pPr>
              <a:defRPr sz="3600" b="1">
                <a:solidFill>
                  <a:srgbClr val="173C33"/>
                </a:solidFill>
              </a:defRPr>
            </a:lvl9pPr>
          </a:lstStyle>
          <a:p xmlns:a="http://schemas.openxmlformats.org/drawingml/2006/main">
            <a:pPr>
              <a:defRPr sz="3600" b="1">
                <a:solidFill>
                  <a:srgbClr val="173C33"/>
                </a:solidFill>
              </a:defRPr>
            </a:pPr>
            <a:r>
              <a:rPr sz="3600" b="1">
                <a:solidFill>
                  <a:srgbClr val="173C33"/>
                </a:solidFill>
              </a:rPr>
              <a:t>“Iberian lynx</a:t>
            </a:r>
          </a:p>
          <a:p xmlns:a="http://schemas.openxmlformats.org/drawingml/2006/main">
            <a:pPr>
              <a:defRPr sz="3600" b="1">
                <a:solidFill>
                  <a:srgbClr val="173C33"/>
                </a:solidFill>
              </a:defRPr>
            </a:pPr>
            <a:r>
              <a:rPr sz="3600" b="1">
                <a:solidFill>
                  <a:srgbClr val="173C33"/>
                </a:solidFill>
              </a:rPr>
              <a:t>in a forest”</a:t>
            </a:r>
          </a:p>
        </p:txBody>
      </p:sp>
      <p:sp>
        <p:nvSpPr>
          <p:cNvPr id="4" name="">
            <a:extLst xmlns:a="http://schemas.openxmlformats.org/drawingml/2006/main">
              <a:ext uri="{FF2B5EF4-FFF2-40B4-BE49-F238E27FC236}">
                <a16:creationId xmlns:a16="http://schemas.microsoft.com/office/drawing/2014/main" id="{99056C7C-A5FC-452E-9FD2-911D03743D06}"/>
              </a:ext>
            </a:extLst>
          </p:cNvPr>
          <p:cNvSpPr>
            <a:spLocks xmlns:a="http://schemas.openxmlformats.org/drawingml/2006/main" noGrp="1"/>
          </p:cNvSpPr>
          <p:nvPr/>
        </p:nvSpPr>
        <p:spPr>
          <a:xfrm xmlns:a="http://schemas.openxmlformats.org/drawingml/2006/main">
            <a:off x="685800" y="40005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3"/>
                </a:solidFill>
              </a:defRPr>
            </a:defPPr>
            <a:lvl1pPr>
              <a:defRPr sz="2400" b="0">
                <a:solidFill>
                  <a:srgbClr val="173C33"/>
                </a:solidFill>
              </a:defRPr>
            </a:lvl1pPr>
            <a:lvl2pPr>
              <a:defRPr sz="2400" b="0">
                <a:solidFill>
                  <a:srgbClr val="173C33"/>
                </a:solidFill>
              </a:defRPr>
            </a:lvl2pPr>
            <a:lvl3pPr>
              <a:defRPr sz="2400" b="0">
                <a:solidFill>
                  <a:srgbClr val="173C33"/>
                </a:solidFill>
              </a:defRPr>
            </a:lvl3pPr>
            <a:lvl4pPr>
              <a:defRPr sz="2400" b="0">
                <a:solidFill>
                  <a:srgbClr val="173C33"/>
                </a:solidFill>
              </a:defRPr>
            </a:lvl4pPr>
            <a:lvl5pPr>
              <a:defRPr sz="2400" b="0">
                <a:solidFill>
                  <a:srgbClr val="173C33"/>
                </a:solidFill>
              </a:defRPr>
            </a:lvl5pPr>
            <a:lvl6pPr>
              <a:defRPr sz="2400" b="0">
                <a:solidFill>
                  <a:srgbClr val="173C33"/>
                </a:solidFill>
              </a:defRPr>
            </a:lvl6pPr>
            <a:lvl7pPr>
              <a:defRPr sz="2400" b="0">
                <a:solidFill>
                  <a:srgbClr val="173C33"/>
                </a:solidFill>
              </a:defRPr>
            </a:lvl7pPr>
            <a:lvl8pPr>
              <a:defRPr sz="2400" b="0">
                <a:solidFill>
                  <a:srgbClr val="173C33"/>
                </a:solidFill>
              </a:defRPr>
            </a:lvl8pPr>
            <a:lvl9pPr>
              <a:defRPr sz="2400" b="0">
                <a:solidFill>
                  <a:srgbClr val="173C33"/>
                </a:solidFill>
              </a:defRPr>
            </a:lvl9pPr>
          </a:lstStyle>
          <a:p xmlns:a="http://schemas.openxmlformats.org/drawingml/2006/main">
            <a:pPr>
              <a:defRPr sz="2400" b="0">
                <a:solidFill>
                  <a:srgbClr val="173C33"/>
                </a:solidFill>
              </a:defRPr>
            </a:pPr>
            <a:r>
              <a:rPr sz="2400" b="0">
                <a:solidFill>
                  <a:srgbClr val="173C33"/>
                </a:solidFill>
              </a:rPr>
              <a:t>CLIP: image and text</a:t>
            </a:r>
          </a:p>
          <a:p xmlns:a="http://schemas.openxmlformats.org/drawingml/2006/main">
            <a:pPr>
              <a:defRPr sz="2400" b="0">
                <a:solidFill>
                  <a:srgbClr val="173C33"/>
                </a:solidFill>
              </a:defRPr>
            </a:pPr>
            <a:r>
              <a:rPr sz="2400" b="0">
                <a:solidFill>
                  <a:srgbClr val="173C33"/>
                </a:solidFill>
              </a:rPr>
              <a:t>CLAP: audio and text</a:t>
            </a:r>
          </a:p>
        </p:txBody>
      </p:sp>
      <p:sp>
        <p:nvSpPr>
          <p:cNvPr id="5" name="">
            <a:extLst xmlns:a="http://schemas.openxmlformats.org/drawingml/2006/main">
              <a:ext uri="{FF2B5EF4-FFF2-40B4-BE49-F238E27FC236}">
                <a16:creationId xmlns:a16="http://schemas.microsoft.com/office/drawing/2014/main" id="{6E07DDCC-2FD5-49EE-A24B-36B27934A918}"/>
              </a:ext>
            </a:extLst>
          </p:cNvPr>
          <p:cNvSpPr>
            <a:spLocks xmlns:a="http://schemas.openxmlformats.org/drawingml/2006/main" noGrp="1"/>
          </p:cNvSpPr>
          <p:nvPr/>
        </p:nvSpPr>
        <p:spPr>
          <a:xfrm xmlns:a="http://schemas.openxmlformats.org/drawingml/2006/main">
            <a:off x="685800" y="5381625"/>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75A32"/>
                </a:solidFill>
              </a:defRPr>
            </a:defPPr>
            <a:lvl1pPr>
              <a:defRPr sz="2175" b="0">
                <a:solidFill>
                  <a:srgbClr val="B75A32"/>
                </a:solidFill>
              </a:defRPr>
            </a:lvl1pPr>
            <a:lvl2pPr>
              <a:defRPr sz="2175" b="0">
                <a:solidFill>
                  <a:srgbClr val="B75A32"/>
                </a:solidFill>
              </a:defRPr>
            </a:lvl2pPr>
            <a:lvl3pPr>
              <a:defRPr sz="2175" b="0">
                <a:solidFill>
                  <a:srgbClr val="B75A32"/>
                </a:solidFill>
              </a:defRPr>
            </a:lvl3pPr>
            <a:lvl4pPr>
              <a:defRPr sz="2175" b="0">
                <a:solidFill>
                  <a:srgbClr val="B75A32"/>
                </a:solidFill>
              </a:defRPr>
            </a:lvl4pPr>
            <a:lvl5pPr>
              <a:defRPr sz="2175" b="0">
                <a:solidFill>
                  <a:srgbClr val="B75A32"/>
                </a:solidFill>
              </a:defRPr>
            </a:lvl5pPr>
            <a:lvl6pPr>
              <a:defRPr sz="2175" b="0">
                <a:solidFill>
                  <a:srgbClr val="B75A32"/>
                </a:solidFill>
              </a:defRPr>
            </a:lvl6pPr>
            <a:lvl7pPr>
              <a:defRPr sz="2175" b="0">
                <a:solidFill>
                  <a:srgbClr val="B75A32"/>
                </a:solidFill>
              </a:defRPr>
            </a:lvl7pPr>
            <a:lvl8pPr>
              <a:defRPr sz="2175" b="0">
                <a:solidFill>
                  <a:srgbClr val="B75A32"/>
                </a:solidFill>
              </a:defRPr>
            </a:lvl8pPr>
            <a:lvl9pPr>
              <a:defRPr sz="2175" b="0">
                <a:solidFill>
                  <a:srgbClr val="B75A32"/>
                </a:solidFill>
              </a:defRPr>
            </a:lvl9pPr>
          </a:lstStyle>
          <a:p xmlns:a="http://schemas.openxmlformats.org/drawingml/2006/main">
            <a:pPr>
              <a:defRPr sz="2175" b="0">
                <a:solidFill>
                  <a:srgbClr val="B75A32"/>
                </a:solidFill>
              </a:defRPr>
            </a:pPr>
            <a:r>
              <a:rPr sz="2175" b="0">
                <a:solidFill>
                  <a:srgbClr val="B75A32"/>
                </a:solidFill>
              </a:rPr>
              <a:t>All modalities:</a:t>
            </a:r>
          </a:p>
          <a:p xmlns:a="http://schemas.openxmlformats.org/drawingml/2006/main">
            <a:pPr>
              <a:defRPr sz="2175" b="0">
                <a:solidFill>
                  <a:srgbClr val="B75A32"/>
                </a:solidFill>
              </a:defRPr>
            </a:pPr>
            <a:r>
              <a:rPr sz="2175" b="0">
                <a:solidFill>
                  <a:srgbClr val="B75A32"/>
                </a:solidFill>
              </a:rPr>
              <a:t>rank fusion with RRF</a:t>
            </a:r>
          </a:p>
        </p:txBody>
      </p:sp>
      <p:pic>
        <p:nvPicPr>
          <p:cNvPr id="6" name="">
            <a:extLst xmlns:a="http://schemas.openxmlformats.org/drawingml/2006/main">
              <a:ext uri="{FF2B5EF4-FFF2-40B4-BE49-F238E27FC236}">
                <a16:creationId xmlns:a16="http://schemas.microsoft.com/office/drawing/2014/main" id="{AB6F8E8B-4DF9-4E30-850D-00607F930C23}"/>
              </a:ext>
            </a:extLst>
          </p:cNvPr>
          <p:cNvPicPr>
            <a:picLocks xmlns:a="http://schemas.openxmlformats.org/drawingml/2006/main" noChangeAspect="1"/>
          </p:cNvPicPr>
          <p:nvPr/>
        </p:nvPicPr>
        <p:blipFill>
          <a:blip xmlns:r="http://schemas.openxmlformats.org/officeDocument/2006/relationships" xmlns:a="http://schemas.openxmlformats.org/drawingml/2006/main" r:embed="R0c8300dc35ac491b"/>
          <a:stretch xmlns:a="http://schemas.openxmlformats.org/drawingml/2006/main"/>
        </p:blipFill>
        <p:spPr>
          <a:xfrm xmlns:a="http://schemas.openxmlformats.org/drawingml/2006/main">
            <a:off x="6953250" y="1748790"/>
            <a:ext cx="4572000" cy="389382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AF3C8A8-BB2F-489D-A702-78C0C9E14CEB}"/>
              </a:ext>
            </a:extLst>
          </p:cNvPr>
          <p:cNvSpPr>
            <a:spLocks xmlns:a="http://schemas.openxmlformats.org/drawingml/2006/main" noGrp="1"/>
          </p:cNvSpPr>
          <p:nvPr/>
        </p:nvSpPr>
        <p:spPr>
          <a:xfrm xmlns:a="http://schemas.openxmlformats.org/drawingml/2006/main">
            <a:off x="6896100" y="58293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65C"/>
                </a:solidFill>
              </a:defRPr>
            </a:defPPr>
            <a:lvl1pPr>
              <a:defRPr sz="1650" b="0">
                <a:solidFill>
                  <a:srgbClr val="53665C"/>
                </a:solidFill>
              </a:defRPr>
            </a:lvl1pPr>
            <a:lvl2pPr>
              <a:defRPr sz="1650" b="0">
                <a:solidFill>
                  <a:srgbClr val="53665C"/>
                </a:solidFill>
              </a:defRPr>
            </a:lvl2pPr>
            <a:lvl3pPr>
              <a:defRPr sz="1650" b="0">
                <a:solidFill>
                  <a:srgbClr val="53665C"/>
                </a:solidFill>
              </a:defRPr>
            </a:lvl3pPr>
            <a:lvl4pPr>
              <a:defRPr sz="1650" b="0">
                <a:solidFill>
                  <a:srgbClr val="53665C"/>
                </a:solidFill>
              </a:defRPr>
            </a:lvl4pPr>
            <a:lvl5pPr>
              <a:defRPr sz="1650" b="0">
                <a:solidFill>
                  <a:srgbClr val="53665C"/>
                </a:solidFill>
              </a:defRPr>
            </a:lvl5pPr>
            <a:lvl6pPr>
              <a:defRPr sz="1650" b="0">
                <a:solidFill>
                  <a:srgbClr val="53665C"/>
                </a:solidFill>
              </a:defRPr>
            </a:lvl6pPr>
            <a:lvl7pPr>
              <a:defRPr sz="1650" b="0">
                <a:solidFill>
                  <a:srgbClr val="53665C"/>
                </a:solidFill>
              </a:defRPr>
            </a:lvl7pPr>
            <a:lvl8pPr>
              <a:defRPr sz="1650" b="0">
                <a:solidFill>
                  <a:srgbClr val="53665C"/>
                </a:solidFill>
              </a:defRPr>
            </a:lvl8pPr>
            <a:lvl9pPr>
              <a:defRPr sz="1650" b="0">
                <a:solidFill>
                  <a:srgbClr val="53665C"/>
                </a:solidFill>
              </a:defRPr>
            </a:lvl9pPr>
          </a:lstStyle>
          <a:p xmlns:a="http://schemas.openxmlformats.org/drawingml/2006/main">
            <a:pPr>
              <a:defRPr sz="1650" b="0">
                <a:solidFill>
                  <a:srgbClr val="53665C"/>
                </a:solidFill>
              </a:defRPr>
            </a:pPr>
            <a:r>
              <a:rPr sz="1650" b="0">
                <a:solidFill>
                  <a:srgbClr val="53665C"/>
                </a:solidFill>
              </a:rPr>
              <a:t>Actual combined search interface (Spanish)</a:t>
            </a:r>
          </a:p>
        </p:txBody>
      </p:sp>
    </p:spTree>
    <p:extLst>
      <p:ext uri="{BB962C8B-B14F-4D97-AF65-F5344CB8AC3E}">
        <p14:creationId xmlns:p14="http://schemas.microsoft.com/office/powerpoint/2010/main" val="1422422246"/>
      </p:ext>
    </p:extLst>
  </p:cSld>
</p:sld>
</file>

<file path=ppt/slides/slide11.xml><?xml version="1.0" encoding="utf-8"?>
<p:sld xmlns:p="http://schemas.openxmlformats.org/presentationml/2006/main">
  <p:cSld>
    <p:bg>
      <p:bgPr>
        <a:solidFill xmlns:a="http://schemas.openxmlformats.org/drawingml/2006/main">
          <a:srgbClr val="173C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C8FF55-0955-4F26-9EDB-33279FB20A26}"/>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4F1E8"/>
                </a:solidFill>
              </a:defRPr>
            </a:defPPr>
            <a:lvl1pPr>
              <a:defRPr sz="3450" b="1">
                <a:solidFill>
                  <a:srgbClr val="F4F1E8"/>
                </a:solidFill>
              </a:defRPr>
            </a:lvl1pPr>
            <a:lvl2pPr>
              <a:defRPr sz="3450" b="1">
                <a:solidFill>
                  <a:srgbClr val="F4F1E8"/>
                </a:solidFill>
              </a:defRPr>
            </a:lvl2pPr>
            <a:lvl3pPr>
              <a:defRPr sz="3450" b="1">
                <a:solidFill>
                  <a:srgbClr val="F4F1E8"/>
                </a:solidFill>
              </a:defRPr>
            </a:lvl3pPr>
            <a:lvl4pPr>
              <a:defRPr sz="3450" b="1">
                <a:solidFill>
                  <a:srgbClr val="F4F1E8"/>
                </a:solidFill>
              </a:defRPr>
            </a:lvl4pPr>
            <a:lvl5pPr>
              <a:defRPr sz="3450" b="1">
                <a:solidFill>
                  <a:srgbClr val="F4F1E8"/>
                </a:solidFill>
              </a:defRPr>
            </a:lvl5pPr>
            <a:lvl6pPr>
              <a:defRPr sz="3450" b="1">
                <a:solidFill>
                  <a:srgbClr val="F4F1E8"/>
                </a:solidFill>
              </a:defRPr>
            </a:lvl6pPr>
            <a:lvl7pPr>
              <a:defRPr sz="3450" b="1">
                <a:solidFill>
                  <a:srgbClr val="F4F1E8"/>
                </a:solidFill>
              </a:defRPr>
            </a:lvl7pPr>
            <a:lvl8pPr>
              <a:defRPr sz="3450" b="1">
                <a:solidFill>
                  <a:srgbClr val="F4F1E8"/>
                </a:solidFill>
              </a:defRPr>
            </a:lvl8pPr>
            <a:lvl9pPr>
              <a:defRPr sz="3450" b="1">
                <a:solidFill>
                  <a:srgbClr val="F4F1E8"/>
                </a:solidFill>
              </a:defRPr>
            </a:lvl9pPr>
          </a:lstStyle>
          <a:p xmlns:a="http://schemas.openxmlformats.org/drawingml/2006/main">
            <a:pPr>
              <a:defRPr sz="3450" b="1">
                <a:solidFill>
                  <a:srgbClr val="F4F1E8"/>
                </a:solidFill>
              </a:defRPr>
            </a:pPr>
            <a:r>
              <a:rPr sz="3450" b="1">
                <a:solidFill>
                  <a:srgbClr val="F4F1E8"/>
                </a:solidFill>
              </a:rPr>
              <a:t>Task 3: evidence before generation</a:t>
            </a:r>
          </a:p>
        </p:txBody>
      </p:sp>
      <p:sp>
        <p:nvSpPr>
          <p:cNvPr id="2" name="">
            <a:extLst xmlns:a="http://schemas.openxmlformats.org/drawingml/2006/main">
              <a:ext uri="{FF2B5EF4-FFF2-40B4-BE49-F238E27FC236}">
                <a16:creationId xmlns:a16="http://schemas.microsoft.com/office/drawing/2014/main" id="{450433FA-D08A-4229-8876-21B53386FACD}"/>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5CDBC"/>
                </a:solidFill>
              </a:defRPr>
            </a:defPPr>
            <a:lvl1pPr>
              <a:defRPr sz="1500" b="0">
                <a:solidFill>
                  <a:srgbClr val="C5CDBC"/>
                </a:solidFill>
              </a:defRPr>
            </a:lvl1pPr>
            <a:lvl2pPr>
              <a:defRPr sz="1500" b="0">
                <a:solidFill>
                  <a:srgbClr val="C5CDBC"/>
                </a:solidFill>
              </a:defRPr>
            </a:lvl2pPr>
            <a:lvl3pPr>
              <a:defRPr sz="1500" b="0">
                <a:solidFill>
                  <a:srgbClr val="C5CDBC"/>
                </a:solidFill>
              </a:defRPr>
            </a:lvl3pPr>
            <a:lvl4pPr>
              <a:defRPr sz="1500" b="0">
                <a:solidFill>
                  <a:srgbClr val="C5CDBC"/>
                </a:solidFill>
              </a:defRPr>
            </a:lvl4pPr>
            <a:lvl5pPr>
              <a:defRPr sz="1500" b="0">
                <a:solidFill>
                  <a:srgbClr val="C5CDBC"/>
                </a:solidFill>
              </a:defRPr>
            </a:lvl5pPr>
            <a:lvl6pPr>
              <a:defRPr sz="1500" b="0">
                <a:solidFill>
                  <a:srgbClr val="C5CDBC"/>
                </a:solidFill>
              </a:defRPr>
            </a:lvl6pPr>
            <a:lvl7pPr>
              <a:defRPr sz="1500" b="0">
                <a:solidFill>
                  <a:srgbClr val="C5CDBC"/>
                </a:solidFill>
              </a:defRPr>
            </a:lvl7pPr>
            <a:lvl8pPr>
              <a:defRPr sz="1500" b="0">
                <a:solidFill>
                  <a:srgbClr val="C5CDBC"/>
                </a:solidFill>
              </a:defRPr>
            </a:lvl8pPr>
            <a:lvl9pPr>
              <a:defRPr sz="1500" b="0">
                <a:solidFill>
                  <a:srgbClr val="C5CDBC"/>
                </a:solidFill>
              </a:defRPr>
            </a:lvl9pPr>
          </a:lstStyle>
          <a:p xmlns:a="http://schemas.openxmlformats.org/drawingml/2006/main">
            <a:pPr>
              <a:defRPr sz="1500" b="0">
                <a:solidFill>
                  <a:srgbClr val="C5CDBC"/>
                </a:solidFill>
              </a:defRPr>
            </a:pPr>
            <a:r>
              <a:rPr sz="1500" b="0">
                <a:solidFill>
                  <a:srgbClr val="C5CDBC"/>
                </a:solidFill>
              </a:rPr>
              <a:t>11</a:t>
            </a:r>
          </a:p>
        </p:txBody>
      </p:sp>
      <p:sp>
        <p:nvSpPr>
          <p:cNvPr id="3" name="">
            <a:extLst xmlns:a="http://schemas.openxmlformats.org/drawingml/2006/main">
              <a:ext uri="{FF2B5EF4-FFF2-40B4-BE49-F238E27FC236}">
                <a16:creationId xmlns:a16="http://schemas.microsoft.com/office/drawing/2014/main" id="{72B4D743-129B-4339-8691-AE3D24C2574B}"/>
              </a:ext>
            </a:extLst>
          </p:cNvPr>
          <p:cNvSpPr>
            <a:spLocks xmlns:a="http://schemas.openxmlformats.org/drawingml/2006/main" noGrp="1"/>
          </p:cNvSpPr>
          <p:nvPr/>
        </p:nvSpPr>
        <p:spPr>
          <a:xfrm xmlns:a="http://schemas.openxmlformats.org/drawingml/2006/main">
            <a:off x="685800" y="18383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4F1E8"/>
                </a:solidFill>
              </a:defRPr>
            </a:defPPr>
            <a:lvl1pPr>
              <a:defRPr sz="2850" b="1">
                <a:solidFill>
                  <a:srgbClr val="F4F1E8"/>
                </a:solidFill>
              </a:defRPr>
            </a:lvl1pPr>
            <a:lvl2pPr>
              <a:defRPr sz="2850" b="1">
                <a:solidFill>
                  <a:srgbClr val="F4F1E8"/>
                </a:solidFill>
              </a:defRPr>
            </a:lvl2pPr>
            <a:lvl3pPr>
              <a:defRPr sz="2850" b="1">
                <a:solidFill>
                  <a:srgbClr val="F4F1E8"/>
                </a:solidFill>
              </a:defRPr>
            </a:lvl3pPr>
            <a:lvl4pPr>
              <a:defRPr sz="2850" b="1">
                <a:solidFill>
                  <a:srgbClr val="F4F1E8"/>
                </a:solidFill>
              </a:defRPr>
            </a:lvl4pPr>
            <a:lvl5pPr>
              <a:defRPr sz="2850" b="1">
                <a:solidFill>
                  <a:srgbClr val="F4F1E8"/>
                </a:solidFill>
              </a:defRPr>
            </a:lvl5pPr>
            <a:lvl6pPr>
              <a:defRPr sz="2850" b="1">
                <a:solidFill>
                  <a:srgbClr val="F4F1E8"/>
                </a:solidFill>
              </a:defRPr>
            </a:lvl6pPr>
            <a:lvl7pPr>
              <a:defRPr sz="2850" b="1">
                <a:solidFill>
                  <a:srgbClr val="F4F1E8"/>
                </a:solidFill>
              </a:defRPr>
            </a:lvl7pPr>
            <a:lvl8pPr>
              <a:defRPr sz="2850" b="1">
                <a:solidFill>
                  <a:srgbClr val="F4F1E8"/>
                </a:solidFill>
              </a:defRPr>
            </a:lvl8pPr>
            <a:lvl9pPr>
              <a:defRPr sz="2850" b="1">
                <a:solidFill>
                  <a:srgbClr val="F4F1E8"/>
                </a:solidFill>
              </a:defRPr>
            </a:lvl9pPr>
          </a:lstStyle>
          <a:p xmlns:a="http://schemas.openxmlformats.org/drawingml/2006/main">
            <a:pPr>
              <a:defRPr sz="2850" b="1">
                <a:solidFill>
                  <a:srgbClr val="F4F1E8"/>
                </a:solidFill>
              </a:defRPr>
            </a:pPr>
            <a:r>
              <a:rPr sz="2850" b="1">
                <a:solidFill>
                  <a:srgbClr val="F4F1E8"/>
                </a:solidFill>
              </a:rPr>
              <a:t>Question + optional image</a:t>
            </a:r>
          </a:p>
        </p:txBody>
      </p:sp>
      <p:sp>
        <p:nvSpPr>
          <p:cNvPr id="4" name="">
            <a:extLst xmlns:a="http://schemas.openxmlformats.org/drawingml/2006/main">
              <a:ext uri="{FF2B5EF4-FFF2-40B4-BE49-F238E27FC236}">
                <a16:creationId xmlns:a16="http://schemas.microsoft.com/office/drawing/2014/main" id="{BAEFC078-E239-4B8C-995C-4F7CA4312DD4}"/>
              </a:ext>
            </a:extLst>
          </p:cNvPr>
          <p:cNvSpPr>
            <a:spLocks xmlns:a="http://schemas.openxmlformats.org/drawingml/2006/main" noGrp="1"/>
          </p:cNvSpPr>
          <p:nvPr/>
        </p:nvSpPr>
        <p:spPr>
          <a:xfrm xmlns:a="http://schemas.openxmlformats.org/drawingml/2006/main">
            <a:off x="723900" y="27813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4F1E8"/>
                </a:solidFill>
              </a:defRPr>
            </a:defPPr>
            <a:lvl1pPr>
              <a:defRPr sz="2700" b="0">
                <a:solidFill>
                  <a:srgbClr val="F4F1E8"/>
                </a:solidFill>
              </a:defRPr>
            </a:lvl1pPr>
            <a:lvl2pPr>
              <a:defRPr sz="2700" b="0">
                <a:solidFill>
                  <a:srgbClr val="F4F1E8"/>
                </a:solidFill>
              </a:defRPr>
            </a:lvl2pPr>
            <a:lvl3pPr>
              <a:defRPr sz="2700" b="0">
                <a:solidFill>
                  <a:srgbClr val="F4F1E8"/>
                </a:solidFill>
              </a:defRPr>
            </a:lvl3pPr>
            <a:lvl4pPr>
              <a:defRPr sz="2700" b="0">
                <a:solidFill>
                  <a:srgbClr val="F4F1E8"/>
                </a:solidFill>
              </a:defRPr>
            </a:lvl4pPr>
            <a:lvl5pPr>
              <a:defRPr sz="2700" b="0">
                <a:solidFill>
                  <a:srgbClr val="F4F1E8"/>
                </a:solidFill>
              </a:defRPr>
            </a:lvl5pPr>
            <a:lvl6pPr>
              <a:defRPr sz="2700" b="0">
                <a:solidFill>
                  <a:srgbClr val="F4F1E8"/>
                </a:solidFill>
              </a:defRPr>
            </a:lvl6pPr>
            <a:lvl7pPr>
              <a:defRPr sz="2700" b="0">
                <a:solidFill>
                  <a:srgbClr val="F4F1E8"/>
                </a:solidFill>
              </a:defRPr>
            </a:lvl7pPr>
            <a:lvl8pPr>
              <a:defRPr sz="2700" b="0">
                <a:solidFill>
                  <a:srgbClr val="F4F1E8"/>
                </a:solidFill>
              </a:defRPr>
            </a:lvl8pPr>
            <a:lvl9pPr>
              <a:defRPr sz="2700" b="0">
                <a:solidFill>
                  <a:srgbClr val="F4F1E8"/>
                </a:solidFill>
              </a:defRPr>
            </a:lvl9pPr>
          </a:lstStyle>
          <a:p xmlns:a="http://schemas.openxmlformats.org/drawingml/2006/main">
            <a:pPr>
              <a:defRPr sz="2700" b="0">
                <a:solidFill>
                  <a:srgbClr val="F4F1E8"/>
                </a:solidFill>
              </a:defRPr>
            </a:pPr>
            <a:r>
              <a:rPr sz="2700" b="0">
                <a:solidFill>
                  <a:srgbClr val="F4F1E8"/>
                </a:solidFill>
              </a:rPr>
              <a:t>01  Retrieval with E5 / CLIP</a:t>
            </a:r>
          </a:p>
        </p:txBody>
      </p:sp>
      <p:sp>
        <p:nvSpPr>
          <p:cNvPr id="5" name="">
            <a:extLst xmlns:a="http://schemas.openxmlformats.org/drawingml/2006/main">
              <a:ext uri="{FF2B5EF4-FFF2-40B4-BE49-F238E27FC236}">
                <a16:creationId xmlns:a16="http://schemas.microsoft.com/office/drawing/2014/main" id="{81571A09-672B-4927-B5FE-D5307E8C6637}"/>
              </a:ext>
            </a:extLst>
          </p:cNvPr>
          <p:cNvSpPr>
            <a:spLocks xmlns:a="http://schemas.openxmlformats.org/drawingml/2006/main" noGrp="1"/>
          </p:cNvSpPr>
          <p:nvPr/>
        </p:nvSpPr>
        <p:spPr>
          <a:xfrm xmlns:a="http://schemas.openxmlformats.org/drawingml/2006/main">
            <a:off x="723900" y="35623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4F1E8"/>
                </a:solidFill>
              </a:defRPr>
            </a:defPPr>
            <a:lvl1pPr>
              <a:defRPr sz="2700" b="0">
                <a:solidFill>
                  <a:srgbClr val="F4F1E8"/>
                </a:solidFill>
              </a:defRPr>
            </a:lvl1pPr>
            <a:lvl2pPr>
              <a:defRPr sz="2700" b="0">
                <a:solidFill>
                  <a:srgbClr val="F4F1E8"/>
                </a:solidFill>
              </a:defRPr>
            </a:lvl2pPr>
            <a:lvl3pPr>
              <a:defRPr sz="2700" b="0">
                <a:solidFill>
                  <a:srgbClr val="F4F1E8"/>
                </a:solidFill>
              </a:defRPr>
            </a:lvl3pPr>
            <a:lvl4pPr>
              <a:defRPr sz="2700" b="0">
                <a:solidFill>
                  <a:srgbClr val="F4F1E8"/>
                </a:solidFill>
              </a:defRPr>
            </a:lvl4pPr>
            <a:lvl5pPr>
              <a:defRPr sz="2700" b="0">
                <a:solidFill>
                  <a:srgbClr val="F4F1E8"/>
                </a:solidFill>
              </a:defRPr>
            </a:lvl5pPr>
            <a:lvl6pPr>
              <a:defRPr sz="2700" b="0">
                <a:solidFill>
                  <a:srgbClr val="F4F1E8"/>
                </a:solidFill>
              </a:defRPr>
            </a:lvl6pPr>
            <a:lvl7pPr>
              <a:defRPr sz="2700" b="0">
                <a:solidFill>
                  <a:srgbClr val="F4F1E8"/>
                </a:solidFill>
              </a:defRPr>
            </a:lvl7pPr>
            <a:lvl8pPr>
              <a:defRPr sz="2700" b="0">
                <a:solidFill>
                  <a:srgbClr val="F4F1E8"/>
                </a:solidFill>
              </a:defRPr>
            </a:lvl8pPr>
            <a:lvl9pPr>
              <a:defRPr sz="2700" b="0">
                <a:solidFill>
                  <a:srgbClr val="F4F1E8"/>
                </a:solidFill>
              </a:defRPr>
            </a:lvl9pPr>
          </a:lstStyle>
          <a:p xmlns:a="http://schemas.openxmlformats.org/drawingml/2006/main">
            <a:pPr>
              <a:defRPr sz="2700" b="0">
                <a:solidFill>
                  <a:srgbClr val="F4F1E8"/>
                </a:solidFill>
              </a:defRPr>
            </a:pPr>
            <a:r>
              <a:rPr sz="2700" b="0">
                <a:solidFill>
                  <a:srgbClr val="F4F1E8"/>
                </a:solidFill>
              </a:rPr>
              <a:t>02  Text context and BLIP observation</a:t>
            </a:r>
          </a:p>
        </p:txBody>
      </p:sp>
      <p:sp>
        <p:nvSpPr>
          <p:cNvPr id="6" name="">
            <a:extLst xmlns:a="http://schemas.openxmlformats.org/drawingml/2006/main">
              <a:ext uri="{FF2B5EF4-FFF2-40B4-BE49-F238E27FC236}">
                <a16:creationId xmlns:a16="http://schemas.microsoft.com/office/drawing/2014/main" id="{8696AB63-232E-4FB7-AC03-446666748C7C}"/>
              </a:ext>
            </a:extLst>
          </p:cNvPr>
          <p:cNvSpPr>
            <a:spLocks xmlns:a="http://schemas.openxmlformats.org/drawingml/2006/main" noGrp="1"/>
          </p:cNvSpPr>
          <p:nvPr/>
        </p:nvSpPr>
        <p:spPr>
          <a:xfrm xmlns:a="http://schemas.openxmlformats.org/drawingml/2006/main">
            <a:off x="723900" y="43434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4F1E8"/>
                </a:solidFill>
              </a:defRPr>
            </a:defPPr>
            <a:lvl1pPr>
              <a:defRPr sz="2700" b="0">
                <a:solidFill>
                  <a:srgbClr val="F4F1E8"/>
                </a:solidFill>
              </a:defRPr>
            </a:lvl1pPr>
            <a:lvl2pPr>
              <a:defRPr sz="2700" b="0">
                <a:solidFill>
                  <a:srgbClr val="F4F1E8"/>
                </a:solidFill>
              </a:defRPr>
            </a:lvl2pPr>
            <a:lvl3pPr>
              <a:defRPr sz="2700" b="0">
                <a:solidFill>
                  <a:srgbClr val="F4F1E8"/>
                </a:solidFill>
              </a:defRPr>
            </a:lvl3pPr>
            <a:lvl4pPr>
              <a:defRPr sz="2700" b="0">
                <a:solidFill>
                  <a:srgbClr val="F4F1E8"/>
                </a:solidFill>
              </a:defRPr>
            </a:lvl4pPr>
            <a:lvl5pPr>
              <a:defRPr sz="2700" b="0">
                <a:solidFill>
                  <a:srgbClr val="F4F1E8"/>
                </a:solidFill>
              </a:defRPr>
            </a:lvl5pPr>
            <a:lvl6pPr>
              <a:defRPr sz="2700" b="0">
                <a:solidFill>
                  <a:srgbClr val="F4F1E8"/>
                </a:solidFill>
              </a:defRPr>
            </a:lvl6pPr>
            <a:lvl7pPr>
              <a:defRPr sz="2700" b="0">
                <a:solidFill>
                  <a:srgbClr val="F4F1E8"/>
                </a:solidFill>
              </a:defRPr>
            </a:lvl7pPr>
            <a:lvl8pPr>
              <a:defRPr sz="2700" b="0">
                <a:solidFill>
                  <a:srgbClr val="F4F1E8"/>
                </a:solidFill>
              </a:defRPr>
            </a:lvl8pPr>
            <a:lvl9pPr>
              <a:defRPr sz="2700" b="0">
                <a:solidFill>
                  <a:srgbClr val="F4F1E8"/>
                </a:solidFill>
              </a:defRPr>
            </a:lvl9pPr>
          </a:lstStyle>
          <a:p xmlns:a="http://schemas.openxmlformats.org/drawingml/2006/main">
            <a:pPr>
              <a:defRPr sz="2700" b="0">
                <a:solidFill>
                  <a:srgbClr val="F4F1E8"/>
                </a:solidFill>
              </a:defRPr>
            </a:pPr>
            <a:r>
              <a:rPr sz="2700" b="0">
                <a:solidFill>
                  <a:srgbClr val="F4F1E8"/>
                </a:solidFill>
              </a:rPr>
              <a:t>03  Qwen 2.5 · 3B · GGUF · CPU</a:t>
            </a:r>
          </a:p>
        </p:txBody>
      </p:sp>
      <p:sp>
        <p:nvSpPr>
          <p:cNvPr id="7" name="">
            <a:extLst xmlns:a="http://schemas.openxmlformats.org/drawingml/2006/main">
              <a:ext uri="{FF2B5EF4-FFF2-40B4-BE49-F238E27FC236}">
                <a16:creationId xmlns:a16="http://schemas.microsoft.com/office/drawing/2014/main" id="{BA0BA569-D281-45BA-8A71-E18BDC836A09}"/>
              </a:ext>
            </a:extLst>
          </p:cNvPr>
          <p:cNvSpPr>
            <a:spLocks xmlns:a="http://schemas.openxmlformats.org/drawingml/2006/main" noGrp="1"/>
          </p:cNvSpPr>
          <p:nvPr/>
        </p:nvSpPr>
        <p:spPr>
          <a:xfrm xmlns:a="http://schemas.openxmlformats.org/drawingml/2006/main">
            <a:off x="723900" y="51244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4F1E8"/>
                </a:solidFill>
              </a:defRPr>
            </a:defPPr>
            <a:lvl1pPr>
              <a:defRPr sz="2700" b="0">
                <a:solidFill>
                  <a:srgbClr val="F4F1E8"/>
                </a:solidFill>
              </a:defRPr>
            </a:lvl1pPr>
            <a:lvl2pPr>
              <a:defRPr sz="2700" b="0">
                <a:solidFill>
                  <a:srgbClr val="F4F1E8"/>
                </a:solidFill>
              </a:defRPr>
            </a:lvl2pPr>
            <a:lvl3pPr>
              <a:defRPr sz="2700" b="0">
                <a:solidFill>
                  <a:srgbClr val="F4F1E8"/>
                </a:solidFill>
              </a:defRPr>
            </a:lvl3pPr>
            <a:lvl4pPr>
              <a:defRPr sz="2700" b="0">
                <a:solidFill>
                  <a:srgbClr val="F4F1E8"/>
                </a:solidFill>
              </a:defRPr>
            </a:lvl4pPr>
            <a:lvl5pPr>
              <a:defRPr sz="2700" b="0">
                <a:solidFill>
                  <a:srgbClr val="F4F1E8"/>
                </a:solidFill>
              </a:defRPr>
            </a:lvl5pPr>
            <a:lvl6pPr>
              <a:defRPr sz="2700" b="0">
                <a:solidFill>
                  <a:srgbClr val="F4F1E8"/>
                </a:solidFill>
              </a:defRPr>
            </a:lvl6pPr>
            <a:lvl7pPr>
              <a:defRPr sz="2700" b="0">
                <a:solidFill>
                  <a:srgbClr val="F4F1E8"/>
                </a:solidFill>
              </a:defRPr>
            </a:lvl7pPr>
            <a:lvl8pPr>
              <a:defRPr sz="2700" b="0">
                <a:solidFill>
                  <a:srgbClr val="F4F1E8"/>
                </a:solidFill>
              </a:defRPr>
            </a:lvl8pPr>
            <a:lvl9pPr>
              <a:defRPr sz="2700" b="0">
                <a:solidFill>
                  <a:srgbClr val="F4F1E8"/>
                </a:solidFill>
              </a:defRPr>
            </a:lvl9pPr>
          </a:lstStyle>
          <a:p xmlns:a="http://schemas.openxmlformats.org/drawingml/2006/main">
            <a:pPr>
              <a:defRPr sz="2700" b="0">
                <a:solidFill>
                  <a:srgbClr val="F4F1E8"/>
                </a:solidFill>
              </a:defRPr>
            </a:pPr>
            <a:r>
              <a:rPr sz="2700" b="0">
                <a:solidFill>
                  <a:srgbClr val="F4F1E8"/>
                </a:solidFill>
              </a:rPr>
              <a:t>04  Checked quotations and explicit status</a:t>
            </a:r>
          </a:p>
        </p:txBody>
      </p:sp>
      <p:sp>
        <p:nvSpPr>
          <p:cNvPr id="8" name="">
            <a:extLst xmlns:a="http://schemas.openxmlformats.org/drawingml/2006/main">
              <a:ext uri="{FF2B5EF4-FFF2-40B4-BE49-F238E27FC236}">
                <a16:creationId xmlns:a16="http://schemas.microsoft.com/office/drawing/2014/main" id="{D60CD428-FC8E-403C-9F03-BE4EF033A8B9}"/>
              </a:ext>
            </a:extLst>
          </p:cNvPr>
          <p:cNvSpPr>
            <a:spLocks xmlns:a="http://schemas.openxmlformats.org/drawingml/2006/main" noGrp="1"/>
          </p:cNvSpPr>
          <p:nvPr/>
        </p:nvSpPr>
        <p:spPr>
          <a:xfrm xmlns:a="http://schemas.openxmlformats.org/drawingml/2006/main">
            <a:off x="723900" y="60483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5CDBC"/>
                </a:solidFill>
              </a:defRPr>
            </a:defPPr>
            <a:lvl1pPr>
              <a:defRPr sz="1875" b="0">
                <a:solidFill>
                  <a:srgbClr val="C5CDBC"/>
                </a:solidFill>
              </a:defRPr>
            </a:lvl1pPr>
            <a:lvl2pPr>
              <a:defRPr sz="1875" b="0">
                <a:solidFill>
                  <a:srgbClr val="C5CDBC"/>
                </a:solidFill>
              </a:defRPr>
            </a:lvl2pPr>
            <a:lvl3pPr>
              <a:defRPr sz="1875" b="0">
                <a:solidFill>
                  <a:srgbClr val="C5CDBC"/>
                </a:solidFill>
              </a:defRPr>
            </a:lvl3pPr>
            <a:lvl4pPr>
              <a:defRPr sz="1875" b="0">
                <a:solidFill>
                  <a:srgbClr val="C5CDBC"/>
                </a:solidFill>
              </a:defRPr>
            </a:lvl4pPr>
            <a:lvl5pPr>
              <a:defRPr sz="1875" b="0">
                <a:solidFill>
                  <a:srgbClr val="C5CDBC"/>
                </a:solidFill>
              </a:defRPr>
            </a:lvl5pPr>
            <a:lvl6pPr>
              <a:defRPr sz="1875" b="0">
                <a:solidFill>
                  <a:srgbClr val="C5CDBC"/>
                </a:solidFill>
              </a:defRPr>
            </a:lvl6pPr>
            <a:lvl7pPr>
              <a:defRPr sz="1875" b="0">
                <a:solidFill>
                  <a:srgbClr val="C5CDBC"/>
                </a:solidFill>
              </a:defRPr>
            </a:lvl7pPr>
            <a:lvl8pPr>
              <a:defRPr sz="1875" b="0">
                <a:solidFill>
                  <a:srgbClr val="C5CDBC"/>
                </a:solidFill>
              </a:defRPr>
            </a:lvl8pPr>
            <a:lvl9pPr>
              <a:defRPr sz="1875" b="0">
                <a:solidFill>
                  <a:srgbClr val="C5CDBC"/>
                </a:solidFill>
              </a:defRPr>
            </a:lvl9pPr>
          </a:lstStyle>
          <a:p xmlns:a="http://schemas.openxmlformats.org/drawingml/2006/main">
            <a:pPr>
              <a:defRPr sz="1875" b="0">
                <a:solidFill>
                  <a:srgbClr val="C5CDBC"/>
                </a:solidFill>
              </a:defRPr>
            </a:pPr>
            <a:r>
              <a:rPr sz="1875" b="0">
                <a:solidFill>
                  <a:srgbClr val="C5CDBC"/>
                </a:solidFill>
              </a:rPr>
              <a:t>Qwen receives text. BLIP interprets the image.</a:t>
            </a:r>
          </a:p>
        </p:txBody>
      </p:sp>
    </p:spTree>
    <p:extLst>
      <p:ext uri="{BB962C8B-B14F-4D97-AF65-F5344CB8AC3E}">
        <p14:creationId xmlns:p14="http://schemas.microsoft.com/office/powerpoint/2010/main" val="1739941905"/>
      </p:ext>
    </p:extLst>
  </p:cSld>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405D10-59EC-4E51-AFB2-83AB8769F0D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An answer with sources you can inspect</a:t>
            </a:r>
          </a:p>
        </p:txBody>
      </p:sp>
      <p:sp>
        <p:nvSpPr>
          <p:cNvPr id="2" name="">
            <a:extLst xmlns:a="http://schemas.openxmlformats.org/drawingml/2006/main">
              <a:ext uri="{FF2B5EF4-FFF2-40B4-BE49-F238E27FC236}">
                <a16:creationId xmlns:a16="http://schemas.microsoft.com/office/drawing/2014/main" id="{497F6F13-89A3-402A-AF3D-A801E036B246}"/>
              </a:ext>
            </a:extLst>
          </p:cNvPr>
          <p:cNvSpPr>
            <a:spLocks xmlns:a="http://schemas.openxmlformats.org/drawingml/2006/main" noGrp="1"/>
          </p:cNvSpPr>
          <p:nvPr/>
        </p:nvSpPr>
        <p:spPr>
          <a:xfrm xmlns:a="http://schemas.openxmlformats.org/drawingml/2006/main">
            <a:off x="685800" y="18859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C33"/>
                </a:solidFill>
              </a:defRPr>
            </a:defPPr>
            <a:lvl1pPr>
              <a:defRPr sz="2550" b="1">
                <a:solidFill>
                  <a:srgbClr val="173C33"/>
                </a:solidFill>
              </a:defRPr>
            </a:lvl1pPr>
            <a:lvl2pPr>
              <a:defRPr sz="2550" b="1">
                <a:solidFill>
                  <a:srgbClr val="173C33"/>
                </a:solidFill>
              </a:defRPr>
            </a:lvl2pPr>
            <a:lvl3pPr>
              <a:defRPr sz="2550" b="1">
                <a:solidFill>
                  <a:srgbClr val="173C33"/>
                </a:solidFill>
              </a:defRPr>
            </a:lvl3pPr>
            <a:lvl4pPr>
              <a:defRPr sz="2550" b="1">
                <a:solidFill>
                  <a:srgbClr val="173C33"/>
                </a:solidFill>
              </a:defRPr>
            </a:lvl4pPr>
            <a:lvl5pPr>
              <a:defRPr sz="2550" b="1">
                <a:solidFill>
                  <a:srgbClr val="173C33"/>
                </a:solidFill>
              </a:defRPr>
            </a:lvl5pPr>
            <a:lvl6pPr>
              <a:defRPr sz="2550" b="1">
                <a:solidFill>
                  <a:srgbClr val="173C33"/>
                </a:solidFill>
              </a:defRPr>
            </a:lvl6pPr>
            <a:lvl7pPr>
              <a:defRPr sz="2550" b="1">
                <a:solidFill>
                  <a:srgbClr val="173C33"/>
                </a:solidFill>
              </a:defRPr>
            </a:lvl7pPr>
            <a:lvl8pPr>
              <a:defRPr sz="2550" b="1">
                <a:solidFill>
                  <a:srgbClr val="173C33"/>
                </a:solidFill>
              </a:defRPr>
            </a:lvl8pPr>
            <a:lvl9pPr>
              <a:defRPr sz="2550" b="1">
                <a:solidFill>
                  <a:srgbClr val="173C33"/>
                </a:solidFill>
              </a:defRPr>
            </a:lvl9pPr>
          </a:lstStyle>
          <a:p xmlns:a="http://schemas.openxmlformats.org/drawingml/2006/main">
            <a:pPr>
              <a:defRPr sz="2550" b="1">
                <a:solidFill>
                  <a:srgbClr val="173C33"/>
                </a:solidFill>
              </a:defRPr>
            </a:pPr>
            <a:r>
              <a:rPr sz="2550" b="1">
                <a:solidFill>
                  <a:srgbClr val="173C33"/>
                </a:solidFill>
              </a:rPr>
              <a:t>Corpus candidate: Pelophylax perezi</a:t>
            </a:r>
          </a:p>
        </p:txBody>
      </p:sp>
      <p:sp>
        <p:nvSpPr>
          <p:cNvPr id="3" name="">
            <a:extLst xmlns:a="http://schemas.openxmlformats.org/drawingml/2006/main">
              <a:ext uri="{FF2B5EF4-FFF2-40B4-BE49-F238E27FC236}">
                <a16:creationId xmlns:a16="http://schemas.microsoft.com/office/drawing/2014/main" id="{C7B9606C-7950-4CBE-9997-16240126D86A}"/>
              </a:ext>
            </a:extLst>
          </p:cNvPr>
          <p:cNvSpPr>
            <a:spLocks xmlns:a="http://schemas.openxmlformats.org/drawingml/2006/main" noGrp="1"/>
          </p:cNvSpPr>
          <p:nvPr/>
        </p:nvSpPr>
        <p:spPr>
          <a:xfrm xmlns:a="http://schemas.openxmlformats.org/drawingml/2006/main">
            <a:off x="685800" y="29908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75A32"/>
                </a:solidFill>
              </a:defRPr>
            </a:defPPr>
            <a:lvl1pPr>
              <a:defRPr sz="2250" b="1">
                <a:solidFill>
                  <a:srgbClr val="B75A32"/>
                </a:solidFill>
              </a:defRPr>
            </a:lvl1pPr>
            <a:lvl2pPr>
              <a:defRPr sz="2250" b="1">
                <a:solidFill>
                  <a:srgbClr val="B75A32"/>
                </a:solidFill>
              </a:defRPr>
            </a:lvl2pPr>
            <a:lvl3pPr>
              <a:defRPr sz="2250" b="1">
                <a:solidFill>
                  <a:srgbClr val="B75A32"/>
                </a:solidFill>
              </a:defRPr>
            </a:lvl3pPr>
            <a:lvl4pPr>
              <a:defRPr sz="2250" b="1">
                <a:solidFill>
                  <a:srgbClr val="B75A32"/>
                </a:solidFill>
              </a:defRPr>
            </a:lvl4pPr>
            <a:lvl5pPr>
              <a:defRPr sz="2250" b="1">
                <a:solidFill>
                  <a:srgbClr val="B75A32"/>
                </a:solidFill>
              </a:defRPr>
            </a:lvl5pPr>
            <a:lvl6pPr>
              <a:defRPr sz="2250" b="1">
                <a:solidFill>
                  <a:srgbClr val="B75A32"/>
                </a:solidFill>
              </a:defRPr>
            </a:lvl6pPr>
            <a:lvl7pPr>
              <a:defRPr sz="2250" b="1">
                <a:solidFill>
                  <a:srgbClr val="B75A32"/>
                </a:solidFill>
              </a:defRPr>
            </a:lvl7pPr>
            <a:lvl8pPr>
              <a:defRPr sz="2250" b="1">
                <a:solidFill>
                  <a:srgbClr val="B75A32"/>
                </a:solidFill>
              </a:defRPr>
            </a:lvl8pPr>
            <a:lvl9pPr>
              <a:defRPr sz="2250" b="1">
                <a:solidFill>
                  <a:srgbClr val="B75A32"/>
                </a:solidFill>
              </a:defRPr>
            </a:lvl9pPr>
          </a:lstStyle>
          <a:p xmlns:a="http://schemas.openxmlformats.org/drawingml/2006/main">
            <a:pPr>
              <a:defRPr sz="2250" b="1">
                <a:solidFill>
                  <a:srgbClr val="B75A32"/>
                </a:solidFill>
              </a:defRPr>
            </a:pPr>
            <a:r>
              <a:rPr sz="2250" b="1">
                <a:solidFill>
                  <a:srgbClr val="B75A32"/>
                </a:solidFill>
              </a:rPr>
              <a:t>Habitat [S1]</a:t>
            </a:r>
          </a:p>
        </p:txBody>
      </p:sp>
      <p:sp>
        <p:nvSpPr>
          <p:cNvPr id="4" name="">
            <a:extLst xmlns:a="http://schemas.openxmlformats.org/drawingml/2006/main">
              <a:ext uri="{FF2B5EF4-FFF2-40B4-BE49-F238E27FC236}">
                <a16:creationId xmlns:a16="http://schemas.microsoft.com/office/drawing/2014/main" id="{9CDE1057-8B87-45F9-8961-08C8D43CB00F}"/>
              </a:ext>
            </a:extLst>
          </p:cNvPr>
          <p:cNvSpPr>
            <a:spLocks xmlns:a="http://schemas.openxmlformats.org/drawingml/2006/main" noGrp="1"/>
          </p:cNvSpPr>
          <p:nvPr/>
        </p:nvSpPr>
        <p:spPr>
          <a:xfrm xmlns:a="http://schemas.openxmlformats.org/drawingml/2006/main">
            <a:off x="3905250" y="292417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173C33"/>
                </a:solidFill>
              </a:defRPr>
            </a:defPPr>
            <a:lvl1pPr>
              <a:defRPr sz="2775" b="0">
                <a:solidFill>
                  <a:srgbClr val="173C33"/>
                </a:solidFill>
              </a:defRPr>
            </a:lvl1pPr>
            <a:lvl2pPr>
              <a:defRPr sz="2775" b="0">
                <a:solidFill>
                  <a:srgbClr val="173C33"/>
                </a:solidFill>
              </a:defRPr>
            </a:lvl2pPr>
            <a:lvl3pPr>
              <a:defRPr sz="2775" b="0">
                <a:solidFill>
                  <a:srgbClr val="173C33"/>
                </a:solidFill>
              </a:defRPr>
            </a:lvl3pPr>
            <a:lvl4pPr>
              <a:defRPr sz="2775" b="0">
                <a:solidFill>
                  <a:srgbClr val="173C33"/>
                </a:solidFill>
              </a:defRPr>
            </a:lvl4pPr>
            <a:lvl5pPr>
              <a:defRPr sz="2775" b="0">
                <a:solidFill>
                  <a:srgbClr val="173C33"/>
                </a:solidFill>
              </a:defRPr>
            </a:lvl5pPr>
            <a:lvl6pPr>
              <a:defRPr sz="2775" b="0">
                <a:solidFill>
                  <a:srgbClr val="173C33"/>
                </a:solidFill>
              </a:defRPr>
            </a:lvl6pPr>
            <a:lvl7pPr>
              <a:defRPr sz="2775" b="0">
                <a:solidFill>
                  <a:srgbClr val="173C33"/>
                </a:solidFill>
              </a:defRPr>
            </a:lvl7pPr>
            <a:lvl8pPr>
              <a:defRPr sz="2775" b="0">
                <a:solidFill>
                  <a:srgbClr val="173C33"/>
                </a:solidFill>
              </a:defRPr>
            </a:lvl8pPr>
            <a:lvl9pPr>
              <a:defRPr sz="2775" b="0">
                <a:solidFill>
                  <a:srgbClr val="173C33"/>
                </a:solidFill>
              </a:defRPr>
            </a:lvl9pPr>
          </a:lstStyle>
          <a:p xmlns:a="http://schemas.openxmlformats.org/drawingml/2006/main">
            <a:pPr>
              <a:defRPr sz="2775" b="0">
                <a:solidFill>
                  <a:srgbClr val="173C33"/>
                </a:solidFill>
              </a:defRPr>
            </a:pPr>
            <a:r>
              <a:rPr sz="2775" b="0">
                <a:solidFill>
                  <a:srgbClr val="173C33"/>
                </a:solidFill>
              </a:rPr>
              <a:t>“areas with little current”</a:t>
            </a:r>
          </a:p>
        </p:txBody>
      </p:sp>
      <p:sp>
        <p:nvSpPr>
          <p:cNvPr id="5" name="">
            <a:extLst xmlns:a="http://schemas.openxmlformats.org/drawingml/2006/main">
              <a:ext uri="{FF2B5EF4-FFF2-40B4-BE49-F238E27FC236}">
                <a16:creationId xmlns:a16="http://schemas.microsoft.com/office/drawing/2014/main" id="{85E5060E-3C7C-4944-941A-8FCB8CC14FF0}"/>
              </a:ext>
            </a:extLst>
          </p:cNvPr>
          <p:cNvSpPr>
            <a:spLocks xmlns:a="http://schemas.openxmlformats.org/drawingml/2006/main" noGrp="1"/>
          </p:cNvSpPr>
          <p:nvPr/>
        </p:nvSpPr>
        <p:spPr>
          <a:xfrm xmlns:a="http://schemas.openxmlformats.org/drawingml/2006/main">
            <a:off x="685800" y="4238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75A32"/>
                </a:solidFill>
              </a:defRPr>
            </a:defPPr>
            <a:lvl1pPr>
              <a:defRPr sz="2250" b="1">
                <a:solidFill>
                  <a:srgbClr val="B75A32"/>
                </a:solidFill>
              </a:defRPr>
            </a:lvl1pPr>
            <a:lvl2pPr>
              <a:defRPr sz="2250" b="1">
                <a:solidFill>
                  <a:srgbClr val="B75A32"/>
                </a:solidFill>
              </a:defRPr>
            </a:lvl2pPr>
            <a:lvl3pPr>
              <a:defRPr sz="2250" b="1">
                <a:solidFill>
                  <a:srgbClr val="B75A32"/>
                </a:solidFill>
              </a:defRPr>
            </a:lvl3pPr>
            <a:lvl4pPr>
              <a:defRPr sz="2250" b="1">
                <a:solidFill>
                  <a:srgbClr val="B75A32"/>
                </a:solidFill>
              </a:defRPr>
            </a:lvl4pPr>
            <a:lvl5pPr>
              <a:defRPr sz="2250" b="1">
                <a:solidFill>
                  <a:srgbClr val="B75A32"/>
                </a:solidFill>
              </a:defRPr>
            </a:lvl5pPr>
            <a:lvl6pPr>
              <a:defRPr sz="2250" b="1">
                <a:solidFill>
                  <a:srgbClr val="B75A32"/>
                </a:solidFill>
              </a:defRPr>
            </a:lvl6pPr>
            <a:lvl7pPr>
              <a:defRPr sz="2250" b="1">
                <a:solidFill>
                  <a:srgbClr val="B75A32"/>
                </a:solidFill>
              </a:defRPr>
            </a:lvl7pPr>
            <a:lvl8pPr>
              <a:defRPr sz="2250" b="1">
                <a:solidFill>
                  <a:srgbClr val="B75A32"/>
                </a:solidFill>
              </a:defRPr>
            </a:lvl8pPr>
            <a:lvl9pPr>
              <a:defRPr sz="2250" b="1">
                <a:solidFill>
                  <a:srgbClr val="B75A32"/>
                </a:solidFill>
              </a:defRPr>
            </a:lvl9pPr>
          </a:lstStyle>
          <a:p xmlns:a="http://schemas.openxmlformats.org/drawingml/2006/main">
            <a:pPr>
              <a:defRPr sz="2250" b="1">
                <a:solidFill>
                  <a:srgbClr val="B75A32"/>
                </a:solidFill>
              </a:defRPr>
            </a:pPr>
            <a:r>
              <a:rPr sz="2250" b="1">
                <a:solidFill>
                  <a:srgbClr val="B75A32"/>
                </a:solidFill>
              </a:rPr>
              <a:t>Diet [S2]</a:t>
            </a:r>
          </a:p>
        </p:txBody>
      </p:sp>
      <p:sp>
        <p:nvSpPr>
          <p:cNvPr id="6" name="">
            <a:extLst xmlns:a="http://schemas.openxmlformats.org/drawingml/2006/main">
              <a:ext uri="{FF2B5EF4-FFF2-40B4-BE49-F238E27FC236}">
                <a16:creationId xmlns:a16="http://schemas.microsoft.com/office/drawing/2014/main" id="{8D98859A-2A59-4C2A-9017-C403A8DF3D0A}"/>
              </a:ext>
            </a:extLst>
          </p:cNvPr>
          <p:cNvSpPr>
            <a:spLocks xmlns:a="http://schemas.openxmlformats.org/drawingml/2006/main" noGrp="1"/>
          </p:cNvSpPr>
          <p:nvPr/>
        </p:nvSpPr>
        <p:spPr>
          <a:xfrm xmlns:a="http://schemas.openxmlformats.org/drawingml/2006/main">
            <a:off x="3905250" y="4152900"/>
            <a:ext cx="7524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3C33"/>
                </a:solidFill>
              </a:defRPr>
            </a:defPPr>
            <a:lvl1pPr>
              <a:defRPr sz="2700" b="0">
                <a:solidFill>
                  <a:srgbClr val="173C33"/>
                </a:solidFill>
              </a:defRPr>
            </a:lvl1pPr>
            <a:lvl2pPr>
              <a:defRPr sz="2700" b="0">
                <a:solidFill>
                  <a:srgbClr val="173C33"/>
                </a:solidFill>
              </a:defRPr>
            </a:lvl2pPr>
            <a:lvl3pPr>
              <a:defRPr sz="2700" b="0">
                <a:solidFill>
                  <a:srgbClr val="173C33"/>
                </a:solidFill>
              </a:defRPr>
            </a:lvl3pPr>
            <a:lvl4pPr>
              <a:defRPr sz="2700" b="0">
                <a:solidFill>
                  <a:srgbClr val="173C33"/>
                </a:solidFill>
              </a:defRPr>
            </a:lvl4pPr>
            <a:lvl5pPr>
              <a:defRPr sz="2700" b="0">
                <a:solidFill>
                  <a:srgbClr val="173C33"/>
                </a:solidFill>
              </a:defRPr>
            </a:lvl5pPr>
            <a:lvl6pPr>
              <a:defRPr sz="2700" b="0">
                <a:solidFill>
                  <a:srgbClr val="173C33"/>
                </a:solidFill>
              </a:defRPr>
            </a:lvl6pPr>
            <a:lvl7pPr>
              <a:defRPr sz="2700" b="0">
                <a:solidFill>
                  <a:srgbClr val="173C33"/>
                </a:solidFill>
              </a:defRPr>
            </a:lvl7pPr>
            <a:lvl8pPr>
              <a:defRPr sz="2700" b="0">
                <a:solidFill>
                  <a:srgbClr val="173C33"/>
                </a:solidFill>
              </a:defRPr>
            </a:lvl8pPr>
            <a:lvl9pPr>
              <a:defRPr sz="2700" b="0">
                <a:solidFill>
                  <a:srgbClr val="173C33"/>
                </a:solidFill>
              </a:defRPr>
            </a:lvl9pPr>
          </a:lstStyle>
          <a:p xmlns:a="http://schemas.openxmlformats.org/drawingml/2006/main">
            <a:pPr>
              <a:defRPr sz="2700" b="0">
                <a:solidFill>
                  <a:srgbClr val="173C33"/>
                </a:solidFill>
              </a:defRPr>
            </a:pPr>
            <a:r>
              <a:rPr sz="2700" b="0">
                <a:solidFill>
                  <a:srgbClr val="173C33"/>
                </a:solidFill>
              </a:rPr>
              <a:t>“They feed on terrestrial</a:t>
            </a:r>
          </a:p>
          <a:p xmlns:a="http://schemas.openxmlformats.org/drawingml/2006/main">
            <a:pPr>
              <a:defRPr sz="2700" b="0">
                <a:solidFill>
                  <a:srgbClr val="173C33"/>
                </a:solidFill>
              </a:defRPr>
            </a:pPr>
            <a:r>
              <a:rPr sz="2700" b="0">
                <a:solidFill>
                  <a:srgbClr val="173C33"/>
                </a:solidFill>
              </a:rPr>
              <a:t>and aquatic prey”</a:t>
            </a:r>
          </a:p>
        </p:txBody>
      </p:sp>
      <p:sp>
        <p:nvSpPr>
          <p:cNvPr id="7" name="">
            <a:extLst xmlns:a="http://schemas.openxmlformats.org/drawingml/2006/main">
              <a:ext uri="{FF2B5EF4-FFF2-40B4-BE49-F238E27FC236}">
                <a16:creationId xmlns:a16="http://schemas.microsoft.com/office/drawing/2014/main" id="{2F496CD2-1765-49FD-9D46-7D214CBEA952}"/>
              </a:ext>
            </a:extLst>
          </p:cNvPr>
          <p:cNvSpPr>
            <a:spLocks xmlns:a="http://schemas.openxmlformats.org/drawingml/2006/main" noGrp="1"/>
          </p:cNvSpPr>
          <p:nvPr/>
        </p:nvSpPr>
        <p:spPr>
          <a:xfrm xmlns:a="http://schemas.openxmlformats.org/drawingml/2006/main">
            <a:off x="685800" y="577215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5C"/>
                </a:solidFill>
              </a:defRPr>
            </a:defPPr>
            <a:lvl1pPr>
              <a:defRPr sz="1875" b="0">
                <a:solidFill>
                  <a:srgbClr val="53665C"/>
                </a:solidFill>
              </a:defRPr>
            </a:lvl1pPr>
            <a:lvl2pPr>
              <a:defRPr sz="1875" b="0">
                <a:solidFill>
                  <a:srgbClr val="53665C"/>
                </a:solidFill>
              </a:defRPr>
            </a:lvl2pPr>
            <a:lvl3pPr>
              <a:defRPr sz="1875" b="0">
                <a:solidFill>
                  <a:srgbClr val="53665C"/>
                </a:solidFill>
              </a:defRPr>
            </a:lvl3pPr>
            <a:lvl4pPr>
              <a:defRPr sz="1875" b="0">
                <a:solidFill>
                  <a:srgbClr val="53665C"/>
                </a:solidFill>
              </a:defRPr>
            </a:lvl4pPr>
            <a:lvl5pPr>
              <a:defRPr sz="1875" b="0">
                <a:solidFill>
                  <a:srgbClr val="53665C"/>
                </a:solidFill>
              </a:defRPr>
            </a:lvl5pPr>
            <a:lvl6pPr>
              <a:defRPr sz="1875" b="0">
                <a:solidFill>
                  <a:srgbClr val="53665C"/>
                </a:solidFill>
              </a:defRPr>
            </a:lvl6pPr>
            <a:lvl7pPr>
              <a:defRPr sz="1875" b="0">
                <a:solidFill>
                  <a:srgbClr val="53665C"/>
                </a:solidFill>
              </a:defRPr>
            </a:lvl7pPr>
            <a:lvl8pPr>
              <a:defRPr sz="1875" b="0">
                <a:solidFill>
                  <a:srgbClr val="53665C"/>
                </a:solidFill>
              </a:defRPr>
            </a:lvl8pPr>
            <a:lvl9pPr>
              <a:defRPr sz="1875" b="0">
                <a:solidFill>
                  <a:srgbClr val="53665C"/>
                </a:solidFill>
              </a:defRPr>
            </a:lvl9pPr>
          </a:lstStyle>
          <a:p xmlns:a="http://schemas.openxmlformats.org/drawingml/2006/main">
            <a:pPr>
              <a:defRPr sz="1875" b="0">
                <a:solidFill>
                  <a:srgbClr val="53665C"/>
                </a:solidFill>
              </a:defRPr>
            </a:pPr>
            <a:r>
              <a:rPr sz="1875" b="0">
                <a:solidFill>
                  <a:srgbClr val="53665C"/>
                </a:solidFill>
              </a:rPr>
              <a:t>Translated extracts from a real run · the candidate does not confirm the photo’s species</a:t>
            </a:r>
          </a:p>
        </p:txBody>
      </p:sp>
      <p:sp>
        <p:nvSpPr>
          <p:cNvPr id="8" name="">
            <a:extLst xmlns:a="http://schemas.openxmlformats.org/drawingml/2006/main">
              <a:ext uri="{FF2B5EF4-FFF2-40B4-BE49-F238E27FC236}">
                <a16:creationId xmlns:a16="http://schemas.microsoft.com/office/drawing/2014/main" id="{1EECE20C-3BE6-4972-960D-E1240E94DACD}"/>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12</a:t>
            </a:r>
          </a:p>
        </p:txBody>
      </p:sp>
    </p:spTree>
    <p:extLst>
      <p:ext uri="{BB962C8B-B14F-4D97-AF65-F5344CB8AC3E}">
        <p14:creationId xmlns:p14="http://schemas.microsoft.com/office/powerpoint/2010/main" val="612048685"/>
      </p:ext>
    </p:extLst>
  </p:cSld>
</p:sld>
</file>

<file path=ppt/slides/slide1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A75D6B-EB35-4195-897F-E94F683E70A7}"/>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The second run matters too</a:t>
            </a:r>
          </a:p>
        </p:txBody>
      </p:sp>
      <p:sp>
        <p:nvSpPr>
          <p:cNvPr id="2" name="">
            <a:extLst xmlns:a="http://schemas.openxmlformats.org/drawingml/2006/main">
              <a:ext uri="{FF2B5EF4-FFF2-40B4-BE49-F238E27FC236}">
                <a16:creationId xmlns:a16="http://schemas.microsoft.com/office/drawing/2014/main" id="{8F59836A-8B2A-46D4-802B-2C3B397F00F7}"/>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13</a:t>
            </a:r>
          </a:p>
        </p:txBody>
      </p:sp>
      <p:sp>
        <p:nvSpPr>
          <p:cNvPr id="3" name="">
            <a:extLst xmlns:a="http://schemas.openxmlformats.org/drawingml/2006/main">
              <a:ext uri="{FF2B5EF4-FFF2-40B4-BE49-F238E27FC236}">
                <a16:creationId xmlns:a16="http://schemas.microsoft.com/office/drawing/2014/main" id="{F470E35E-9AB8-4646-9EFC-BDFF2ED27B67}"/>
              </a:ext>
            </a:extLst>
          </p:cNvPr>
          <p:cNvSpPr>
            <a:spLocks xmlns:a="http://schemas.openxmlformats.org/drawingml/2006/main" noGrp="1"/>
          </p:cNvSpPr>
          <p:nvPr/>
        </p:nvSpPr>
        <p:spPr>
          <a:xfrm xmlns:a="http://schemas.openxmlformats.org/drawingml/2006/main">
            <a:off x="685800" y="1981200"/>
            <a:ext cx="5715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73C33"/>
                </a:solidFill>
              </a:defRPr>
            </a:defPPr>
            <a:lvl1pPr>
              <a:defRPr sz="5850" b="1">
                <a:solidFill>
                  <a:srgbClr val="173C33"/>
                </a:solidFill>
              </a:defRPr>
            </a:lvl1pPr>
            <a:lvl2pPr>
              <a:defRPr sz="5850" b="1">
                <a:solidFill>
                  <a:srgbClr val="173C33"/>
                </a:solidFill>
              </a:defRPr>
            </a:lvl2pPr>
            <a:lvl3pPr>
              <a:defRPr sz="5850" b="1">
                <a:solidFill>
                  <a:srgbClr val="173C33"/>
                </a:solidFill>
              </a:defRPr>
            </a:lvl3pPr>
            <a:lvl4pPr>
              <a:defRPr sz="5850" b="1">
                <a:solidFill>
                  <a:srgbClr val="173C33"/>
                </a:solidFill>
              </a:defRPr>
            </a:lvl4pPr>
            <a:lvl5pPr>
              <a:defRPr sz="5850" b="1">
                <a:solidFill>
                  <a:srgbClr val="173C33"/>
                </a:solidFill>
              </a:defRPr>
            </a:lvl5pPr>
            <a:lvl6pPr>
              <a:defRPr sz="5850" b="1">
                <a:solidFill>
                  <a:srgbClr val="173C33"/>
                </a:solidFill>
              </a:defRPr>
            </a:lvl6pPr>
            <a:lvl7pPr>
              <a:defRPr sz="5850" b="1">
                <a:solidFill>
                  <a:srgbClr val="173C33"/>
                </a:solidFill>
              </a:defRPr>
            </a:lvl7pPr>
            <a:lvl8pPr>
              <a:defRPr sz="5850" b="1">
                <a:solidFill>
                  <a:srgbClr val="173C33"/>
                </a:solidFill>
              </a:defRPr>
            </a:lvl8pPr>
            <a:lvl9pPr>
              <a:defRPr sz="5850" b="1">
                <a:solidFill>
                  <a:srgbClr val="173C33"/>
                </a:solidFill>
              </a:defRPr>
            </a:lvl9pPr>
          </a:lstStyle>
          <a:p xmlns:a="http://schemas.openxmlformats.org/drawingml/2006/main">
            <a:pPr>
              <a:defRPr sz="5850" b="1">
                <a:solidFill>
                  <a:srgbClr val="173C33"/>
                </a:solidFill>
              </a:defRPr>
            </a:pPr>
            <a:r>
              <a:rPr sz="5850" b="1">
                <a:solidFill>
                  <a:srgbClr val="173C33"/>
                </a:solidFill>
              </a:rPr>
              <a:t>16 steps</a:t>
            </a:r>
          </a:p>
        </p:txBody>
      </p:sp>
      <p:sp>
        <p:nvSpPr>
          <p:cNvPr id="4" name="">
            <a:extLst xmlns:a="http://schemas.openxmlformats.org/drawingml/2006/main">
              <a:ext uri="{FF2B5EF4-FFF2-40B4-BE49-F238E27FC236}">
                <a16:creationId xmlns:a16="http://schemas.microsoft.com/office/drawing/2014/main" id="{C6B286EB-33D1-49D5-9782-B1ECA1E6B105}"/>
              </a:ext>
            </a:extLst>
          </p:cNvPr>
          <p:cNvSpPr>
            <a:spLocks xmlns:a="http://schemas.openxmlformats.org/drawingml/2006/main" noGrp="1"/>
          </p:cNvSpPr>
          <p:nvPr/>
        </p:nvSpPr>
        <p:spPr>
          <a:xfrm xmlns:a="http://schemas.openxmlformats.org/drawingml/2006/main">
            <a:off x="723900" y="3476625"/>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C33"/>
                </a:solidFill>
              </a:defRPr>
            </a:defPPr>
            <a:lvl1pPr>
              <a:defRPr sz="2400" b="0">
                <a:solidFill>
                  <a:srgbClr val="173C33"/>
                </a:solidFill>
              </a:defRPr>
            </a:lvl1pPr>
            <a:lvl2pPr>
              <a:defRPr sz="2400" b="0">
                <a:solidFill>
                  <a:srgbClr val="173C33"/>
                </a:solidFill>
              </a:defRPr>
            </a:lvl2pPr>
            <a:lvl3pPr>
              <a:defRPr sz="2400" b="0">
                <a:solidFill>
                  <a:srgbClr val="173C33"/>
                </a:solidFill>
              </a:defRPr>
            </a:lvl3pPr>
            <a:lvl4pPr>
              <a:defRPr sz="2400" b="0">
                <a:solidFill>
                  <a:srgbClr val="173C33"/>
                </a:solidFill>
              </a:defRPr>
            </a:lvl4pPr>
            <a:lvl5pPr>
              <a:defRPr sz="2400" b="0">
                <a:solidFill>
                  <a:srgbClr val="173C33"/>
                </a:solidFill>
              </a:defRPr>
            </a:lvl5pPr>
            <a:lvl6pPr>
              <a:defRPr sz="2400" b="0">
                <a:solidFill>
                  <a:srgbClr val="173C33"/>
                </a:solidFill>
              </a:defRPr>
            </a:lvl6pPr>
            <a:lvl7pPr>
              <a:defRPr sz="2400" b="0">
                <a:solidFill>
                  <a:srgbClr val="173C33"/>
                </a:solidFill>
              </a:defRPr>
            </a:lvl7pPr>
            <a:lvl8pPr>
              <a:defRPr sz="2400" b="0">
                <a:solidFill>
                  <a:srgbClr val="173C33"/>
                </a:solidFill>
              </a:defRPr>
            </a:lvl8pPr>
            <a:lvl9pPr>
              <a:defRPr sz="2400" b="0">
                <a:solidFill>
                  <a:srgbClr val="173C33"/>
                </a:solidFill>
              </a:defRPr>
            </a:lvl9pPr>
          </a:lstStyle>
          <a:p xmlns:a="http://schemas.openxmlformats.org/drawingml/2006/main">
            <a:pPr>
              <a:defRPr sz="2400" b="0">
                <a:solidFill>
                  <a:srgbClr val="173C33"/>
                </a:solidFill>
              </a:defRPr>
            </a:pPr>
            <a:r>
              <a:rPr sz="2400" b="0">
                <a:solidFill>
                  <a:srgbClr val="173C33"/>
                </a:solidFill>
              </a:rPr>
              <a:t>Execution lock</a:t>
            </a:r>
          </a:p>
          <a:p xmlns:a="http://schemas.openxmlformats.org/drawingml/2006/main">
            <a:pPr>
              <a:defRPr sz="2400" b="0">
                <a:solidFill>
                  <a:srgbClr val="173C33"/>
                </a:solidFill>
              </a:defRPr>
            </a:pPr>
            <a:r>
              <a:rPr sz="2400" b="0">
                <a:solidFill>
                  <a:srgbClr val="173C33"/>
                </a:solidFill>
              </a:rPr>
              <a:t>Per-step report and log</a:t>
            </a:r>
          </a:p>
          <a:p xmlns:a="http://schemas.openxmlformats.org/drawingml/2006/main">
            <a:pPr>
              <a:defRPr sz="2400" b="0">
                <a:solidFill>
                  <a:srgbClr val="173C33"/>
                </a:solidFill>
              </a:defRPr>
            </a:pPr>
            <a:r>
              <a:rPr sz="2400" b="0">
                <a:solidFill>
                  <a:srgbClr val="173C33"/>
                </a:solidFill>
              </a:rPr>
              <a:t>Explicit failure and retry</a:t>
            </a:r>
          </a:p>
        </p:txBody>
      </p:sp>
      <p:sp>
        <p:nvSpPr>
          <p:cNvPr id="5" name="">
            <a:extLst xmlns:a="http://schemas.openxmlformats.org/drawingml/2006/main">
              <a:ext uri="{FF2B5EF4-FFF2-40B4-BE49-F238E27FC236}">
                <a16:creationId xmlns:a16="http://schemas.microsoft.com/office/drawing/2014/main" id="{60260473-1A8C-4279-AAB1-8CC4AD5E7B7A}"/>
              </a:ext>
            </a:extLst>
          </p:cNvPr>
          <p:cNvSpPr>
            <a:spLocks xmlns:a="http://schemas.openxmlformats.org/drawingml/2006/main" noGrp="1"/>
          </p:cNvSpPr>
          <p:nvPr/>
        </p:nvSpPr>
        <p:spPr>
          <a:xfrm xmlns:a="http://schemas.openxmlformats.org/drawingml/2006/main">
            <a:off x="8096250" y="1866900"/>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0" b="1">
                <a:solidFill>
                  <a:srgbClr val="B75A32"/>
                </a:solidFill>
              </a:defRPr>
            </a:defPPr>
            <a:lvl1pPr>
              <a:defRPr sz="9000" b="1">
                <a:solidFill>
                  <a:srgbClr val="B75A32"/>
                </a:solidFill>
              </a:defRPr>
            </a:lvl1pPr>
            <a:lvl2pPr>
              <a:defRPr sz="9000" b="1">
                <a:solidFill>
                  <a:srgbClr val="B75A32"/>
                </a:solidFill>
              </a:defRPr>
            </a:lvl2pPr>
            <a:lvl3pPr>
              <a:defRPr sz="9000" b="1">
                <a:solidFill>
                  <a:srgbClr val="B75A32"/>
                </a:solidFill>
              </a:defRPr>
            </a:lvl3pPr>
            <a:lvl4pPr>
              <a:defRPr sz="9000" b="1">
                <a:solidFill>
                  <a:srgbClr val="B75A32"/>
                </a:solidFill>
              </a:defRPr>
            </a:lvl4pPr>
            <a:lvl5pPr>
              <a:defRPr sz="9000" b="1">
                <a:solidFill>
                  <a:srgbClr val="B75A32"/>
                </a:solidFill>
              </a:defRPr>
            </a:lvl5pPr>
            <a:lvl6pPr>
              <a:defRPr sz="9000" b="1">
                <a:solidFill>
                  <a:srgbClr val="B75A32"/>
                </a:solidFill>
              </a:defRPr>
            </a:lvl6pPr>
            <a:lvl7pPr>
              <a:defRPr sz="9000" b="1">
                <a:solidFill>
                  <a:srgbClr val="B75A32"/>
                </a:solidFill>
              </a:defRPr>
            </a:lvl7pPr>
            <a:lvl8pPr>
              <a:defRPr sz="9000" b="1">
                <a:solidFill>
                  <a:srgbClr val="B75A32"/>
                </a:solidFill>
              </a:defRPr>
            </a:lvl8pPr>
            <a:lvl9pPr>
              <a:defRPr sz="9000" b="1">
                <a:solidFill>
                  <a:srgbClr val="B75A32"/>
                </a:solidFill>
              </a:defRPr>
            </a:lvl9pPr>
          </a:lstStyle>
          <a:p xmlns:a="http://schemas.openxmlformats.org/drawingml/2006/main">
            <a:pPr>
              <a:defRPr sz="9000" b="1">
                <a:solidFill>
                  <a:srgbClr val="B75A32"/>
                </a:solidFill>
              </a:defRPr>
            </a:pPr>
            <a:r>
              <a:rPr sz="9000" b="1">
                <a:solidFill>
                  <a:srgbClr val="B75A32"/>
                </a:solidFill>
              </a:rPr>
              <a:t>7</a:t>
            </a:r>
          </a:p>
        </p:txBody>
      </p:sp>
      <p:sp>
        <p:nvSpPr>
          <p:cNvPr id="6" name="">
            <a:extLst xmlns:a="http://schemas.openxmlformats.org/drawingml/2006/main">
              <a:ext uri="{FF2B5EF4-FFF2-40B4-BE49-F238E27FC236}">
                <a16:creationId xmlns:a16="http://schemas.microsoft.com/office/drawing/2014/main" id="{C8B2F4FB-9F01-4DCF-AC7E-6AF9E620B8E5}"/>
              </a:ext>
            </a:extLst>
          </p:cNvPr>
          <p:cNvSpPr>
            <a:spLocks xmlns:a="http://schemas.openxmlformats.org/drawingml/2006/main" noGrp="1"/>
          </p:cNvSpPr>
          <p:nvPr/>
        </p:nvSpPr>
        <p:spPr>
          <a:xfrm xmlns:a="http://schemas.openxmlformats.org/drawingml/2006/main">
            <a:off x="7810500" y="3324225"/>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3"/>
                </a:solidFill>
              </a:defRPr>
            </a:defPPr>
            <a:lvl1pPr>
              <a:defRPr sz="2175" b="0">
                <a:solidFill>
                  <a:srgbClr val="173C33"/>
                </a:solidFill>
              </a:defRPr>
            </a:lvl1pPr>
            <a:lvl2pPr>
              <a:defRPr sz="2175" b="0">
                <a:solidFill>
                  <a:srgbClr val="173C33"/>
                </a:solidFill>
              </a:defRPr>
            </a:lvl2pPr>
            <a:lvl3pPr>
              <a:defRPr sz="2175" b="0">
                <a:solidFill>
                  <a:srgbClr val="173C33"/>
                </a:solidFill>
              </a:defRPr>
            </a:lvl3pPr>
            <a:lvl4pPr>
              <a:defRPr sz="2175" b="0">
                <a:solidFill>
                  <a:srgbClr val="173C33"/>
                </a:solidFill>
              </a:defRPr>
            </a:lvl4pPr>
            <a:lvl5pPr>
              <a:defRPr sz="2175" b="0">
                <a:solidFill>
                  <a:srgbClr val="173C33"/>
                </a:solidFill>
              </a:defRPr>
            </a:lvl5pPr>
            <a:lvl6pPr>
              <a:defRPr sz="2175" b="0">
                <a:solidFill>
                  <a:srgbClr val="173C33"/>
                </a:solidFill>
              </a:defRPr>
            </a:lvl6pPr>
            <a:lvl7pPr>
              <a:defRPr sz="2175" b="0">
                <a:solidFill>
                  <a:srgbClr val="173C33"/>
                </a:solidFill>
              </a:defRPr>
            </a:lvl7pPr>
            <a:lvl8pPr>
              <a:defRPr sz="2175" b="0">
                <a:solidFill>
                  <a:srgbClr val="173C33"/>
                </a:solidFill>
              </a:defRPr>
            </a:lvl8pPr>
            <a:lvl9pPr>
              <a:defRPr sz="2175" b="0">
                <a:solidFill>
                  <a:srgbClr val="173C33"/>
                </a:solidFill>
              </a:defRPr>
            </a:lvl9pPr>
          </a:lstStyle>
          <a:p xmlns:a="http://schemas.openxmlformats.org/drawingml/2006/main">
            <a:pPr>
              <a:defRPr sz="2175" b="0">
                <a:solidFill>
                  <a:srgbClr val="173C33"/>
                </a:solidFill>
              </a:defRPr>
            </a:pPr>
            <a:r>
              <a:rPr sz="2175" b="0">
                <a:solidFill>
                  <a:srgbClr val="173C33"/>
                </a:solidFill>
              </a:rPr>
              <a:t>vectors in the first run</a:t>
            </a:r>
          </a:p>
        </p:txBody>
      </p:sp>
      <p:sp>
        <p:nvSpPr>
          <p:cNvPr id="7" name="">
            <a:extLst xmlns:a="http://schemas.openxmlformats.org/drawingml/2006/main">
              <a:ext uri="{FF2B5EF4-FFF2-40B4-BE49-F238E27FC236}">
                <a16:creationId xmlns:a16="http://schemas.microsoft.com/office/drawing/2014/main" id="{FAE383B2-9B45-413E-B846-A0C18F91F25B}"/>
              </a:ext>
            </a:extLst>
          </p:cNvPr>
          <p:cNvSpPr>
            <a:spLocks xmlns:a="http://schemas.openxmlformats.org/drawingml/2006/main" noGrp="1"/>
          </p:cNvSpPr>
          <p:nvPr/>
        </p:nvSpPr>
        <p:spPr>
          <a:xfrm xmlns:a="http://schemas.openxmlformats.org/drawingml/2006/main">
            <a:off x="8096250" y="4067175"/>
            <a:ext cx="314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0" b="1">
                <a:solidFill>
                  <a:srgbClr val="173C33"/>
                </a:solidFill>
              </a:defRPr>
            </a:defPPr>
            <a:lvl1pPr>
              <a:defRPr sz="9000" b="1">
                <a:solidFill>
                  <a:srgbClr val="173C33"/>
                </a:solidFill>
              </a:defRPr>
            </a:lvl1pPr>
            <a:lvl2pPr>
              <a:defRPr sz="9000" b="1">
                <a:solidFill>
                  <a:srgbClr val="173C33"/>
                </a:solidFill>
              </a:defRPr>
            </a:lvl2pPr>
            <a:lvl3pPr>
              <a:defRPr sz="9000" b="1">
                <a:solidFill>
                  <a:srgbClr val="173C33"/>
                </a:solidFill>
              </a:defRPr>
            </a:lvl3pPr>
            <a:lvl4pPr>
              <a:defRPr sz="9000" b="1">
                <a:solidFill>
                  <a:srgbClr val="173C33"/>
                </a:solidFill>
              </a:defRPr>
            </a:lvl4pPr>
            <a:lvl5pPr>
              <a:defRPr sz="9000" b="1">
                <a:solidFill>
                  <a:srgbClr val="173C33"/>
                </a:solidFill>
              </a:defRPr>
            </a:lvl5pPr>
            <a:lvl6pPr>
              <a:defRPr sz="9000" b="1">
                <a:solidFill>
                  <a:srgbClr val="173C33"/>
                </a:solidFill>
              </a:defRPr>
            </a:lvl6pPr>
            <a:lvl7pPr>
              <a:defRPr sz="9000" b="1">
                <a:solidFill>
                  <a:srgbClr val="173C33"/>
                </a:solidFill>
              </a:defRPr>
            </a:lvl7pPr>
            <a:lvl8pPr>
              <a:defRPr sz="9000" b="1">
                <a:solidFill>
                  <a:srgbClr val="173C33"/>
                </a:solidFill>
              </a:defRPr>
            </a:lvl8pPr>
            <a:lvl9pPr>
              <a:defRPr sz="9000" b="1">
                <a:solidFill>
                  <a:srgbClr val="173C33"/>
                </a:solidFill>
              </a:defRPr>
            </a:lvl9pPr>
          </a:lstStyle>
          <a:p xmlns:a="http://schemas.openxmlformats.org/drawingml/2006/main">
            <a:pPr>
              <a:defRPr sz="9000" b="1">
                <a:solidFill>
                  <a:srgbClr val="173C33"/>
                </a:solidFill>
              </a:defRPr>
            </a:pPr>
            <a:r>
              <a:rPr sz="9000" b="1">
                <a:solidFill>
                  <a:srgbClr val="173C33"/>
                </a:solidFill>
              </a:rPr>
              <a:t>0</a:t>
            </a:r>
          </a:p>
        </p:txBody>
      </p:sp>
      <p:sp>
        <p:nvSpPr>
          <p:cNvPr id="8" name="">
            <a:extLst xmlns:a="http://schemas.openxmlformats.org/drawingml/2006/main">
              <a:ext uri="{FF2B5EF4-FFF2-40B4-BE49-F238E27FC236}">
                <a16:creationId xmlns:a16="http://schemas.microsoft.com/office/drawing/2014/main" id="{453778A0-8A44-4848-8CD3-4860BAB45C3F}"/>
              </a:ext>
            </a:extLst>
          </p:cNvPr>
          <p:cNvSpPr>
            <a:spLocks xmlns:a="http://schemas.openxmlformats.org/drawingml/2006/main" noGrp="1"/>
          </p:cNvSpPr>
          <p:nvPr/>
        </p:nvSpPr>
        <p:spPr>
          <a:xfrm xmlns:a="http://schemas.openxmlformats.org/drawingml/2006/main">
            <a:off x="7810500" y="5524500"/>
            <a:ext cx="3667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3"/>
                </a:solidFill>
              </a:defRPr>
            </a:defPPr>
            <a:lvl1pPr>
              <a:defRPr sz="2175" b="0">
                <a:solidFill>
                  <a:srgbClr val="173C33"/>
                </a:solidFill>
              </a:defRPr>
            </a:lvl1pPr>
            <a:lvl2pPr>
              <a:defRPr sz="2175" b="0">
                <a:solidFill>
                  <a:srgbClr val="173C33"/>
                </a:solidFill>
              </a:defRPr>
            </a:lvl2pPr>
            <a:lvl3pPr>
              <a:defRPr sz="2175" b="0">
                <a:solidFill>
                  <a:srgbClr val="173C33"/>
                </a:solidFill>
              </a:defRPr>
            </a:lvl3pPr>
            <a:lvl4pPr>
              <a:defRPr sz="2175" b="0">
                <a:solidFill>
                  <a:srgbClr val="173C33"/>
                </a:solidFill>
              </a:defRPr>
            </a:lvl4pPr>
            <a:lvl5pPr>
              <a:defRPr sz="2175" b="0">
                <a:solidFill>
                  <a:srgbClr val="173C33"/>
                </a:solidFill>
              </a:defRPr>
            </a:lvl5pPr>
            <a:lvl6pPr>
              <a:defRPr sz="2175" b="0">
                <a:solidFill>
                  <a:srgbClr val="173C33"/>
                </a:solidFill>
              </a:defRPr>
            </a:lvl6pPr>
            <a:lvl7pPr>
              <a:defRPr sz="2175" b="0">
                <a:solidFill>
                  <a:srgbClr val="173C33"/>
                </a:solidFill>
              </a:defRPr>
            </a:lvl7pPr>
            <a:lvl8pPr>
              <a:defRPr sz="2175" b="0">
                <a:solidFill>
                  <a:srgbClr val="173C33"/>
                </a:solidFill>
              </a:defRPr>
            </a:lvl8pPr>
            <a:lvl9pPr>
              <a:defRPr sz="2175" b="0">
                <a:solidFill>
                  <a:srgbClr val="173C33"/>
                </a:solidFill>
              </a:defRPr>
            </a:lvl9pPr>
          </a:lstStyle>
          <a:p xmlns:a="http://schemas.openxmlformats.org/drawingml/2006/main">
            <a:pPr>
              <a:defRPr sz="2175" b="0">
                <a:solidFill>
                  <a:srgbClr val="173C33"/>
                </a:solidFill>
              </a:defRPr>
            </a:pPr>
            <a:r>
              <a:rPr sz="2175" b="0">
                <a:solidFill>
                  <a:srgbClr val="173C33"/>
                </a:solidFill>
              </a:rPr>
              <a:t>new in the second run</a:t>
            </a:r>
          </a:p>
        </p:txBody>
      </p:sp>
      <p:sp>
        <p:nvSpPr>
          <p:cNvPr id="9" name="">
            <a:extLst xmlns:a="http://schemas.openxmlformats.org/drawingml/2006/main">
              <a:ext uri="{FF2B5EF4-FFF2-40B4-BE49-F238E27FC236}">
                <a16:creationId xmlns:a16="http://schemas.microsoft.com/office/drawing/2014/main" id="{5D2E98D3-8C59-4C38-A9C0-8DEF80B5AA1D}"/>
              </a:ext>
            </a:extLst>
          </p:cNvPr>
          <p:cNvSpPr>
            <a:spLocks xmlns:a="http://schemas.openxmlformats.org/drawingml/2006/main" noGrp="1"/>
          </p:cNvSpPr>
          <p:nvPr/>
        </p:nvSpPr>
        <p:spPr>
          <a:xfrm xmlns:a="http://schemas.openxmlformats.org/drawingml/2006/main">
            <a:off x="723900" y="60293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5C"/>
                </a:solidFill>
              </a:defRPr>
            </a:defPPr>
            <a:lvl1pPr>
              <a:defRPr sz="1800" b="0">
                <a:solidFill>
                  <a:srgbClr val="53665C"/>
                </a:solidFill>
              </a:defRPr>
            </a:lvl1pPr>
            <a:lvl2pPr>
              <a:defRPr sz="1800" b="0">
                <a:solidFill>
                  <a:srgbClr val="53665C"/>
                </a:solidFill>
              </a:defRPr>
            </a:lvl2pPr>
            <a:lvl3pPr>
              <a:defRPr sz="1800" b="0">
                <a:solidFill>
                  <a:srgbClr val="53665C"/>
                </a:solidFill>
              </a:defRPr>
            </a:lvl3pPr>
            <a:lvl4pPr>
              <a:defRPr sz="1800" b="0">
                <a:solidFill>
                  <a:srgbClr val="53665C"/>
                </a:solidFill>
              </a:defRPr>
            </a:lvl4pPr>
            <a:lvl5pPr>
              <a:defRPr sz="1800" b="0">
                <a:solidFill>
                  <a:srgbClr val="53665C"/>
                </a:solidFill>
              </a:defRPr>
            </a:lvl5pPr>
            <a:lvl6pPr>
              <a:defRPr sz="1800" b="0">
                <a:solidFill>
                  <a:srgbClr val="53665C"/>
                </a:solidFill>
              </a:defRPr>
            </a:lvl6pPr>
            <a:lvl7pPr>
              <a:defRPr sz="1800" b="0">
                <a:solidFill>
                  <a:srgbClr val="53665C"/>
                </a:solidFill>
              </a:defRPr>
            </a:lvl7pPr>
            <a:lvl8pPr>
              <a:defRPr sz="1800" b="0">
                <a:solidFill>
                  <a:srgbClr val="53665C"/>
                </a:solidFill>
              </a:defRPr>
            </a:lvl8pPr>
            <a:lvl9pPr>
              <a:defRPr sz="1800" b="0">
                <a:solidFill>
                  <a:srgbClr val="53665C"/>
                </a:solidFill>
              </a:defRPr>
            </a:lvl9pPr>
          </a:lstStyle>
          <a:p xmlns:a="http://schemas.openxmlformats.org/drawingml/2006/main">
            <a:pPr>
              <a:defRPr sz="1800" b="0">
                <a:solidFill>
                  <a:srgbClr val="53665C"/>
                </a:solidFill>
              </a:defRPr>
            </a:pPr>
            <a:r>
              <a:rPr sz="1800" b="0">
                <a:solidFill>
                  <a:srgbClr val="53665C"/>
                </a:solidFill>
              </a:rPr>
              <a:t>Isolated run with three synthetic assets and CPU models</a:t>
            </a:r>
          </a:p>
        </p:txBody>
      </p:sp>
    </p:spTree>
    <p:extLst>
      <p:ext uri="{BB962C8B-B14F-4D97-AF65-F5344CB8AC3E}">
        <p14:creationId xmlns:p14="http://schemas.microsoft.com/office/powerpoint/2010/main" val="1815504479"/>
      </p:ext>
    </p:extLst>
  </p:cSld>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C5597A-C18E-4424-A258-D1C006945DDE}"/>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3"/>
                </a:solidFill>
              </a:defRPr>
            </a:defPPr>
            <a:lvl1pPr>
              <a:defRPr sz="3450" b="1">
                <a:solidFill>
                  <a:srgbClr val="173C33"/>
                </a:solidFill>
              </a:defRPr>
            </a:lvl1pPr>
            <a:lvl2pPr>
              <a:defRPr sz="3450" b="1">
                <a:solidFill>
                  <a:srgbClr val="173C33"/>
                </a:solidFill>
              </a:defRPr>
            </a:lvl2pPr>
            <a:lvl3pPr>
              <a:defRPr sz="3450" b="1">
                <a:solidFill>
                  <a:srgbClr val="173C33"/>
                </a:solidFill>
              </a:defRPr>
            </a:lvl3pPr>
            <a:lvl4pPr>
              <a:defRPr sz="3450" b="1">
                <a:solidFill>
                  <a:srgbClr val="173C33"/>
                </a:solidFill>
              </a:defRPr>
            </a:lvl4pPr>
            <a:lvl5pPr>
              <a:defRPr sz="3450" b="1">
                <a:solidFill>
                  <a:srgbClr val="173C33"/>
                </a:solidFill>
              </a:defRPr>
            </a:lvl5pPr>
            <a:lvl6pPr>
              <a:defRPr sz="3450" b="1">
                <a:solidFill>
                  <a:srgbClr val="173C33"/>
                </a:solidFill>
              </a:defRPr>
            </a:lvl6pPr>
            <a:lvl7pPr>
              <a:defRPr sz="3450" b="1">
                <a:solidFill>
                  <a:srgbClr val="173C33"/>
                </a:solidFill>
              </a:defRPr>
            </a:lvl7pPr>
            <a:lvl8pPr>
              <a:defRPr sz="3450" b="1">
                <a:solidFill>
                  <a:srgbClr val="173C33"/>
                </a:solidFill>
              </a:defRPr>
            </a:lvl8pPr>
            <a:lvl9pPr>
              <a:defRPr sz="3450" b="1">
                <a:solidFill>
                  <a:srgbClr val="173C33"/>
                </a:solidFill>
              </a:defRPr>
            </a:lvl9pPr>
          </a:lstStyle>
          <a:p xmlns:a="http://schemas.openxmlformats.org/drawingml/2006/main">
            <a:pPr>
              <a:defRPr sz="3450" b="1">
                <a:solidFill>
                  <a:srgbClr val="173C33"/>
                </a:solidFill>
              </a:defRPr>
            </a:pPr>
            <a:r>
              <a:rPr sz="3450" b="1">
                <a:solidFill>
                  <a:srgbClr val="173C33"/>
                </a:solidFill>
              </a:rPr>
              <a:t>What we validated</a:t>
            </a:r>
          </a:p>
        </p:txBody>
      </p:sp>
      <p:sp>
        <p:nvSpPr>
          <p:cNvPr id="2" name="">
            <a:extLst xmlns:a="http://schemas.openxmlformats.org/drawingml/2006/main">
              <a:ext uri="{FF2B5EF4-FFF2-40B4-BE49-F238E27FC236}">
                <a16:creationId xmlns:a16="http://schemas.microsoft.com/office/drawing/2014/main" id="{98FE4460-3002-4126-B403-FD268EDB42AC}"/>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65C"/>
                </a:solidFill>
              </a:defRPr>
            </a:defPPr>
            <a:lvl1pPr>
              <a:defRPr sz="1500" b="0">
                <a:solidFill>
                  <a:srgbClr val="53665C"/>
                </a:solidFill>
              </a:defRPr>
            </a:lvl1pPr>
            <a:lvl2pPr>
              <a:defRPr sz="1500" b="0">
                <a:solidFill>
                  <a:srgbClr val="53665C"/>
                </a:solidFill>
              </a:defRPr>
            </a:lvl2pPr>
            <a:lvl3pPr>
              <a:defRPr sz="1500" b="0">
                <a:solidFill>
                  <a:srgbClr val="53665C"/>
                </a:solidFill>
              </a:defRPr>
            </a:lvl3pPr>
            <a:lvl4pPr>
              <a:defRPr sz="1500" b="0">
                <a:solidFill>
                  <a:srgbClr val="53665C"/>
                </a:solidFill>
              </a:defRPr>
            </a:lvl4pPr>
            <a:lvl5pPr>
              <a:defRPr sz="1500" b="0">
                <a:solidFill>
                  <a:srgbClr val="53665C"/>
                </a:solidFill>
              </a:defRPr>
            </a:lvl5pPr>
            <a:lvl6pPr>
              <a:defRPr sz="1500" b="0">
                <a:solidFill>
                  <a:srgbClr val="53665C"/>
                </a:solidFill>
              </a:defRPr>
            </a:lvl6pPr>
            <a:lvl7pPr>
              <a:defRPr sz="1500" b="0">
                <a:solidFill>
                  <a:srgbClr val="53665C"/>
                </a:solidFill>
              </a:defRPr>
            </a:lvl7pPr>
            <a:lvl8pPr>
              <a:defRPr sz="1500" b="0">
                <a:solidFill>
                  <a:srgbClr val="53665C"/>
                </a:solidFill>
              </a:defRPr>
            </a:lvl8pPr>
            <a:lvl9pPr>
              <a:defRPr sz="1500" b="0">
                <a:solidFill>
                  <a:srgbClr val="53665C"/>
                </a:solidFill>
              </a:defRPr>
            </a:lvl9pPr>
          </a:lstStyle>
          <a:p xmlns:a="http://schemas.openxmlformats.org/drawingml/2006/main">
            <a:pPr>
              <a:defRPr sz="1500" b="0">
                <a:solidFill>
                  <a:srgbClr val="53665C"/>
                </a:solidFill>
              </a:defRPr>
            </a:pPr>
            <a:r>
              <a:rPr sz="1500" b="0">
                <a:solidFill>
                  <a:srgbClr val="53665C"/>
                </a:solidFill>
              </a:rPr>
              <a:t>14</a:t>
            </a:r>
          </a:p>
        </p:txBody>
      </p:sp>
      <p:sp>
        <p:nvSpPr>
          <p:cNvPr id="3" name="">
            <a:extLst xmlns:a="http://schemas.openxmlformats.org/drawingml/2006/main">
              <a:ext uri="{FF2B5EF4-FFF2-40B4-BE49-F238E27FC236}">
                <a16:creationId xmlns:a16="http://schemas.microsoft.com/office/drawing/2014/main" id="{6421C90A-E9AF-4241-97AA-193010EB5CE7}"/>
              </a:ext>
            </a:extLst>
          </p:cNvPr>
          <p:cNvSpPr>
            <a:spLocks xmlns:a="http://schemas.openxmlformats.org/drawingml/2006/main" noGrp="1"/>
          </p:cNvSpPr>
          <p:nvPr/>
        </p:nvSpPr>
        <p:spPr>
          <a:xfrm xmlns:a="http://schemas.openxmlformats.org/drawingml/2006/main">
            <a:off x="685800" y="1933575"/>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350" b="1">
                <a:solidFill>
                  <a:srgbClr val="173C33"/>
                </a:solidFill>
              </a:defRPr>
            </a:defPPr>
            <a:lvl1pPr>
              <a:defRPr sz="7350" b="1">
                <a:solidFill>
                  <a:srgbClr val="173C33"/>
                </a:solidFill>
              </a:defRPr>
            </a:lvl1pPr>
            <a:lvl2pPr>
              <a:defRPr sz="7350" b="1">
                <a:solidFill>
                  <a:srgbClr val="173C33"/>
                </a:solidFill>
              </a:defRPr>
            </a:lvl2pPr>
            <a:lvl3pPr>
              <a:defRPr sz="7350" b="1">
                <a:solidFill>
                  <a:srgbClr val="173C33"/>
                </a:solidFill>
              </a:defRPr>
            </a:lvl3pPr>
            <a:lvl4pPr>
              <a:defRPr sz="7350" b="1">
                <a:solidFill>
                  <a:srgbClr val="173C33"/>
                </a:solidFill>
              </a:defRPr>
            </a:lvl4pPr>
            <a:lvl5pPr>
              <a:defRPr sz="7350" b="1">
                <a:solidFill>
                  <a:srgbClr val="173C33"/>
                </a:solidFill>
              </a:defRPr>
            </a:lvl5pPr>
            <a:lvl6pPr>
              <a:defRPr sz="7350" b="1">
                <a:solidFill>
                  <a:srgbClr val="173C33"/>
                </a:solidFill>
              </a:defRPr>
            </a:lvl6pPr>
            <a:lvl7pPr>
              <a:defRPr sz="7350" b="1">
                <a:solidFill>
                  <a:srgbClr val="173C33"/>
                </a:solidFill>
              </a:defRPr>
            </a:lvl7pPr>
            <a:lvl8pPr>
              <a:defRPr sz="7350" b="1">
                <a:solidFill>
                  <a:srgbClr val="173C33"/>
                </a:solidFill>
              </a:defRPr>
            </a:lvl8pPr>
            <a:lvl9pPr>
              <a:defRPr sz="7350" b="1">
                <a:solidFill>
                  <a:srgbClr val="173C33"/>
                </a:solidFill>
              </a:defRPr>
            </a:lvl9pPr>
          </a:lstStyle>
          <a:p xmlns:a="http://schemas.openxmlformats.org/drawingml/2006/main">
            <a:pPr>
              <a:defRPr sz="7350" b="1">
                <a:solidFill>
                  <a:srgbClr val="173C33"/>
                </a:solidFill>
              </a:defRPr>
            </a:pPr>
            <a:r>
              <a:rPr sz="7350" b="1">
                <a:solidFill>
                  <a:srgbClr val="173C33"/>
                </a:solidFill>
              </a:rPr>
              <a:t>344</a:t>
            </a:r>
          </a:p>
        </p:txBody>
      </p:sp>
      <p:sp>
        <p:nvSpPr>
          <p:cNvPr id="4" name="">
            <a:extLst xmlns:a="http://schemas.openxmlformats.org/drawingml/2006/main">
              <a:ext uri="{FF2B5EF4-FFF2-40B4-BE49-F238E27FC236}">
                <a16:creationId xmlns:a16="http://schemas.microsoft.com/office/drawing/2014/main" id="{430EDA18-44C6-49D4-A052-566658AF7075}"/>
              </a:ext>
            </a:extLst>
          </p:cNvPr>
          <p:cNvSpPr>
            <a:spLocks xmlns:a="http://schemas.openxmlformats.org/drawingml/2006/main" noGrp="1"/>
          </p:cNvSpPr>
          <p:nvPr/>
        </p:nvSpPr>
        <p:spPr>
          <a:xfrm xmlns:a="http://schemas.openxmlformats.org/drawingml/2006/main">
            <a:off x="742950" y="3343275"/>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3"/>
                </a:solidFill>
              </a:defRPr>
            </a:defPPr>
            <a:lvl1pPr>
              <a:defRPr sz="2325" b="0">
                <a:solidFill>
                  <a:srgbClr val="173C33"/>
                </a:solidFill>
              </a:defRPr>
            </a:lvl1pPr>
            <a:lvl2pPr>
              <a:defRPr sz="2325" b="0">
                <a:solidFill>
                  <a:srgbClr val="173C33"/>
                </a:solidFill>
              </a:defRPr>
            </a:lvl2pPr>
            <a:lvl3pPr>
              <a:defRPr sz="2325" b="0">
                <a:solidFill>
                  <a:srgbClr val="173C33"/>
                </a:solidFill>
              </a:defRPr>
            </a:lvl3pPr>
            <a:lvl4pPr>
              <a:defRPr sz="2325" b="0">
                <a:solidFill>
                  <a:srgbClr val="173C33"/>
                </a:solidFill>
              </a:defRPr>
            </a:lvl4pPr>
            <a:lvl5pPr>
              <a:defRPr sz="2325" b="0">
                <a:solidFill>
                  <a:srgbClr val="173C33"/>
                </a:solidFill>
              </a:defRPr>
            </a:lvl5pPr>
            <a:lvl6pPr>
              <a:defRPr sz="2325" b="0">
                <a:solidFill>
                  <a:srgbClr val="173C33"/>
                </a:solidFill>
              </a:defRPr>
            </a:lvl6pPr>
            <a:lvl7pPr>
              <a:defRPr sz="2325" b="0">
                <a:solidFill>
                  <a:srgbClr val="173C33"/>
                </a:solidFill>
              </a:defRPr>
            </a:lvl7pPr>
            <a:lvl8pPr>
              <a:defRPr sz="2325" b="0">
                <a:solidFill>
                  <a:srgbClr val="173C33"/>
                </a:solidFill>
              </a:defRPr>
            </a:lvl8pPr>
            <a:lvl9pPr>
              <a:defRPr sz="2325" b="0">
                <a:solidFill>
                  <a:srgbClr val="173C33"/>
                </a:solidFill>
              </a:defRPr>
            </a:lvl9pPr>
          </a:lstStyle>
          <a:p xmlns:a="http://schemas.openxmlformats.org/drawingml/2006/main">
            <a:pPr>
              <a:defRPr sz="2325" b="0">
                <a:solidFill>
                  <a:srgbClr val="173C33"/>
                </a:solidFill>
              </a:defRPr>
            </a:pPr>
            <a:r>
              <a:rPr sz="2325" b="0">
                <a:solidFill>
                  <a:srgbClr val="173C33"/>
                </a:solidFill>
              </a:rPr>
              <a:t>offline tests</a:t>
            </a:r>
          </a:p>
        </p:txBody>
      </p:sp>
      <p:sp>
        <p:nvSpPr>
          <p:cNvPr id="5" name="">
            <a:extLst xmlns:a="http://schemas.openxmlformats.org/drawingml/2006/main">
              <a:ext uri="{FF2B5EF4-FFF2-40B4-BE49-F238E27FC236}">
                <a16:creationId xmlns:a16="http://schemas.microsoft.com/office/drawing/2014/main" id="{C9B086A5-0E78-4650-8062-0C8DF7035AD4}"/>
              </a:ext>
            </a:extLst>
          </p:cNvPr>
          <p:cNvSpPr>
            <a:spLocks xmlns:a="http://schemas.openxmlformats.org/drawingml/2006/main" noGrp="1"/>
          </p:cNvSpPr>
          <p:nvPr/>
        </p:nvSpPr>
        <p:spPr>
          <a:xfrm xmlns:a="http://schemas.openxmlformats.org/drawingml/2006/main">
            <a:off x="742950" y="41719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75A32"/>
                </a:solidFill>
              </a:defRPr>
            </a:defPPr>
            <a:lvl1pPr>
              <a:defRPr sz="2550" b="1">
                <a:solidFill>
                  <a:srgbClr val="B75A32"/>
                </a:solidFill>
              </a:defRPr>
            </a:lvl1pPr>
            <a:lvl2pPr>
              <a:defRPr sz="2550" b="1">
                <a:solidFill>
                  <a:srgbClr val="B75A32"/>
                </a:solidFill>
              </a:defRPr>
            </a:lvl2pPr>
            <a:lvl3pPr>
              <a:defRPr sz="2550" b="1">
                <a:solidFill>
                  <a:srgbClr val="B75A32"/>
                </a:solidFill>
              </a:defRPr>
            </a:lvl3pPr>
            <a:lvl4pPr>
              <a:defRPr sz="2550" b="1">
                <a:solidFill>
                  <a:srgbClr val="B75A32"/>
                </a:solidFill>
              </a:defRPr>
            </a:lvl4pPr>
            <a:lvl5pPr>
              <a:defRPr sz="2550" b="1">
                <a:solidFill>
                  <a:srgbClr val="B75A32"/>
                </a:solidFill>
              </a:defRPr>
            </a:lvl5pPr>
            <a:lvl6pPr>
              <a:defRPr sz="2550" b="1">
                <a:solidFill>
                  <a:srgbClr val="B75A32"/>
                </a:solidFill>
              </a:defRPr>
            </a:lvl6pPr>
            <a:lvl7pPr>
              <a:defRPr sz="2550" b="1">
                <a:solidFill>
                  <a:srgbClr val="B75A32"/>
                </a:solidFill>
              </a:defRPr>
            </a:lvl7pPr>
            <a:lvl8pPr>
              <a:defRPr sz="2550" b="1">
                <a:solidFill>
                  <a:srgbClr val="B75A32"/>
                </a:solidFill>
              </a:defRPr>
            </a:lvl8pPr>
            <a:lvl9pPr>
              <a:defRPr sz="2550" b="1">
                <a:solidFill>
                  <a:srgbClr val="B75A32"/>
                </a:solidFill>
              </a:defRPr>
            </a:lvl9pPr>
          </a:lstStyle>
          <a:p xmlns:a="http://schemas.openxmlformats.org/drawingml/2006/main">
            <a:pPr>
              <a:defRPr sz="2550" b="1">
                <a:solidFill>
                  <a:srgbClr val="B75A32"/>
                </a:solidFill>
              </a:defRPr>
            </a:pPr>
            <a:r>
              <a:rPr sz="2550" b="1">
                <a:solidFill>
                  <a:srgbClr val="B75A32"/>
                </a:solidFill>
              </a:rPr>
              <a:t>+ 1 real integration test</a:t>
            </a:r>
          </a:p>
        </p:txBody>
      </p:sp>
      <p:sp>
        <p:nvSpPr>
          <p:cNvPr id="6" name="">
            <a:extLst xmlns:a="http://schemas.openxmlformats.org/drawingml/2006/main">
              <a:ext uri="{FF2B5EF4-FFF2-40B4-BE49-F238E27FC236}">
                <a16:creationId xmlns:a16="http://schemas.microsoft.com/office/drawing/2014/main" id="{1917F6A7-F420-4AC7-A0D7-69FEEEFFDEAF}"/>
              </a:ext>
            </a:extLst>
          </p:cNvPr>
          <p:cNvSpPr>
            <a:spLocks xmlns:a="http://schemas.openxmlformats.org/drawingml/2006/main" noGrp="1"/>
          </p:cNvSpPr>
          <p:nvPr/>
        </p:nvSpPr>
        <p:spPr>
          <a:xfrm xmlns:a="http://schemas.openxmlformats.org/drawingml/2006/main">
            <a:off x="6953250" y="1933575"/>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173C33"/>
                </a:solidFill>
              </a:defRPr>
            </a:defPPr>
            <a:lvl1pPr>
              <a:defRPr sz="6600" b="1">
                <a:solidFill>
                  <a:srgbClr val="173C33"/>
                </a:solidFill>
              </a:defRPr>
            </a:lvl1pPr>
            <a:lvl2pPr>
              <a:defRPr sz="6600" b="1">
                <a:solidFill>
                  <a:srgbClr val="173C33"/>
                </a:solidFill>
              </a:defRPr>
            </a:lvl2pPr>
            <a:lvl3pPr>
              <a:defRPr sz="6600" b="1">
                <a:solidFill>
                  <a:srgbClr val="173C33"/>
                </a:solidFill>
              </a:defRPr>
            </a:lvl3pPr>
            <a:lvl4pPr>
              <a:defRPr sz="6600" b="1">
                <a:solidFill>
                  <a:srgbClr val="173C33"/>
                </a:solidFill>
              </a:defRPr>
            </a:lvl4pPr>
            <a:lvl5pPr>
              <a:defRPr sz="6600" b="1">
                <a:solidFill>
                  <a:srgbClr val="173C33"/>
                </a:solidFill>
              </a:defRPr>
            </a:lvl5pPr>
            <a:lvl6pPr>
              <a:defRPr sz="6600" b="1">
                <a:solidFill>
                  <a:srgbClr val="173C33"/>
                </a:solidFill>
              </a:defRPr>
            </a:lvl6pPr>
            <a:lvl7pPr>
              <a:defRPr sz="6600" b="1">
                <a:solidFill>
                  <a:srgbClr val="173C33"/>
                </a:solidFill>
              </a:defRPr>
            </a:lvl7pPr>
            <a:lvl8pPr>
              <a:defRPr sz="6600" b="1">
                <a:solidFill>
                  <a:srgbClr val="173C33"/>
                </a:solidFill>
              </a:defRPr>
            </a:lvl8pPr>
            <a:lvl9pPr>
              <a:defRPr sz="6600" b="1">
                <a:solidFill>
                  <a:srgbClr val="173C33"/>
                </a:solidFill>
              </a:defRPr>
            </a:lvl9pPr>
          </a:lstStyle>
          <a:p xmlns:a="http://schemas.openxmlformats.org/drawingml/2006/main">
            <a:pPr>
              <a:defRPr sz="6600" b="1">
                <a:solidFill>
                  <a:srgbClr val="173C33"/>
                </a:solidFill>
              </a:defRPr>
            </a:pPr>
            <a:r>
              <a:rPr sz="6600" b="1">
                <a:solidFill>
                  <a:srgbClr val="173C33"/>
                </a:solidFill>
              </a:rPr>
              <a:t>71.25%</a:t>
            </a:r>
          </a:p>
        </p:txBody>
      </p:sp>
      <p:sp>
        <p:nvSpPr>
          <p:cNvPr id="7" name="">
            <a:extLst xmlns:a="http://schemas.openxmlformats.org/drawingml/2006/main">
              <a:ext uri="{FF2B5EF4-FFF2-40B4-BE49-F238E27FC236}">
                <a16:creationId xmlns:a16="http://schemas.microsoft.com/office/drawing/2014/main" id="{6C9F4354-E1DE-411D-9FF4-A5A577DA33D0}"/>
              </a:ext>
            </a:extLst>
          </p:cNvPr>
          <p:cNvSpPr>
            <a:spLocks xmlns:a="http://schemas.openxmlformats.org/drawingml/2006/main" noGrp="1"/>
          </p:cNvSpPr>
          <p:nvPr/>
        </p:nvSpPr>
        <p:spPr>
          <a:xfrm xmlns:a="http://schemas.openxmlformats.org/drawingml/2006/main">
            <a:off x="7019925" y="3343275"/>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3"/>
                </a:solidFill>
              </a:defRPr>
            </a:defPPr>
            <a:lvl1pPr>
              <a:defRPr sz="2325" b="0">
                <a:solidFill>
                  <a:srgbClr val="173C33"/>
                </a:solidFill>
              </a:defRPr>
            </a:lvl1pPr>
            <a:lvl2pPr>
              <a:defRPr sz="2325" b="0">
                <a:solidFill>
                  <a:srgbClr val="173C33"/>
                </a:solidFill>
              </a:defRPr>
            </a:lvl2pPr>
            <a:lvl3pPr>
              <a:defRPr sz="2325" b="0">
                <a:solidFill>
                  <a:srgbClr val="173C33"/>
                </a:solidFill>
              </a:defRPr>
            </a:lvl3pPr>
            <a:lvl4pPr>
              <a:defRPr sz="2325" b="0">
                <a:solidFill>
                  <a:srgbClr val="173C33"/>
                </a:solidFill>
              </a:defRPr>
            </a:lvl4pPr>
            <a:lvl5pPr>
              <a:defRPr sz="2325" b="0">
                <a:solidFill>
                  <a:srgbClr val="173C33"/>
                </a:solidFill>
              </a:defRPr>
            </a:lvl5pPr>
            <a:lvl6pPr>
              <a:defRPr sz="2325" b="0">
                <a:solidFill>
                  <a:srgbClr val="173C33"/>
                </a:solidFill>
              </a:defRPr>
            </a:lvl6pPr>
            <a:lvl7pPr>
              <a:defRPr sz="2325" b="0">
                <a:solidFill>
                  <a:srgbClr val="173C33"/>
                </a:solidFill>
              </a:defRPr>
            </a:lvl7pPr>
            <a:lvl8pPr>
              <a:defRPr sz="2325" b="0">
                <a:solidFill>
                  <a:srgbClr val="173C33"/>
                </a:solidFill>
              </a:defRPr>
            </a:lvl8pPr>
            <a:lvl9pPr>
              <a:defRPr sz="2325" b="0">
                <a:solidFill>
                  <a:srgbClr val="173C33"/>
                </a:solidFill>
              </a:defRPr>
            </a:lvl9pPr>
          </a:lstStyle>
          <a:p xmlns:a="http://schemas.openxmlformats.org/drawingml/2006/main">
            <a:pPr>
              <a:defRPr sz="2325" b="0">
                <a:solidFill>
                  <a:srgbClr val="173C33"/>
                </a:solidFill>
              </a:defRPr>
            </a:pPr>
            <a:r>
              <a:rPr sz="2325" b="0">
                <a:solidFill>
                  <a:srgbClr val="173C33"/>
                </a:solidFill>
              </a:rPr>
              <a:t>combined coverage</a:t>
            </a:r>
          </a:p>
        </p:txBody>
      </p:sp>
      <p:sp>
        <p:nvSpPr>
          <p:cNvPr id="8" name="">
            <a:extLst xmlns:a="http://schemas.openxmlformats.org/drawingml/2006/main">
              <a:ext uri="{FF2B5EF4-FFF2-40B4-BE49-F238E27FC236}">
                <a16:creationId xmlns:a16="http://schemas.microsoft.com/office/drawing/2014/main" id="{4EDA965D-827B-46FE-A65A-27B2147FC833}"/>
              </a:ext>
            </a:extLst>
          </p:cNvPr>
          <p:cNvSpPr>
            <a:spLocks xmlns:a="http://schemas.openxmlformats.org/drawingml/2006/main" noGrp="1"/>
          </p:cNvSpPr>
          <p:nvPr/>
        </p:nvSpPr>
        <p:spPr>
          <a:xfrm xmlns:a="http://schemas.openxmlformats.org/drawingml/2006/main">
            <a:off x="7019925" y="417195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C33"/>
                </a:solidFill>
              </a:defRPr>
            </a:defPPr>
            <a:lvl1pPr>
              <a:defRPr sz="2175" b="0">
                <a:solidFill>
                  <a:srgbClr val="173C33"/>
                </a:solidFill>
              </a:defRPr>
            </a:lvl1pPr>
            <a:lvl2pPr>
              <a:defRPr sz="2175" b="0">
                <a:solidFill>
                  <a:srgbClr val="173C33"/>
                </a:solidFill>
              </a:defRPr>
            </a:lvl2pPr>
            <a:lvl3pPr>
              <a:defRPr sz="2175" b="0">
                <a:solidFill>
                  <a:srgbClr val="173C33"/>
                </a:solidFill>
              </a:defRPr>
            </a:lvl3pPr>
            <a:lvl4pPr>
              <a:defRPr sz="2175" b="0">
                <a:solidFill>
                  <a:srgbClr val="173C33"/>
                </a:solidFill>
              </a:defRPr>
            </a:lvl4pPr>
            <a:lvl5pPr>
              <a:defRPr sz="2175" b="0">
                <a:solidFill>
                  <a:srgbClr val="173C33"/>
                </a:solidFill>
              </a:defRPr>
            </a:lvl5pPr>
            <a:lvl6pPr>
              <a:defRPr sz="2175" b="0">
                <a:solidFill>
                  <a:srgbClr val="173C33"/>
                </a:solidFill>
              </a:defRPr>
            </a:lvl6pPr>
            <a:lvl7pPr>
              <a:defRPr sz="2175" b="0">
                <a:solidFill>
                  <a:srgbClr val="173C33"/>
                </a:solidFill>
              </a:defRPr>
            </a:lvl7pPr>
            <a:lvl8pPr>
              <a:defRPr sz="2175" b="0">
                <a:solidFill>
                  <a:srgbClr val="173C33"/>
                </a:solidFill>
              </a:defRPr>
            </a:lvl8pPr>
            <a:lvl9pPr>
              <a:defRPr sz="2175" b="0">
                <a:solidFill>
                  <a:srgbClr val="173C33"/>
                </a:solidFill>
              </a:defRPr>
            </a:lvl9pPr>
          </a:lstStyle>
          <a:p xmlns:a="http://schemas.openxmlformats.org/drawingml/2006/main">
            <a:pPr>
              <a:defRPr sz="2175" b="0">
                <a:solidFill>
                  <a:srgbClr val="173C33"/>
                </a:solidFill>
              </a:defRPr>
            </a:pPr>
            <a:r>
              <a:rPr sz="2175" b="0">
                <a:solidFill>
                  <a:srgbClr val="173C33"/>
                </a:solidFill>
              </a:rPr>
              <a:t>6,021 original vectors</a:t>
            </a:r>
          </a:p>
          <a:p xmlns:a="http://schemas.openxmlformats.org/drawingml/2006/main">
            <a:pPr>
              <a:defRPr sz="2175" b="0">
                <a:solidFill>
                  <a:srgbClr val="173C33"/>
                </a:solidFill>
              </a:defRPr>
            </a:pPr>
            <a:r>
              <a:rPr sz="2175" b="0">
                <a:solidFill>
                  <a:srgbClr val="173C33"/>
                </a:solidFill>
              </a:rPr>
              <a:t>with identical files and hashes</a:t>
            </a:r>
          </a:p>
        </p:txBody>
      </p:sp>
      <p:sp>
        <p:nvSpPr>
          <p:cNvPr id="9" name="">
            <a:extLst xmlns:a="http://schemas.openxmlformats.org/drawingml/2006/main">
              <a:ext uri="{FF2B5EF4-FFF2-40B4-BE49-F238E27FC236}">
                <a16:creationId xmlns:a16="http://schemas.microsoft.com/office/drawing/2014/main" id="{AD74EE65-2F3C-45C9-85BC-A99FD422C384}"/>
              </a:ext>
            </a:extLst>
          </p:cNvPr>
          <p:cNvSpPr>
            <a:spLocks xmlns:a="http://schemas.openxmlformats.org/drawingml/2006/main" noGrp="1"/>
          </p:cNvSpPr>
          <p:nvPr/>
        </p:nvSpPr>
        <p:spPr>
          <a:xfrm xmlns:a="http://schemas.openxmlformats.org/drawingml/2006/main">
            <a:off x="685800" y="57245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3665C"/>
                </a:solidFill>
              </a:defRPr>
            </a:defPPr>
            <a:lvl1pPr>
              <a:defRPr sz="2025" b="0">
                <a:solidFill>
                  <a:srgbClr val="53665C"/>
                </a:solidFill>
              </a:defRPr>
            </a:lvl1pPr>
            <a:lvl2pPr>
              <a:defRPr sz="2025" b="0">
                <a:solidFill>
                  <a:srgbClr val="53665C"/>
                </a:solidFill>
              </a:defRPr>
            </a:lvl2pPr>
            <a:lvl3pPr>
              <a:defRPr sz="2025" b="0">
                <a:solidFill>
                  <a:srgbClr val="53665C"/>
                </a:solidFill>
              </a:defRPr>
            </a:lvl3pPr>
            <a:lvl4pPr>
              <a:defRPr sz="2025" b="0">
                <a:solidFill>
                  <a:srgbClr val="53665C"/>
                </a:solidFill>
              </a:defRPr>
            </a:lvl4pPr>
            <a:lvl5pPr>
              <a:defRPr sz="2025" b="0">
                <a:solidFill>
                  <a:srgbClr val="53665C"/>
                </a:solidFill>
              </a:defRPr>
            </a:lvl5pPr>
            <a:lvl6pPr>
              <a:defRPr sz="2025" b="0">
                <a:solidFill>
                  <a:srgbClr val="53665C"/>
                </a:solidFill>
              </a:defRPr>
            </a:lvl6pPr>
            <a:lvl7pPr>
              <a:defRPr sz="2025" b="0">
                <a:solidFill>
                  <a:srgbClr val="53665C"/>
                </a:solidFill>
              </a:defRPr>
            </a:lvl7pPr>
            <a:lvl8pPr>
              <a:defRPr sz="2025" b="0">
                <a:solidFill>
                  <a:srgbClr val="53665C"/>
                </a:solidFill>
              </a:defRPr>
            </a:lvl8pPr>
            <a:lvl9pPr>
              <a:defRPr sz="2025" b="0">
                <a:solidFill>
                  <a:srgbClr val="53665C"/>
                </a:solidFill>
              </a:defRPr>
            </a:lvl9pPr>
          </a:lstStyle>
          <a:p xmlns:a="http://schemas.openxmlformats.org/drawingml/2006/main">
            <a:pPr>
              <a:defRPr sz="2025" b="0">
                <a:solidFill>
                  <a:srgbClr val="53665C"/>
                </a:solidFill>
              </a:defRPr>
            </a:pPr>
            <a:r>
              <a:rPr sz="2025" b="0">
                <a:solidFill>
                  <a:srgbClr val="53665C"/>
                </a:solidFill>
              </a:rPr>
              <a:t>Windows / Linux CI configured · verify the published commit</a:t>
            </a:r>
          </a:p>
        </p:txBody>
      </p:sp>
    </p:spTree>
    <p:extLst>
      <p:ext uri="{BB962C8B-B14F-4D97-AF65-F5344CB8AC3E}">
        <p14:creationId xmlns:p14="http://schemas.microsoft.com/office/powerpoint/2010/main" val="2023992416"/>
      </p:ext>
    </p:extLst>
  </p:cSld>
</p:sld>
</file>

<file path=ppt/slides/slide15.xml><?xml version="1.0" encoding="utf-8"?>
<p:sld xmlns:p="http://schemas.openxmlformats.org/presentationml/2006/main">
  <p:cSld>
    <p:bg>
      <p:bgPr>
        <a:solidFill xmlns:a="http://schemas.openxmlformats.org/drawingml/2006/main">
          <a:srgbClr val="173C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08947B-FD61-4614-AE65-3E39CECE2CD5}"/>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4F1E8"/>
                </a:solidFill>
              </a:defRPr>
            </a:defPPr>
            <a:lvl1pPr>
              <a:defRPr sz="3600" b="1">
                <a:solidFill>
                  <a:srgbClr val="F4F1E8"/>
                </a:solidFill>
              </a:defRPr>
            </a:lvl1pPr>
            <a:lvl2pPr>
              <a:defRPr sz="3600" b="1">
                <a:solidFill>
                  <a:srgbClr val="F4F1E8"/>
                </a:solidFill>
              </a:defRPr>
            </a:lvl2pPr>
            <a:lvl3pPr>
              <a:defRPr sz="3600" b="1">
                <a:solidFill>
                  <a:srgbClr val="F4F1E8"/>
                </a:solidFill>
              </a:defRPr>
            </a:lvl3pPr>
            <a:lvl4pPr>
              <a:defRPr sz="3600" b="1">
                <a:solidFill>
                  <a:srgbClr val="F4F1E8"/>
                </a:solidFill>
              </a:defRPr>
            </a:lvl4pPr>
            <a:lvl5pPr>
              <a:defRPr sz="3600" b="1">
                <a:solidFill>
                  <a:srgbClr val="F4F1E8"/>
                </a:solidFill>
              </a:defRPr>
            </a:lvl5pPr>
            <a:lvl6pPr>
              <a:defRPr sz="3600" b="1">
                <a:solidFill>
                  <a:srgbClr val="F4F1E8"/>
                </a:solidFill>
              </a:defRPr>
            </a:lvl6pPr>
            <a:lvl7pPr>
              <a:defRPr sz="3600" b="1">
                <a:solidFill>
                  <a:srgbClr val="F4F1E8"/>
                </a:solidFill>
              </a:defRPr>
            </a:lvl7pPr>
            <a:lvl8pPr>
              <a:defRPr sz="3600" b="1">
                <a:solidFill>
                  <a:srgbClr val="F4F1E8"/>
                </a:solidFill>
              </a:defRPr>
            </a:lvl8pPr>
            <a:lvl9pPr>
              <a:defRPr sz="3600" b="1">
                <a:solidFill>
                  <a:srgbClr val="F4F1E8"/>
                </a:solidFill>
              </a:defRPr>
            </a:lvl9pPr>
          </a:lstStyle>
          <a:p xmlns:a="http://schemas.openxmlformats.org/drawingml/2006/main">
            <a:pPr>
              <a:defRPr sz="3600" b="1">
                <a:solidFill>
                  <a:srgbClr val="F4F1E8"/>
                </a:solidFill>
              </a:defRPr>
            </a:pPr>
            <a:r>
              <a:rPr sz="3600" b="1">
                <a:solidFill>
                  <a:srgbClr val="F4F1E8"/>
                </a:solidFill>
              </a:rPr>
              <a:t>A query with a traceable path</a:t>
            </a:r>
          </a:p>
        </p:txBody>
      </p:sp>
      <p:sp>
        <p:nvSpPr>
          <p:cNvPr id="2" name="">
            <a:extLst xmlns:a="http://schemas.openxmlformats.org/drawingml/2006/main">
              <a:ext uri="{FF2B5EF4-FFF2-40B4-BE49-F238E27FC236}">
                <a16:creationId xmlns:a16="http://schemas.microsoft.com/office/drawing/2014/main" id="{12016D21-0041-4729-A4F0-92D90B42FC4D}"/>
              </a:ext>
            </a:extLst>
          </p:cNvPr>
          <p:cNvSpPr>
            <a:spLocks xmlns:a="http://schemas.openxmlformats.org/drawingml/2006/main" noGrp="1"/>
          </p:cNvSpPr>
          <p:nvPr/>
        </p:nvSpPr>
        <p:spPr>
          <a:xfrm xmlns:a="http://schemas.openxmlformats.org/drawingml/2006/main">
            <a:off x="11144250" y="63627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5CDBC"/>
                </a:solidFill>
              </a:defRPr>
            </a:defPPr>
            <a:lvl1pPr>
              <a:defRPr sz="1500" b="0">
                <a:solidFill>
                  <a:srgbClr val="C5CDBC"/>
                </a:solidFill>
              </a:defRPr>
            </a:lvl1pPr>
            <a:lvl2pPr>
              <a:defRPr sz="1500" b="0">
                <a:solidFill>
                  <a:srgbClr val="C5CDBC"/>
                </a:solidFill>
              </a:defRPr>
            </a:lvl2pPr>
            <a:lvl3pPr>
              <a:defRPr sz="1500" b="0">
                <a:solidFill>
                  <a:srgbClr val="C5CDBC"/>
                </a:solidFill>
              </a:defRPr>
            </a:lvl3pPr>
            <a:lvl4pPr>
              <a:defRPr sz="1500" b="0">
                <a:solidFill>
                  <a:srgbClr val="C5CDBC"/>
                </a:solidFill>
              </a:defRPr>
            </a:lvl4pPr>
            <a:lvl5pPr>
              <a:defRPr sz="1500" b="0">
                <a:solidFill>
                  <a:srgbClr val="C5CDBC"/>
                </a:solidFill>
              </a:defRPr>
            </a:lvl5pPr>
            <a:lvl6pPr>
              <a:defRPr sz="1500" b="0">
                <a:solidFill>
                  <a:srgbClr val="C5CDBC"/>
                </a:solidFill>
              </a:defRPr>
            </a:lvl6pPr>
            <a:lvl7pPr>
              <a:defRPr sz="1500" b="0">
                <a:solidFill>
                  <a:srgbClr val="C5CDBC"/>
                </a:solidFill>
              </a:defRPr>
            </a:lvl7pPr>
            <a:lvl8pPr>
              <a:defRPr sz="1500" b="0">
                <a:solidFill>
                  <a:srgbClr val="C5CDBC"/>
                </a:solidFill>
              </a:defRPr>
            </a:lvl8pPr>
            <a:lvl9pPr>
              <a:defRPr sz="1500" b="0">
                <a:solidFill>
                  <a:srgbClr val="C5CDBC"/>
                </a:solidFill>
              </a:defRPr>
            </a:lvl9pPr>
          </a:lstStyle>
          <a:p xmlns:a="http://schemas.openxmlformats.org/drawingml/2006/main">
            <a:pPr>
              <a:defRPr sz="1500" b="0">
                <a:solidFill>
                  <a:srgbClr val="C5CDBC"/>
                </a:solidFill>
              </a:defRPr>
            </a:pPr>
            <a:r>
              <a:rPr sz="1500" b="0">
                <a:solidFill>
                  <a:srgbClr val="C5CDBC"/>
                </a:solidFill>
              </a:rPr>
              <a:t>15</a:t>
            </a:r>
          </a:p>
        </p:txBody>
      </p:sp>
      <p:sp>
        <p:nvSpPr>
          <p:cNvPr id="3" name="">
            <a:extLst xmlns:a="http://schemas.openxmlformats.org/drawingml/2006/main">
              <a:ext uri="{FF2B5EF4-FFF2-40B4-BE49-F238E27FC236}">
                <a16:creationId xmlns:a16="http://schemas.microsoft.com/office/drawing/2014/main" id="{416DCEC7-689D-45BE-873F-D36762869B9E}"/>
              </a:ext>
            </a:extLst>
          </p:cNvPr>
          <p:cNvSpPr>
            <a:spLocks xmlns:a="http://schemas.openxmlformats.org/drawingml/2006/main" noGrp="1"/>
          </p:cNvSpPr>
          <p:nvPr/>
        </p:nvSpPr>
        <p:spPr>
          <a:xfrm xmlns:a="http://schemas.openxmlformats.org/drawingml/2006/main">
            <a:off x="685800" y="20669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F4F1E8"/>
                </a:solidFill>
              </a:defRPr>
            </a:defPPr>
            <a:lvl1pPr>
              <a:defRPr sz="3300" b="0">
                <a:solidFill>
                  <a:srgbClr val="F4F1E8"/>
                </a:solidFill>
              </a:defRPr>
            </a:lvl1pPr>
            <a:lvl2pPr>
              <a:defRPr sz="3300" b="0">
                <a:solidFill>
                  <a:srgbClr val="F4F1E8"/>
                </a:solidFill>
              </a:defRPr>
            </a:lvl2pPr>
            <a:lvl3pPr>
              <a:defRPr sz="3300" b="0">
                <a:solidFill>
                  <a:srgbClr val="F4F1E8"/>
                </a:solidFill>
              </a:defRPr>
            </a:lvl3pPr>
            <a:lvl4pPr>
              <a:defRPr sz="3300" b="0">
                <a:solidFill>
                  <a:srgbClr val="F4F1E8"/>
                </a:solidFill>
              </a:defRPr>
            </a:lvl4pPr>
            <a:lvl5pPr>
              <a:defRPr sz="3300" b="0">
                <a:solidFill>
                  <a:srgbClr val="F4F1E8"/>
                </a:solidFill>
              </a:defRPr>
            </a:lvl5pPr>
            <a:lvl6pPr>
              <a:defRPr sz="3300" b="0">
                <a:solidFill>
                  <a:srgbClr val="F4F1E8"/>
                </a:solidFill>
              </a:defRPr>
            </a:lvl6pPr>
            <a:lvl7pPr>
              <a:defRPr sz="3300" b="0">
                <a:solidFill>
                  <a:srgbClr val="F4F1E8"/>
                </a:solidFill>
              </a:defRPr>
            </a:lvl7pPr>
            <a:lvl8pPr>
              <a:defRPr sz="3300" b="0">
                <a:solidFill>
                  <a:srgbClr val="F4F1E8"/>
                </a:solidFill>
              </a:defRPr>
            </a:lvl8pPr>
            <a:lvl9pPr>
              <a:defRPr sz="3300" b="0">
                <a:solidFill>
                  <a:srgbClr val="F4F1E8"/>
                </a:solidFill>
              </a:defRPr>
            </a:lvl9pPr>
          </a:lstStyle>
          <a:p xmlns:a="http://schemas.openxmlformats.org/drawingml/2006/main">
            <a:pPr>
              <a:defRPr sz="3300" b="0">
                <a:solidFill>
                  <a:srgbClr val="F4F1E8"/>
                </a:solidFill>
              </a:defRPr>
            </a:pPr>
            <a:r>
              <a:rPr sz="3300" b="0">
                <a:solidFill>
                  <a:srgbClr val="F4F1E8"/>
                </a:solidFill>
              </a:rPr>
              <a:t>Preserved originals</a:t>
            </a:r>
          </a:p>
          <a:p xmlns:a="http://schemas.openxmlformats.org/drawingml/2006/main">
            <a:pPr>
              <a:defRPr sz="3300" b="0">
                <a:solidFill>
                  <a:srgbClr val="F4F1E8"/>
                </a:solidFill>
              </a:defRPr>
            </a:pPr>
            <a:r>
              <a:rPr sz="3300" b="0">
                <a:solidFill>
                  <a:srgbClr val="F4F1E8"/>
                </a:solidFill>
              </a:rPr>
              <a:t>Retrieval across three modalities</a:t>
            </a:r>
          </a:p>
          <a:p xmlns:a="http://schemas.openxmlformats.org/drawingml/2006/main">
            <a:pPr>
              <a:defRPr sz="3300" b="0">
                <a:solidFill>
                  <a:srgbClr val="F4F1E8"/>
                </a:solidFill>
              </a:defRPr>
            </a:pPr>
            <a:r>
              <a:rPr sz="3300" b="0">
                <a:solidFill>
                  <a:srgbClr val="F4F1E8"/>
                </a:solidFill>
              </a:rPr>
              <a:t>Answers linked to sources</a:t>
            </a:r>
          </a:p>
        </p:txBody>
      </p:sp>
      <p:sp>
        <p:nvSpPr>
          <p:cNvPr id="4" name="">
            <a:extLst xmlns:a="http://schemas.openxmlformats.org/drawingml/2006/main">
              <a:ext uri="{FF2B5EF4-FFF2-40B4-BE49-F238E27FC236}">
                <a16:creationId xmlns:a16="http://schemas.microsoft.com/office/drawing/2014/main" id="{E0BA537D-3BF5-4F0E-A00D-CBA113CE4449}"/>
              </a:ext>
            </a:extLst>
          </p:cNvPr>
          <p:cNvSpPr>
            <a:spLocks xmlns:a="http://schemas.openxmlformats.org/drawingml/2006/main" noGrp="1"/>
          </p:cNvSpPr>
          <p:nvPr/>
        </p:nvSpPr>
        <p:spPr>
          <a:xfrm xmlns:a="http://schemas.openxmlformats.org/drawingml/2006/main">
            <a:off x="723900" y="5029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C5CDBC"/>
                </a:solidFill>
              </a:defRPr>
            </a:defPPr>
            <a:lvl1pPr>
              <a:defRPr sz="2250" b="0">
                <a:solidFill>
                  <a:srgbClr val="C5CDBC"/>
                </a:solidFill>
              </a:defRPr>
            </a:lvl1pPr>
            <a:lvl2pPr>
              <a:defRPr sz="2250" b="0">
                <a:solidFill>
                  <a:srgbClr val="C5CDBC"/>
                </a:solidFill>
              </a:defRPr>
            </a:lvl2pPr>
            <a:lvl3pPr>
              <a:defRPr sz="2250" b="0">
                <a:solidFill>
                  <a:srgbClr val="C5CDBC"/>
                </a:solidFill>
              </a:defRPr>
            </a:lvl3pPr>
            <a:lvl4pPr>
              <a:defRPr sz="2250" b="0">
                <a:solidFill>
                  <a:srgbClr val="C5CDBC"/>
                </a:solidFill>
              </a:defRPr>
            </a:lvl4pPr>
            <a:lvl5pPr>
              <a:defRPr sz="2250" b="0">
                <a:solidFill>
                  <a:srgbClr val="C5CDBC"/>
                </a:solidFill>
              </a:defRPr>
            </a:lvl5pPr>
            <a:lvl6pPr>
              <a:defRPr sz="2250" b="0">
                <a:solidFill>
                  <a:srgbClr val="C5CDBC"/>
                </a:solidFill>
              </a:defRPr>
            </a:lvl6pPr>
            <a:lvl7pPr>
              <a:defRPr sz="2250" b="0">
                <a:solidFill>
                  <a:srgbClr val="C5CDBC"/>
                </a:solidFill>
              </a:defRPr>
            </a:lvl7pPr>
            <a:lvl8pPr>
              <a:defRPr sz="2250" b="0">
                <a:solidFill>
                  <a:srgbClr val="C5CDBC"/>
                </a:solidFill>
              </a:defRPr>
            </a:lvl8pPr>
            <a:lvl9pPr>
              <a:defRPr sz="2250" b="0">
                <a:solidFill>
                  <a:srgbClr val="C5CDBC"/>
                </a:solidFill>
              </a:defRPr>
            </a:lvl9pPr>
          </a:lstStyle>
          <a:p xmlns:a="http://schemas.openxmlformats.org/drawingml/2006/main">
            <a:pPr>
              <a:defRPr sz="2250" b="0">
                <a:solidFill>
                  <a:srgbClr val="C5CDBC"/>
                </a:solidFill>
              </a:defRPr>
            </a:pPr>
            <a:r>
              <a:rPr sz="2250" b="0">
                <a:solidFill>
                  <a:srgbClr val="C5CDBC"/>
                </a:solidFill>
              </a:rPr>
              <a:t>Next evaluation: relevance and semantic quality</a:t>
            </a:r>
          </a:p>
          <a:p xmlns:a="http://schemas.openxmlformats.org/drawingml/2006/main">
            <a:pPr>
              <a:defRPr sz="2250" b="0">
                <a:solidFill>
                  <a:srgbClr val="C5CDBC"/>
                </a:solidFill>
              </a:defRPr>
            </a:pPr>
            <a:r>
              <a:rPr sz="2250" b="0">
                <a:solidFill>
                  <a:srgbClr val="C5CDBC"/>
                </a:solidFill>
              </a:rPr>
              <a:t>with labelled examples and specialist review</a:t>
            </a:r>
          </a:p>
        </p:txBody>
      </p:sp>
    </p:spTree>
    <p:extLst>
      <p:ext uri="{BB962C8B-B14F-4D97-AF65-F5344CB8AC3E}">
        <p14:creationId xmlns:p14="http://schemas.microsoft.com/office/powerpoint/2010/main" val="18031121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2026-10-24T17:02:11.9990000Z</dcterms:created>
  <dcterms:modified xsi:type="dcterms:W3CDTF">2026-10-24T17:02:11.9990000Z</dcterms:modified>
</coreProperties>
</file>